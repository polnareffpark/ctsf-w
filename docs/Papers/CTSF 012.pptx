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5"/>
  </p:notesMasterIdLst>
  <p:sldIdLst>
    <p:sldId id="370" r:id="rId2"/>
    <p:sldId id="265" r:id="rId3"/>
    <p:sldId id="381" r:id="rId4"/>
    <p:sldId id="451" r:id="rId5"/>
    <p:sldId id="452" r:id="rId6"/>
    <p:sldId id="411" r:id="rId7"/>
    <p:sldId id="454" r:id="rId8"/>
    <p:sldId id="401" r:id="rId9"/>
    <p:sldId id="434" r:id="rId10"/>
    <p:sldId id="435" r:id="rId11"/>
    <p:sldId id="458" r:id="rId12"/>
    <p:sldId id="459" r:id="rId13"/>
    <p:sldId id="460" r:id="rId14"/>
    <p:sldId id="461" r:id="rId15"/>
    <p:sldId id="392" r:id="rId16"/>
    <p:sldId id="399" r:id="rId17"/>
    <p:sldId id="391" r:id="rId18"/>
    <p:sldId id="393" r:id="rId19"/>
    <p:sldId id="400" r:id="rId20"/>
    <p:sldId id="390" r:id="rId21"/>
    <p:sldId id="515" r:id="rId22"/>
    <p:sldId id="462" r:id="rId23"/>
    <p:sldId id="447" r:id="rId24"/>
    <p:sldId id="448" r:id="rId25"/>
    <p:sldId id="465" r:id="rId26"/>
    <p:sldId id="511" r:id="rId27"/>
    <p:sldId id="429" r:id="rId28"/>
    <p:sldId id="469" r:id="rId29"/>
    <p:sldId id="436" r:id="rId30"/>
    <p:sldId id="441" r:id="rId31"/>
    <p:sldId id="442" r:id="rId32"/>
    <p:sldId id="438" r:id="rId33"/>
    <p:sldId id="439" r:id="rId34"/>
    <p:sldId id="464" r:id="rId35"/>
    <p:sldId id="463" r:id="rId36"/>
    <p:sldId id="432" r:id="rId37"/>
    <p:sldId id="433" r:id="rId38"/>
    <p:sldId id="466" r:id="rId39"/>
    <p:sldId id="396" r:id="rId40"/>
    <p:sldId id="406" r:id="rId41"/>
    <p:sldId id="403" r:id="rId42"/>
    <p:sldId id="467" r:id="rId43"/>
    <p:sldId id="409" r:id="rId44"/>
    <p:sldId id="410" r:id="rId45"/>
    <p:sldId id="468" r:id="rId46"/>
    <p:sldId id="440" r:id="rId47"/>
    <p:sldId id="513" r:id="rId48"/>
    <p:sldId id="514" r:id="rId49"/>
    <p:sldId id="443" r:id="rId50"/>
    <p:sldId id="444" r:id="rId51"/>
    <p:sldId id="445" r:id="rId52"/>
    <p:sldId id="486" r:id="rId53"/>
    <p:sldId id="446" r:id="rId54"/>
    <p:sldId id="476" r:id="rId55"/>
    <p:sldId id="480" r:id="rId56"/>
    <p:sldId id="512" r:id="rId57"/>
    <p:sldId id="485" r:id="rId58"/>
    <p:sldId id="482" r:id="rId59"/>
    <p:sldId id="487" r:id="rId60"/>
    <p:sldId id="495" r:id="rId61"/>
    <p:sldId id="483" r:id="rId62"/>
    <p:sldId id="484" r:id="rId63"/>
    <p:sldId id="506" r:id="rId64"/>
    <p:sldId id="507" r:id="rId65"/>
    <p:sldId id="508" r:id="rId66"/>
    <p:sldId id="509" r:id="rId67"/>
    <p:sldId id="475" r:id="rId68"/>
    <p:sldId id="491" r:id="rId69"/>
    <p:sldId id="502" r:id="rId70"/>
    <p:sldId id="503" r:id="rId71"/>
    <p:sldId id="504" r:id="rId72"/>
    <p:sldId id="505" r:id="rId73"/>
    <p:sldId id="479" r:id="rId74"/>
    <p:sldId id="477" r:id="rId75"/>
    <p:sldId id="478" r:id="rId76"/>
    <p:sldId id="510" r:id="rId77"/>
    <p:sldId id="488" r:id="rId78"/>
    <p:sldId id="492" r:id="rId79"/>
    <p:sldId id="496" r:id="rId80"/>
    <p:sldId id="497" r:id="rId81"/>
    <p:sldId id="498" r:id="rId82"/>
    <p:sldId id="499" r:id="rId83"/>
    <p:sldId id="500" r:id="rId84"/>
    <p:sldId id="474" r:id="rId85"/>
    <p:sldId id="494" r:id="rId86"/>
    <p:sldId id="493" r:id="rId87"/>
    <p:sldId id="489" r:id="rId88"/>
    <p:sldId id="490" r:id="rId89"/>
    <p:sldId id="471" r:id="rId90"/>
    <p:sldId id="264" r:id="rId91"/>
    <p:sldId id="470" r:id="rId92"/>
    <p:sldId id="428" r:id="rId93"/>
    <p:sldId id="453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1CD"/>
    <a:srgbClr val="E2F0D9"/>
    <a:srgbClr val="FFDF8D"/>
    <a:srgbClr val="006600"/>
    <a:srgbClr val="FFE699"/>
    <a:srgbClr val="FFDC83"/>
    <a:srgbClr val="75B963"/>
    <a:srgbClr val="AFD497"/>
    <a:srgbClr val="C2C61C"/>
    <a:srgbClr val="8FD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88212" autoAdjust="0"/>
  </p:normalViewPr>
  <p:slideViewPr>
    <p:cSldViewPr snapToGrid="0">
      <p:cViewPr varScale="1">
        <p:scale>
          <a:sx n="79" d="100"/>
          <a:sy n="79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DA4F-EFE9-4814-98F7-C31CE999BADC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9AC37-6A07-47AF-9D63-A624E6B30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28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528E7E-DF49-47F3-BA33-1D350A46B64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13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97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일</a:t>
            </a:r>
            <a:r>
              <a:rPr lang="en-US" altLang="ko-KR" dirty="0"/>
              <a:t>, </a:t>
            </a:r>
            <a:r>
              <a:rPr lang="ko-KR" altLang="en-US" dirty="0"/>
              <a:t>주 주기성</a:t>
            </a:r>
            <a:r>
              <a:rPr lang="en-US" altLang="ko-KR" dirty="0"/>
              <a:t>: </a:t>
            </a:r>
            <a:r>
              <a:rPr lang="ko-KR" altLang="en-US" dirty="0"/>
              <a:t>데이터가 하루 또는 일주일 간격으로 비슷한 패턴을 되풀이하는 성질을 말함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비정상성</a:t>
            </a:r>
            <a:r>
              <a:rPr lang="en-US" altLang="ko-KR" dirty="0"/>
              <a:t>: </a:t>
            </a:r>
            <a:r>
              <a:rPr lang="ko-KR" altLang="en-US" dirty="0"/>
              <a:t>시간이 지나면서 데이터의 평균</a:t>
            </a:r>
            <a:r>
              <a:rPr lang="en-US" altLang="ko-KR" dirty="0"/>
              <a:t>, </a:t>
            </a:r>
            <a:r>
              <a:rPr lang="ko-KR" altLang="en-US" dirty="0"/>
              <a:t>분산</a:t>
            </a:r>
            <a:r>
              <a:rPr lang="en-US" altLang="ko-KR" dirty="0"/>
              <a:t>, </a:t>
            </a:r>
            <a:r>
              <a:rPr lang="ko-KR" altLang="en-US" dirty="0"/>
              <a:t>상관 같은 통계적 특성이 변하는 현상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국면 전환</a:t>
            </a:r>
            <a:r>
              <a:rPr lang="en-US" altLang="ko-KR" dirty="0"/>
              <a:t>: </a:t>
            </a:r>
            <a:r>
              <a:rPr lang="ko-KR" altLang="en-US" dirty="0"/>
              <a:t>시계열의 지배적 메커니즘이 갑자기 바뀌는 순간으로</a:t>
            </a:r>
            <a:r>
              <a:rPr lang="en-US" altLang="ko-KR" dirty="0"/>
              <a:t>, </a:t>
            </a:r>
            <a:r>
              <a:rPr lang="ko-KR" altLang="en-US" dirty="0"/>
              <a:t>예를 들면 전력 요금제 변경</a:t>
            </a:r>
            <a:r>
              <a:rPr lang="en-US" altLang="ko-KR" dirty="0"/>
              <a:t>, </a:t>
            </a:r>
            <a:r>
              <a:rPr lang="ko-KR" altLang="en-US" dirty="0"/>
              <a:t>기상 급변</a:t>
            </a:r>
            <a:r>
              <a:rPr lang="en-US" altLang="ko-KR" dirty="0"/>
              <a:t>, </a:t>
            </a:r>
            <a:r>
              <a:rPr lang="ko-KR" altLang="en-US" dirty="0"/>
              <a:t>설비 고장 후 정상 복귀까지의 기간 등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Horizon: “</a:t>
            </a:r>
            <a:r>
              <a:rPr lang="ko-KR" altLang="en-US" dirty="0"/>
              <a:t>앞으로 몇 스텝을 예측하느냐</a:t>
            </a:r>
            <a:r>
              <a:rPr lang="en-US" altLang="ko-KR" dirty="0"/>
              <a:t>” (horizon </a:t>
            </a:r>
            <a:r>
              <a:rPr lang="ko-KR" altLang="en-US" dirty="0"/>
              <a:t>이 멀수록 누적 오차가 커지기 쉬움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Look-back window: “</a:t>
            </a:r>
            <a:r>
              <a:rPr lang="ko-KR" altLang="en-US" dirty="0"/>
              <a:t>과거 몇 스텝을 입력으로 쓰느냐</a:t>
            </a:r>
            <a:r>
              <a:rPr lang="en-US" altLang="ko-KR" dirty="0"/>
              <a:t>” (</a:t>
            </a:r>
            <a:r>
              <a:rPr lang="ko-KR" altLang="en-US" dirty="0"/>
              <a:t>복잡도와 </a:t>
            </a:r>
            <a:r>
              <a:rPr lang="ko-KR" altLang="en-US" dirty="0" err="1"/>
              <a:t>과적합</a:t>
            </a:r>
            <a:r>
              <a:rPr lang="ko-KR" altLang="en-US" dirty="0"/>
              <a:t> 위험도가 커짐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933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로컬 의미</a:t>
            </a:r>
            <a:r>
              <a:rPr lang="en-US" altLang="ko-KR" dirty="0"/>
              <a:t>: </a:t>
            </a:r>
            <a:r>
              <a:rPr lang="ko-KR" altLang="en-US" dirty="0"/>
              <a:t>짧은 구간</a:t>
            </a:r>
            <a:r>
              <a:rPr lang="en-US" altLang="ko-KR" dirty="0"/>
              <a:t>(</a:t>
            </a:r>
            <a:r>
              <a:rPr lang="ko-KR" altLang="en-US" dirty="0"/>
              <a:t>국소 창</a:t>
            </a:r>
            <a:r>
              <a:rPr lang="en-US" altLang="ko-KR" dirty="0"/>
              <a:t>) </a:t>
            </a:r>
            <a:r>
              <a:rPr lang="ko-KR" altLang="en-US" dirty="0"/>
              <a:t>안에 드러나는 패턴</a:t>
            </a:r>
            <a:r>
              <a:rPr lang="en-US" altLang="ko-KR" dirty="0"/>
              <a:t>/</a:t>
            </a:r>
            <a:r>
              <a:rPr lang="ko-KR" altLang="en-US" dirty="0"/>
              <a:t>형태를 의미함</a:t>
            </a:r>
            <a:r>
              <a:rPr lang="en-US" altLang="ko-KR" dirty="0"/>
              <a:t>, 1D CNN </a:t>
            </a:r>
            <a:r>
              <a:rPr lang="ko-KR" altLang="en-US" dirty="0"/>
              <a:t>이 포착하는 짧은 주기</a:t>
            </a:r>
            <a:r>
              <a:rPr lang="en-US" altLang="ko-KR" dirty="0"/>
              <a:t>/</a:t>
            </a:r>
            <a:r>
              <a:rPr lang="ko-KR" altLang="en-US" dirty="0"/>
              <a:t>모양 변화</a:t>
            </a:r>
            <a:r>
              <a:rPr lang="en-US" altLang="ko-KR" dirty="0"/>
              <a:t>/</a:t>
            </a:r>
            <a:r>
              <a:rPr lang="ko-KR" altLang="en-US" dirty="0"/>
              <a:t>스파이크 같은 정보가 여기에 속함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데이터를 주파수 영역으로 변환</a:t>
            </a:r>
            <a:r>
              <a:rPr lang="en-US" altLang="ko-KR" dirty="0"/>
              <a:t>”: </a:t>
            </a:r>
            <a:r>
              <a:rPr lang="ko-KR" altLang="en-US" dirty="0"/>
              <a:t>시계열을 푸리에 변환 등으로 주파수 영역으로 바꾸어 다루는 것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시간 의존성</a:t>
            </a:r>
            <a:r>
              <a:rPr lang="en-US" altLang="ko-KR" dirty="0"/>
              <a:t>”: </a:t>
            </a:r>
            <a:r>
              <a:rPr lang="ko-KR" altLang="en-US" dirty="0"/>
              <a:t>각 변수의 시점 간 관계</a:t>
            </a:r>
            <a:r>
              <a:rPr lang="en-US" altLang="ko-KR" dirty="0"/>
              <a:t>(</a:t>
            </a:r>
            <a:r>
              <a:rPr lang="ko-KR" altLang="en-US" dirty="0"/>
              <a:t>자기상관</a:t>
            </a:r>
            <a:r>
              <a:rPr lang="en-US" altLang="ko-KR" dirty="0"/>
              <a:t>, </a:t>
            </a:r>
            <a:r>
              <a:rPr lang="ko-KR" altLang="en-US" dirty="0"/>
              <a:t>추세</a:t>
            </a:r>
            <a:r>
              <a:rPr lang="en-US" altLang="ko-KR" dirty="0"/>
              <a:t>/</a:t>
            </a:r>
            <a:r>
              <a:rPr lang="ko-KR" altLang="en-US" dirty="0"/>
              <a:t>계열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채널 의존성</a:t>
            </a:r>
            <a:r>
              <a:rPr lang="en-US" altLang="ko-KR" dirty="0"/>
              <a:t>”: </a:t>
            </a:r>
            <a:r>
              <a:rPr lang="ko-KR" altLang="en-US" dirty="0"/>
              <a:t>변수 간 관계</a:t>
            </a:r>
            <a:r>
              <a:rPr lang="en-US" altLang="ko-KR" dirty="0"/>
              <a:t>(</a:t>
            </a:r>
            <a:r>
              <a:rPr lang="ko-KR" altLang="en-US" dirty="0" err="1"/>
              <a:t>공변동</a:t>
            </a:r>
            <a:r>
              <a:rPr lang="en-US" altLang="ko-KR" dirty="0"/>
              <a:t>/</a:t>
            </a:r>
            <a:r>
              <a:rPr lang="ko-KR" altLang="en-US" dirty="0"/>
              <a:t>상관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337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04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채널 독립의 한계를 줄였다</a:t>
            </a:r>
            <a:r>
              <a:rPr lang="en-US" altLang="ko-KR" dirty="0"/>
              <a:t>”: </a:t>
            </a:r>
            <a:r>
              <a:rPr lang="ko-KR" altLang="en-US" dirty="0"/>
              <a:t>채널 간 상호작용을</a:t>
            </a:r>
            <a:r>
              <a:rPr lang="en-US" altLang="ko-KR" dirty="0"/>
              <a:t> Patch </a:t>
            </a:r>
            <a:r>
              <a:rPr lang="ko-KR" altLang="en-US" dirty="0"/>
              <a:t>에서 초기화하고</a:t>
            </a:r>
            <a:r>
              <a:rPr lang="en-US" altLang="ko-KR" dirty="0"/>
              <a:t>, </a:t>
            </a:r>
            <a:r>
              <a:rPr lang="ko-KR" altLang="en-US" dirty="0"/>
              <a:t>블록마다 상태 의존적 갱신을 반복하여 채널 독립의 약점을 줄임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상태 의존적 갱신</a:t>
            </a:r>
            <a:r>
              <a:rPr lang="en-US" altLang="ko-KR" dirty="0"/>
              <a:t>”: </a:t>
            </a:r>
            <a:r>
              <a:rPr lang="ko-KR" altLang="en-US" dirty="0"/>
              <a:t>필터</a:t>
            </a:r>
            <a:r>
              <a:rPr lang="en-US" altLang="ko-KR" dirty="0"/>
              <a:t>(</a:t>
            </a:r>
            <a:r>
              <a:rPr lang="ko-KR" altLang="en-US" dirty="0"/>
              <a:t>커널</a:t>
            </a:r>
            <a:r>
              <a:rPr lang="en-US" altLang="ko-KR" dirty="0"/>
              <a:t>/</a:t>
            </a:r>
            <a:r>
              <a:rPr lang="ko-KR" altLang="en-US" dirty="0"/>
              <a:t>가중치</a:t>
            </a:r>
            <a:r>
              <a:rPr lang="en-US" altLang="ko-KR" dirty="0"/>
              <a:t>)</a:t>
            </a:r>
            <a:r>
              <a:rPr lang="ko-KR" altLang="en-US" dirty="0"/>
              <a:t>가 현재 맥락에 따라 즉시 달라지는 것을 말함</a:t>
            </a:r>
            <a:r>
              <a:rPr lang="en-US" altLang="ko-KR" dirty="0"/>
              <a:t>, Dynamic Depth-Wise </a:t>
            </a:r>
            <a:r>
              <a:rPr lang="ko-KR" altLang="en-US" dirty="0"/>
              <a:t>가 그 역할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488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694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accent6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GRU Block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내 장기 의존성 문제를 해결하는 역할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accent2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 Block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국소 패턴 학습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Skip Connection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흐름 개선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463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379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944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293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007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95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836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544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823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631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여기서 </a:t>
            </a:r>
            <a:r>
              <a:rPr lang="en-US" altLang="ko-KR" dirty="0" err="1"/>
              <a:t>concat</a:t>
            </a:r>
            <a:r>
              <a:rPr lang="en-US" altLang="ko-KR" dirty="0"/>
              <a:t> </a:t>
            </a:r>
            <a:r>
              <a:rPr lang="ko-KR" altLang="en-US" dirty="0"/>
              <a:t>이 아닌 </a:t>
            </a:r>
            <a:r>
              <a:rPr lang="en-US" altLang="ko-KR" dirty="0"/>
              <a:t>elementwise-sum </a:t>
            </a:r>
            <a:r>
              <a:rPr lang="ko-KR" altLang="en-US" dirty="0"/>
              <a:t>을 하는 이유는 이 단계의 목적이 </a:t>
            </a:r>
            <a:r>
              <a:rPr lang="en-US" altLang="ko-KR" dirty="0"/>
              <a:t>“</a:t>
            </a:r>
            <a:r>
              <a:rPr lang="ko-KR" altLang="en-US" dirty="0"/>
              <a:t>두 표현을 섞어 새 표현을 만드는</a:t>
            </a:r>
            <a:r>
              <a:rPr lang="en-US" altLang="ko-KR" dirty="0"/>
              <a:t>” </a:t>
            </a:r>
            <a:r>
              <a:rPr lang="ko-KR" altLang="en-US" dirty="0"/>
              <a:t>것이 아니라</a:t>
            </a:r>
            <a:r>
              <a:rPr lang="en-US" altLang="ko-KR" dirty="0"/>
              <a:t>, </a:t>
            </a:r>
            <a:r>
              <a:rPr lang="ko-KR" altLang="en-US" dirty="0"/>
              <a:t>각 스트림이 자기 정보를 유지한 채 서로의 상태를 </a:t>
            </a:r>
            <a:r>
              <a:rPr lang="en-US" altLang="ko-KR" dirty="0"/>
              <a:t>“</a:t>
            </a:r>
            <a:r>
              <a:rPr lang="ko-KR" altLang="en-US" dirty="0"/>
              <a:t>참고</a:t>
            </a:r>
            <a:r>
              <a:rPr lang="en-US" altLang="ko-KR" dirty="0"/>
              <a:t>” </a:t>
            </a:r>
            <a:r>
              <a:rPr lang="ko-KR" altLang="en-US" dirty="0"/>
              <a:t>하는 것이기 때문에 </a:t>
            </a:r>
            <a:r>
              <a:rPr lang="en-US" altLang="ko-KR" dirty="0" err="1"/>
              <a:t>concat</a:t>
            </a:r>
            <a:r>
              <a:rPr lang="en-US" altLang="ko-KR" dirty="0"/>
              <a:t> (</a:t>
            </a:r>
            <a:r>
              <a:rPr lang="ko-KR" altLang="en-US" dirty="0"/>
              <a:t>변수 수 증가</a:t>
            </a:r>
            <a:r>
              <a:rPr lang="en-US" altLang="ko-KR" dirty="0"/>
              <a:t>) </a:t>
            </a:r>
            <a:r>
              <a:rPr lang="ko-KR" altLang="en-US"/>
              <a:t>을 하지 않고 작게 가중합을 수행함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727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2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419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i="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</a:t>
                </a:r>
                <a:r>
                  <a:rPr lang="en-US" altLang="ko-KR" sz="1200" i="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808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027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491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98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2630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8079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5924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7438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96, </a:t>
            </a:r>
            <a:r>
              <a:rPr lang="en-US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d_embed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512, Seed 42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그린 그림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분포 엔트로피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임베딩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채널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입력 채널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얼마나 균등하게 섞는지를 엔트로피로 측정한 지표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26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소채널의 </a:t>
            </a:r>
            <a:r>
              <a:rPr lang="en-US" altLang="ko-KR" dirty="0"/>
              <a:t>exchange-rate</a:t>
            </a:r>
            <a:r>
              <a:rPr lang="ko-KR" altLang="en-US" dirty="0"/>
              <a:t>와 다채널의 </a:t>
            </a:r>
            <a:r>
              <a:rPr lang="en-US" altLang="ko-KR" dirty="0"/>
              <a:t>solar-energy </a:t>
            </a:r>
            <a:r>
              <a:rPr lang="ko-KR" altLang="en-US" dirty="0"/>
              <a:t>를 모두 사용하여 혼합 유지</a:t>
            </a:r>
            <a:r>
              <a:rPr lang="en-US" altLang="ko-KR" dirty="0"/>
              <a:t>/</a:t>
            </a:r>
            <a:r>
              <a:rPr lang="ko-KR" altLang="en-US" dirty="0"/>
              <a:t>제거 성과를 비교하고자 함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Group Convolution: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입력 채널을 여러 그룹으로 나눠 각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그룹끼리만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 Conv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수행한 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결과를 채널 방향으로 이어 붙이는 방법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417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변수 </a:t>
            </a:r>
            <a:r>
              <a:rPr lang="en-US" altLang="ko-KR" dirty="0"/>
              <a:t>/ horizon </a:t>
            </a:r>
            <a:r>
              <a:rPr lang="ko-KR" altLang="en-US" dirty="0"/>
              <a:t>에 따른 교란을 줄이기 위해 데이터셋을 </a:t>
            </a:r>
            <a:r>
              <a:rPr lang="en-US" altLang="ko-KR" dirty="0"/>
              <a:t>solar-energy</a:t>
            </a:r>
            <a:r>
              <a:rPr lang="ko-KR" altLang="en-US" dirty="0"/>
              <a:t>와 </a:t>
            </a:r>
            <a:r>
              <a:rPr lang="en-US" altLang="ko-KR" dirty="0"/>
              <a:t>horizon=96 </a:t>
            </a:r>
            <a:r>
              <a:rPr lang="ko-KR" altLang="en-US" dirty="0"/>
              <a:t>으로 고정하고 실험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023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1246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0758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861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추가 </a:t>
            </a:r>
            <a:r>
              <a:rPr lang="en-US" altLang="ko-KR" dirty="0"/>
              <a:t>Point-Wise </a:t>
            </a:r>
            <a:r>
              <a:rPr lang="ko-KR" altLang="en-US" dirty="0"/>
              <a:t>나 </a:t>
            </a:r>
            <a:r>
              <a:rPr lang="en-US" altLang="ko-KR" dirty="0"/>
              <a:t>Group Conv </a:t>
            </a:r>
            <a:r>
              <a:rPr lang="ko-KR" altLang="en-US" dirty="0"/>
              <a:t>가 필요한지를 표준 벤치 데이터셋과 대규모 채널을 가진 </a:t>
            </a:r>
            <a:r>
              <a:rPr lang="en-US" altLang="ko-KR" dirty="0"/>
              <a:t>electricity </a:t>
            </a:r>
            <a:r>
              <a:rPr lang="ko-KR" altLang="en-US" dirty="0"/>
              <a:t>데이터셋에서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4551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1901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0626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4098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Electricity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데이터셋을 실험한 모델에 한정해서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GPU Memory Issue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인해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AMP, Gradient Checkpoint, Gradient Accumulation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적용하였음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 hours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때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T+1 ~ T+N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시간을 전부 예측하고 손실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평가지표는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시점을 평균한 결과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3580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2187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4012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9197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0109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154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Seed 10</a:t>
            </a:r>
            <a:r>
              <a:rPr lang="ko-KR" altLang="en-US" dirty="0"/>
              <a:t>개 실험 결과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6129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 err="1"/>
              <a:t>신호대잡음비</a:t>
            </a:r>
            <a:r>
              <a:rPr lang="en-US" altLang="ko-KR" dirty="0"/>
              <a:t>(SNR): </a:t>
            </a:r>
            <a:r>
              <a:rPr lang="ko-KR" altLang="en-US" dirty="0"/>
              <a:t>신호</a:t>
            </a:r>
            <a:r>
              <a:rPr lang="en-US" altLang="ko-KR" dirty="0"/>
              <a:t>(</a:t>
            </a:r>
            <a:r>
              <a:rPr lang="ko-KR" altLang="en-US" dirty="0"/>
              <a:t>설명 가능한 구조</a:t>
            </a:r>
            <a:r>
              <a:rPr lang="en-US" altLang="ko-KR" dirty="0"/>
              <a:t>)</a:t>
            </a:r>
            <a:r>
              <a:rPr lang="ko-KR" altLang="en-US" dirty="0"/>
              <a:t>대비 잡음</a:t>
            </a:r>
            <a:r>
              <a:rPr lang="en-US" altLang="ko-KR" dirty="0"/>
              <a:t>(</a:t>
            </a:r>
            <a:r>
              <a:rPr lang="ko-KR" altLang="en-US" dirty="0"/>
              <a:t>설명 안되는 </a:t>
            </a:r>
            <a:r>
              <a:rPr lang="ko-KR" altLang="en-US" dirty="0" err="1"/>
              <a:t>잔차</a:t>
            </a:r>
            <a:r>
              <a:rPr lang="en-US" altLang="ko-KR" dirty="0"/>
              <a:t>)</a:t>
            </a:r>
            <a:r>
              <a:rPr lang="ko-KR" altLang="en-US" dirty="0"/>
              <a:t>의 세기 비율</a:t>
            </a:r>
            <a:r>
              <a:rPr lang="en-US" altLang="ko-KR" dirty="0"/>
              <a:t>, x = </a:t>
            </a:r>
            <a:r>
              <a:rPr lang="ko-KR" altLang="en-US" dirty="0"/>
              <a:t>추세 </a:t>
            </a:r>
            <a:r>
              <a:rPr lang="en-US" altLang="ko-KR" dirty="0"/>
              <a:t>+ </a:t>
            </a:r>
            <a:r>
              <a:rPr lang="ko-KR" altLang="en-US" dirty="0"/>
              <a:t>계절</a:t>
            </a:r>
            <a:r>
              <a:rPr lang="en-US" altLang="ko-KR" dirty="0"/>
              <a:t>(</a:t>
            </a:r>
            <a:r>
              <a:rPr lang="ko-KR" altLang="en-US" dirty="0"/>
              <a:t>신호</a:t>
            </a:r>
            <a:r>
              <a:rPr lang="en-US" altLang="ko-KR" dirty="0"/>
              <a:t>) + </a:t>
            </a:r>
            <a:r>
              <a:rPr lang="ko-KR" altLang="en-US" dirty="0" err="1"/>
              <a:t>잔차</a:t>
            </a:r>
            <a:r>
              <a:rPr lang="en-US" altLang="ko-KR" dirty="0"/>
              <a:t>(</a:t>
            </a:r>
            <a:r>
              <a:rPr lang="ko-KR" altLang="en-US" dirty="0"/>
              <a:t>잡음</a:t>
            </a:r>
            <a:r>
              <a:rPr lang="en-US" altLang="ko-KR" dirty="0"/>
              <a:t>) </a:t>
            </a:r>
            <a:r>
              <a:rPr lang="ko-KR" altLang="en-US" dirty="0"/>
              <a:t>으로 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주파수 기반</a:t>
            </a:r>
            <a:r>
              <a:rPr lang="en-US" altLang="ko-KR" dirty="0"/>
              <a:t>: </a:t>
            </a:r>
            <a:r>
              <a:rPr lang="ko-KR" altLang="en-US" dirty="0"/>
              <a:t>신호 </a:t>
            </a:r>
            <a:r>
              <a:rPr lang="en-US" altLang="ko-KR" dirty="0"/>
              <a:t>/ </a:t>
            </a:r>
            <a:r>
              <a:rPr lang="ko-KR" altLang="en-US" dirty="0"/>
              <a:t>잡음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 정합</a:t>
            </a:r>
            <a:r>
              <a:rPr lang="en-US" altLang="ko-KR" dirty="0"/>
              <a:t>: </a:t>
            </a:r>
            <a:r>
              <a:rPr lang="ko-KR" altLang="en-US" dirty="0"/>
              <a:t>예측의 리듬이 실제의 리듬</a:t>
            </a:r>
            <a:r>
              <a:rPr lang="en-US" altLang="ko-KR" dirty="0"/>
              <a:t>(</a:t>
            </a:r>
            <a:r>
              <a:rPr lang="ko-KR" altLang="en-US" dirty="0"/>
              <a:t>하루</a:t>
            </a:r>
            <a:r>
              <a:rPr lang="en-US" altLang="ko-KR" dirty="0"/>
              <a:t>/</a:t>
            </a:r>
            <a:r>
              <a:rPr lang="ko-KR" altLang="en-US" dirty="0"/>
              <a:t>일주</a:t>
            </a:r>
            <a:r>
              <a:rPr lang="en-US" altLang="ko-KR" dirty="0"/>
              <a:t>) </a:t>
            </a:r>
            <a:r>
              <a:rPr lang="ko-KR" altLang="en-US" dirty="0"/>
              <a:t>과 같은 타이밍으로 반복되는가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446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83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4896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2720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275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분포 </a:t>
            </a:r>
            <a:r>
              <a:rPr lang="ko-KR" altLang="en-US" dirty="0" err="1"/>
              <a:t>드리프트</a:t>
            </a:r>
            <a:r>
              <a:rPr lang="en-US" altLang="ko-KR" dirty="0"/>
              <a:t>: </a:t>
            </a:r>
            <a:r>
              <a:rPr lang="ko-KR" altLang="en-US" dirty="0"/>
              <a:t>시간에 따라 평균</a:t>
            </a:r>
            <a:r>
              <a:rPr lang="en-US" altLang="ko-KR" dirty="0"/>
              <a:t>, </a:t>
            </a:r>
            <a:r>
              <a:rPr lang="ko-KR" altLang="en-US" dirty="0"/>
              <a:t>분산과 같은 분포 특성이 움직이는 현상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4036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위상</a:t>
            </a:r>
            <a:r>
              <a:rPr lang="en-US" altLang="ko-KR" dirty="0"/>
              <a:t>/</a:t>
            </a:r>
            <a:r>
              <a:rPr lang="ko-KR" altLang="en-US" dirty="0"/>
              <a:t>진폭 시간 변화</a:t>
            </a:r>
            <a:r>
              <a:rPr lang="en-US" altLang="ko-KR" dirty="0"/>
              <a:t>: </a:t>
            </a:r>
            <a:r>
              <a:rPr lang="ko-KR" altLang="en-US" dirty="0"/>
              <a:t>위상</a:t>
            </a:r>
            <a:r>
              <a:rPr lang="en-US" altLang="ko-KR" dirty="0"/>
              <a:t>(</a:t>
            </a:r>
            <a:r>
              <a:rPr lang="ko-KR" altLang="en-US" dirty="0"/>
              <a:t>피크 시점</a:t>
            </a:r>
            <a:r>
              <a:rPr lang="en-US" altLang="ko-KR" dirty="0"/>
              <a:t>)</a:t>
            </a:r>
            <a:r>
              <a:rPr lang="ko-KR" altLang="en-US" dirty="0"/>
              <a:t>과 진폭</a:t>
            </a:r>
            <a:r>
              <a:rPr lang="en-US" altLang="ko-KR" dirty="0"/>
              <a:t>(</a:t>
            </a:r>
            <a:r>
              <a:rPr lang="ko-KR" altLang="en-US" dirty="0"/>
              <a:t>크기</a:t>
            </a:r>
            <a:r>
              <a:rPr lang="en-US" altLang="ko-KR" dirty="0"/>
              <a:t>)</a:t>
            </a:r>
            <a:r>
              <a:rPr lang="ko-KR" altLang="en-US" dirty="0"/>
              <a:t>이 시간에 따라 더 흔들리는 구간이 많다는 의미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형태</a:t>
            </a:r>
            <a:r>
              <a:rPr lang="en-US" altLang="ko-KR" dirty="0"/>
              <a:t>/</a:t>
            </a:r>
            <a:r>
              <a:rPr lang="ko-KR" altLang="en-US" dirty="0"/>
              <a:t>위상 정합</a:t>
            </a:r>
            <a:r>
              <a:rPr lang="en-US" altLang="ko-KR" dirty="0"/>
              <a:t>: </a:t>
            </a:r>
            <a:r>
              <a:rPr lang="ko-KR" altLang="en-US" dirty="0"/>
              <a:t>형태 </a:t>
            </a:r>
            <a:r>
              <a:rPr lang="en-US" altLang="ko-KR" dirty="0"/>
              <a:t>– </a:t>
            </a:r>
            <a:r>
              <a:rPr lang="ko-KR" altLang="en-US" dirty="0"/>
              <a:t>예측과 실제의 증감</a:t>
            </a:r>
            <a:r>
              <a:rPr lang="en-US" altLang="ko-KR" dirty="0"/>
              <a:t>, </a:t>
            </a:r>
            <a:r>
              <a:rPr lang="ko-KR" altLang="en-US" dirty="0"/>
              <a:t>기울기</a:t>
            </a:r>
            <a:r>
              <a:rPr lang="en-US" altLang="ko-KR" dirty="0"/>
              <a:t>, </a:t>
            </a:r>
            <a:r>
              <a:rPr lang="ko-KR" altLang="en-US" dirty="0"/>
              <a:t>곡률이 </a:t>
            </a:r>
            <a:r>
              <a:rPr lang="ko-KR" altLang="en-US" dirty="0" err="1"/>
              <a:t>비슷한가</a:t>
            </a:r>
            <a:r>
              <a:rPr lang="en-US" altLang="ko-KR" dirty="0"/>
              <a:t>? /</a:t>
            </a:r>
            <a:r>
              <a:rPr lang="ko-KR" altLang="en-US" dirty="0"/>
              <a:t> 위상 </a:t>
            </a:r>
            <a:r>
              <a:rPr lang="en-US" altLang="ko-KR" dirty="0"/>
              <a:t>– </a:t>
            </a:r>
            <a:r>
              <a:rPr lang="ko-KR" altLang="en-US" dirty="0"/>
              <a:t>피크</a:t>
            </a:r>
            <a:r>
              <a:rPr lang="en-US" altLang="ko-KR" dirty="0"/>
              <a:t>/</a:t>
            </a:r>
            <a:r>
              <a:rPr lang="ko-KR" altLang="en-US" dirty="0"/>
              <a:t>계곡이 같은 시점에 나타나는가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분포 </a:t>
            </a:r>
            <a:r>
              <a:rPr lang="ko-KR" altLang="en-US" dirty="0" err="1"/>
              <a:t>드리프트</a:t>
            </a:r>
            <a:r>
              <a:rPr lang="en-US" altLang="ko-KR" dirty="0"/>
              <a:t>: </a:t>
            </a:r>
            <a:r>
              <a:rPr lang="ko-KR" altLang="en-US" dirty="0"/>
              <a:t>시간에 따라 평균</a:t>
            </a:r>
            <a:r>
              <a:rPr lang="en-US" altLang="ko-KR" dirty="0"/>
              <a:t>, </a:t>
            </a:r>
            <a:r>
              <a:rPr lang="ko-KR" altLang="en-US" dirty="0"/>
              <a:t>분산 같은 분포 특성이 움직이는 현상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시간</a:t>
            </a:r>
            <a:r>
              <a:rPr lang="en-US" altLang="ko-KR" dirty="0"/>
              <a:t> </a:t>
            </a:r>
            <a:r>
              <a:rPr lang="ko-KR" altLang="en-US" dirty="0"/>
              <a:t>정합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08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Sdiff_day</a:t>
            </a:r>
            <a:r>
              <a:rPr lang="en-US" altLang="ko-KR" dirty="0"/>
              <a:t> </a:t>
            </a:r>
            <a:r>
              <a:rPr lang="ko-KR" altLang="en-US" dirty="0"/>
              <a:t>는 입력 </a:t>
            </a:r>
            <a:r>
              <a:rPr lang="en-US" altLang="ko-KR" dirty="0"/>
              <a:t>X</a:t>
            </a:r>
            <a:r>
              <a:rPr lang="ko-KR" altLang="en-US" dirty="0"/>
              <a:t>만 차분으로 다시 실행하고 라벨의 원본을 그대로 두어서 입력의 주기 성분을 빼면 성능이 얼마나 떨어지는가를 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 err="1"/>
              <a:t>Sdiff_week</a:t>
            </a:r>
            <a:r>
              <a:rPr lang="en-US" altLang="ko-KR" dirty="0"/>
              <a:t> </a:t>
            </a:r>
            <a:r>
              <a:rPr lang="ko-KR" altLang="en-US" dirty="0"/>
              <a:t>는 라벨을 포함한 </a:t>
            </a:r>
            <a:r>
              <a:rPr lang="en-US" altLang="ko-KR" dirty="0"/>
              <a:t>csv </a:t>
            </a:r>
            <a:r>
              <a:rPr lang="ko-KR" altLang="en-US" dirty="0"/>
              <a:t>전체 차분을 수행하여</a:t>
            </a:r>
            <a:r>
              <a:rPr lang="en-US" altLang="ko-KR" dirty="0"/>
              <a:t>, </a:t>
            </a:r>
            <a:r>
              <a:rPr lang="ko-KR" altLang="en-US" dirty="0"/>
              <a:t>하락폭에는 라벨 스케일 변화 영향도 일부 섞임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</a:t>
            </a:r>
            <a:r>
              <a:rPr lang="en-US" altLang="ko-KR" dirty="0"/>
              <a:t> </a:t>
            </a:r>
            <a:r>
              <a:rPr lang="ko-KR" altLang="en-US" dirty="0"/>
              <a:t>정합성이 강하다</a:t>
            </a:r>
            <a:r>
              <a:rPr lang="en-US" altLang="ko-KR" dirty="0"/>
              <a:t>: ACF (</a:t>
            </a:r>
            <a:r>
              <a:rPr lang="ko-KR" altLang="en-US" dirty="0"/>
              <a:t>자기상관</a:t>
            </a:r>
            <a:r>
              <a:rPr lang="en-US" altLang="ko-KR" dirty="0"/>
              <a:t>) </a:t>
            </a:r>
            <a:r>
              <a:rPr lang="ko-KR" altLang="en-US" dirty="0"/>
              <a:t>값과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 값이 데이터 분석에서 </a:t>
            </a:r>
            <a:r>
              <a:rPr lang="en-US" altLang="ko-KR" dirty="0"/>
              <a:t>ETTm2, h2 </a:t>
            </a:r>
            <a:r>
              <a:rPr lang="ko-KR" altLang="en-US" dirty="0"/>
              <a:t>가 높았었기 때문에 그렇게 설명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 정합</a:t>
            </a:r>
            <a:r>
              <a:rPr lang="en-US" altLang="ko-KR" dirty="0"/>
              <a:t>: </a:t>
            </a:r>
            <a:r>
              <a:rPr lang="ko-KR" altLang="en-US" dirty="0"/>
              <a:t>예측의 리듬이 실제의 리듬</a:t>
            </a:r>
            <a:r>
              <a:rPr lang="en-US" altLang="ko-KR" dirty="0"/>
              <a:t>(</a:t>
            </a:r>
            <a:r>
              <a:rPr lang="ko-KR" altLang="en-US" dirty="0"/>
              <a:t>하루</a:t>
            </a:r>
            <a:r>
              <a:rPr lang="en-US" altLang="ko-KR" dirty="0"/>
              <a:t>/</a:t>
            </a:r>
            <a:r>
              <a:rPr lang="ko-KR" altLang="en-US" dirty="0"/>
              <a:t>일주</a:t>
            </a:r>
            <a:r>
              <a:rPr lang="en-US" altLang="ko-KR" dirty="0"/>
              <a:t>)</a:t>
            </a:r>
            <a:r>
              <a:rPr lang="ko-KR" altLang="en-US" dirty="0"/>
              <a:t>과 같은 타이밍으로 반복되는가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576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Sdiff_day</a:t>
            </a:r>
            <a:r>
              <a:rPr lang="en-US" altLang="ko-KR" dirty="0"/>
              <a:t> </a:t>
            </a:r>
            <a:r>
              <a:rPr lang="ko-KR" altLang="en-US" dirty="0"/>
              <a:t>는 입력 </a:t>
            </a:r>
            <a:r>
              <a:rPr lang="en-US" altLang="ko-KR" dirty="0"/>
              <a:t>X</a:t>
            </a:r>
            <a:r>
              <a:rPr lang="ko-KR" altLang="en-US" dirty="0"/>
              <a:t>만 차분으로 다시 실행하고 라벨의 원본을 그대로 두어서 입력의 주기 성분을 빼면 성능이 얼마나 떨어지는가를 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 err="1"/>
              <a:t>Sdiff_week</a:t>
            </a:r>
            <a:r>
              <a:rPr lang="en-US" altLang="ko-KR" dirty="0"/>
              <a:t> </a:t>
            </a:r>
            <a:r>
              <a:rPr lang="ko-KR" altLang="en-US" dirty="0"/>
              <a:t>는 라벨을 포함한 </a:t>
            </a:r>
            <a:r>
              <a:rPr lang="en-US" altLang="ko-KR" dirty="0"/>
              <a:t>csv </a:t>
            </a:r>
            <a:r>
              <a:rPr lang="ko-KR" altLang="en-US" dirty="0"/>
              <a:t>전체 차분을 수행하여</a:t>
            </a:r>
            <a:r>
              <a:rPr lang="en-US" altLang="ko-KR" dirty="0"/>
              <a:t>, </a:t>
            </a:r>
            <a:r>
              <a:rPr lang="ko-KR" altLang="en-US" dirty="0"/>
              <a:t>하락폭에는 라벨 스케일 변화 영향도 일부 섞임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</a:t>
            </a:r>
            <a:r>
              <a:rPr lang="en-US" altLang="ko-KR" dirty="0"/>
              <a:t> </a:t>
            </a:r>
            <a:r>
              <a:rPr lang="ko-KR" altLang="en-US" dirty="0"/>
              <a:t>정합성이 강하다</a:t>
            </a:r>
            <a:r>
              <a:rPr lang="en-US" altLang="ko-KR" dirty="0"/>
              <a:t>: ACF (</a:t>
            </a:r>
            <a:r>
              <a:rPr lang="ko-KR" altLang="en-US" dirty="0"/>
              <a:t>자기상관</a:t>
            </a:r>
            <a:r>
              <a:rPr lang="en-US" altLang="ko-KR" dirty="0"/>
              <a:t>) </a:t>
            </a:r>
            <a:r>
              <a:rPr lang="ko-KR" altLang="en-US" dirty="0"/>
              <a:t>값과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 값이 데이터 분석에서 </a:t>
            </a:r>
            <a:r>
              <a:rPr lang="en-US" altLang="ko-KR" dirty="0"/>
              <a:t>ETTm2, h2 </a:t>
            </a:r>
            <a:r>
              <a:rPr lang="ko-KR" altLang="en-US" dirty="0"/>
              <a:t>가 높았었기 때문에 그렇게 설명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196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Sdiff_day</a:t>
            </a:r>
            <a:r>
              <a:rPr lang="en-US" altLang="ko-KR" dirty="0"/>
              <a:t> </a:t>
            </a:r>
            <a:r>
              <a:rPr lang="ko-KR" altLang="en-US" dirty="0"/>
              <a:t>는 입력 </a:t>
            </a:r>
            <a:r>
              <a:rPr lang="en-US" altLang="ko-KR" dirty="0"/>
              <a:t>X</a:t>
            </a:r>
            <a:r>
              <a:rPr lang="ko-KR" altLang="en-US" dirty="0"/>
              <a:t>만 차분으로 다시 실행하고 라벨의 원본을 그대로 두어서 입력의 주기 성분을 빼면 성능이 얼마나 떨어지는가를 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 err="1"/>
              <a:t>Sdiff_week</a:t>
            </a:r>
            <a:r>
              <a:rPr lang="en-US" altLang="ko-KR" dirty="0"/>
              <a:t> </a:t>
            </a:r>
            <a:r>
              <a:rPr lang="ko-KR" altLang="en-US" dirty="0"/>
              <a:t>는 라벨을 포함한 </a:t>
            </a:r>
            <a:r>
              <a:rPr lang="en-US" altLang="ko-KR" dirty="0"/>
              <a:t>csv </a:t>
            </a:r>
            <a:r>
              <a:rPr lang="ko-KR" altLang="en-US" dirty="0"/>
              <a:t>전체 차분을 수행하여</a:t>
            </a:r>
            <a:r>
              <a:rPr lang="en-US" altLang="ko-KR" dirty="0"/>
              <a:t>, </a:t>
            </a:r>
            <a:r>
              <a:rPr lang="ko-KR" altLang="en-US" dirty="0"/>
              <a:t>하락폭에는 라벨 스케일 변화 영향도 일부 섞임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주기</a:t>
            </a:r>
            <a:r>
              <a:rPr lang="en-US" altLang="ko-KR" dirty="0"/>
              <a:t> </a:t>
            </a:r>
            <a:r>
              <a:rPr lang="ko-KR" altLang="en-US" dirty="0"/>
              <a:t>정합성이 강하다</a:t>
            </a:r>
            <a:r>
              <a:rPr lang="en-US" altLang="ko-KR" dirty="0"/>
              <a:t>: ACF (</a:t>
            </a:r>
            <a:r>
              <a:rPr lang="ko-KR" altLang="en-US" dirty="0"/>
              <a:t>자기상관</a:t>
            </a:r>
            <a:r>
              <a:rPr lang="en-US" altLang="ko-KR" dirty="0"/>
              <a:t>) </a:t>
            </a:r>
            <a:r>
              <a:rPr lang="ko-KR" altLang="en-US" dirty="0"/>
              <a:t>값과 </a:t>
            </a:r>
            <a:r>
              <a:rPr lang="ko-KR" altLang="en-US" dirty="0" err="1"/>
              <a:t>피어슨</a:t>
            </a:r>
            <a:r>
              <a:rPr lang="ko-KR" altLang="en-US" dirty="0"/>
              <a:t> 상관계수 값이 데이터 분석에서 </a:t>
            </a:r>
            <a:r>
              <a:rPr lang="en-US" altLang="ko-KR" dirty="0"/>
              <a:t>ETTm2, h2 </a:t>
            </a:r>
            <a:r>
              <a:rPr lang="ko-KR" altLang="en-US" dirty="0"/>
              <a:t>가 높았었기 때문에 그렇게 설명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4898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24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5346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dirty="0"/>
              <a:t>EMA(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 생성 시 새 정보에 대한 반영 비율을 줄여 변동성을 낮춤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): </a:t>
            </a:r>
            <a:r>
              <a:rPr lang="ko-KR" altLang="en-US" sz="12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최근값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10%, </a:t>
            </a:r>
            <a:r>
              <a:rPr lang="ko-KR" altLang="en-US" sz="12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과거값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90%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조건 벡터를 생성</a:t>
            </a:r>
            <a:endParaRPr lang="en-US" altLang="ko-KR" sz="12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예를 들어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주식 차트의 지수이동평균과 같이 값이 갑자기 꺾여도 완만하게만 따라가도록 만듦 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그에 따라 커널도 느리게 바뀜</a:t>
            </a:r>
            <a:r>
              <a:rPr lang="en-US" altLang="ko-KR" sz="12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37798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H3 </a:t>
            </a:r>
            <a:r>
              <a:rPr lang="ko-KR" altLang="en-US" dirty="0"/>
              <a:t>에 있는 표의 값은 일별 </a:t>
            </a:r>
            <a:r>
              <a:rPr lang="en-US" altLang="ko-KR" dirty="0"/>
              <a:t>PD</a:t>
            </a:r>
            <a:r>
              <a:rPr lang="ko-KR" altLang="en-US" dirty="0"/>
              <a:t>를 채널별로 구한 뒤 </a:t>
            </a:r>
            <a:r>
              <a:rPr lang="en-US" altLang="ko-KR" dirty="0"/>
              <a:t>-&gt; </a:t>
            </a:r>
            <a:r>
              <a:rPr lang="ko-KR" altLang="en-US" dirty="0"/>
              <a:t>일 방향 중앙값</a:t>
            </a:r>
            <a:r>
              <a:rPr lang="en-US" altLang="ko-KR" dirty="0"/>
              <a:t>(outlier day </a:t>
            </a:r>
            <a:r>
              <a:rPr lang="ko-KR" altLang="en-US" dirty="0"/>
              <a:t>완충</a:t>
            </a:r>
            <a:r>
              <a:rPr lang="en-US" altLang="ko-KR" dirty="0"/>
              <a:t>) </a:t>
            </a:r>
            <a:r>
              <a:rPr lang="ko-KR" altLang="en-US" dirty="0"/>
              <a:t>과 채널 방향 중앙값</a:t>
            </a:r>
            <a:r>
              <a:rPr lang="en-US" altLang="ko-KR" dirty="0"/>
              <a:t>(</a:t>
            </a:r>
            <a:r>
              <a:rPr lang="ko-KR" altLang="en-US" dirty="0"/>
              <a:t>채널 간 </a:t>
            </a:r>
            <a:r>
              <a:rPr lang="en-US" altLang="ko-KR" dirty="0"/>
              <a:t>outlier </a:t>
            </a:r>
            <a:r>
              <a:rPr lang="ko-KR" altLang="en-US" dirty="0"/>
              <a:t>완충</a:t>
            </a:r>
            <a:r>
              <a:rPr lang="en-US" altLang="ko-KR" dirty="0"/>
              <a:t>) </a:t>
            </a:r>
            <a:r>
              <a:rPr lang="ko-KR" altLang="en-US" dirty="0"/>
              <a:t>의 </a:t>
            </a:r>
            <a:r>
              <a:rPr lang="en-US" altLang="ko-KR" dirty="0"/>
              <a:t>median </a:t>
            </a:r>
            <a:r>
              <a:rPr lang="ko-KR" altLang="en-US" dirty="0"/>
              <a:t>값 사용</a:t>
            </a:r>
            <a:endParaRPr lang="en-US" altLang="ko-KR" dirty="0"/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86114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H3 </a:t>
            </a:r>
            <a:r>
              <a:rPr lang="ko-KR" altLang="en-US" dirty="0"/>
              <a:t>에 있는 표의 값은 일 방향 평균과 채널 방향 평균을 합쳐 </a:t>
            </a:r>
            <a:r>
              <a:rPr lang="en-US" altLang="ko-KR" dirty="0"/>
              <a:t>mean </a:t>
            </a:r>
            <a:r>
              <a:rPr lang="ko-KR" altLang="en-US" dirty="0"/>
              <a:t>값을 사용함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0694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16557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1219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Elasticity: SNR </a:t>
            </a:r>
            <a:r>
              <a:rPr lang="ko-KR" altLang="en-US" dirty="0"/>
              <a:t>이 </a:t>
            </a:r>
            <a:r>
              <a:rPr lang="en-US" altLang="ko-KR" dirty="0"/>
              <a:t>1% </a:t>
            </a:r>
            <a:r>
              <a:rPr lang="ko-KR" altLang="en-US" dirty="0"/>
              <a:t>감소할 때 </a:t>
            </a:r>
            <a:r>
              <a:rPr lang="en-US" altLang="ko-KR" dirty="0"/>
              <a:t>RMSE </a:t>
            </a:r>
            <a:r>
              <a:rPr lang="ko-KR" altLang="en-US" dirty="0"/>
              <a:t>가 몇 </a:t>
            </a:r>
            <a:r>
              <a:rPr lang="en-US" altLang="ko-KR" dirty="0"/>
              <a:t>% </a:t>
            </a:r>
            <a:r>
              <a:rPr lang="ko-KR" altLang="en-US" dirty="0"/>
              <a:t>증가하는가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33331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Elasticity: SNR </a:t>
            </a:r>
            <a:r>
              <a:rPr lang="ko-KR" altLang="en-US" dirty="0"/>
              <a:t>이 </a:t>
            </a:r>
            <a:r>
              <a:rPr lang="en-US" altLang="ko-KR" dirty="0"/>
              <a:t>1% </a:t>
            </a:r>
            <a:r>
              <a:rPr lang="ko-KR" altLang="en-US" dirty="0"/>
              <a:t>감소할 때 </a:t>
            </a:r>
            <a:r>
              <a:rPr lang="en-US" altLang="ko-KR" dirty="0"/>
              <a:t>RMSE </a:t>
            </a:r>
            <a:r>
              <a:rPr lang="ko-KR" altLang="en-US" dirty="0"/>
              <a:t>가 몇 </a:t>
            </a:r>
            <a:r>
              <a:rPr lang="en-US" altLang="ko-KR" dirty="0"/>
              <a:t>% </a:t>
            </a:r>
            <a:r>
              <a:rPr lang="ko-KR" altLang="en-US" dirty="0"/>
              <a:t>증가하는가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02935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79753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22512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Lag: </a:t>
            </a:r>
            <a:r>
              <a:rPr lang="ko-KR" altLang="en-US" dirty="0"/>
              <a:t>몇 스텝 전의 값을 </a:t>
            </a:r>
            <a:r>
              <a:rPr lang="ko-KR" altLang="en-US" dirty="0" err="1"/>
              <a:t>참고하느냐에</a:t>
            </a:r>
            <a:r>
              <a:rPr lang="ko-KR" altLang="en-US" dirty="0"/>
              <a:t> 대한 시간 간격</a:t>
            </a:r>
            <a:r>
              <a:rPr lang="en-US" altLang="ko-KR" dirty="0"/>
              <a:t>. (</a:t>
            </a:r>
            <a:r>
              <a:rPr lang="ko-KR" altLang="en-US" dirty="0"/>
              <a:t>얼마나 과거를 </a:t>
            </a:r>
            <a:r>
              <a:rPr lang="ko-KR" altLang="en-US" dirty="0" err="1"/>
              <a:t>참고하느냐에</a:t>
            </a:r>
            <a:r>
              <a:rPr lang="ko-KR" altLang="en-US" dirty="0"/>
              <a:t> 대한 시간 간격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ETTh</a:t>
            </a:r>
            <a:r>
              <a:rPr lang="ko-KR" altLang="en-US" dirty="0"/>
              <a:t>는 하루 전 </a:t>
            </a:r>
            <a:r>
              <a:rPr lang="en-US" altLang="ko-KR" dirty="0"/>
              <a:t>– 24 lag, </a:t>
            </a:r>
            <a:r>
              <a:rPr lang="ko-KR" altLang="en-US" dirty="0"/>
              <a:t>일주일 전 </a:t>
            </a:r>
            <a:r>
              <a:rPr lang="en-US" altLang="ko-KR" dirty="0"/>
              <a:t>– 168 lag / </a:t>
            </a:r>
            <a:r>
              <a:rPr lang="en-US" altLang="ko-KR" dirty="0" err="1"/>
              <a:t>ETTm</a:t>
            </a:r>
            <a:r>
              <a:rPr lang="ko-KR" altLang="en-US" dirty="0"/>
              <a:t>은 하루 전 </a:t>
            </a:r>
            <a:r>
              <a:rPr lang="en-US" altLang="ko-KR" dirty="0"/>
              <a:t>– 96 lag, </a:t>
            </a:r>
            <a:r>
              <a:rPr lang="ko-KR" altLang="en-US" dirty="0"/>
              <a:t>일주일 전</a:t>
            </a:r>
            <a:r>
              <a:rPr lang="en-US" altLang="ko-KR" dirty="0"/>
              <a:t> – 672 lag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7792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70811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29749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017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9776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 err="1"/>
              <a:t>라그</a:t>
            </a:r>
            <a:r>
              <a:rPr lang="ko-KR" altLang="en-US" dirty="0"/>
              <a:t> </a:t>
            </a:r>
            <a:r>
              <a:rPr lang="en-US" altLang="ko-KR" dirty="0"/>
              <a:t>P: </a:t>
            </a:r>
            <a:r>
              <a:rPr lang="ko-KR" altLang="en-US" dirty="0"/>
              <a:t>얼마나 과거를</a:t>
            </a:r>
            <a:r>
              <a:rPr lang="en-US" altLang="ko-KR" dirty="0"/>
              <a:t> </a:t>
            </a:r>
            <a:r>
              <a:rPr lang="ko-KR" altLang="en-US" dirty="0"/>
              <a:t>참고하느냐 라는 시간 간격 </a:t>
            </a:r>
            <a:r>
              <a:rPr lang="en-US" altLang="ko-KR" dirty="0"/>
              <a:t>/ </a:t>
            </a:r>
            <a:r>
              <a:rPr lang="en-US" altLang="ko-KR" dirty="0" err="1"/>
              <a:t>ETTh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:24, </a:t>
            </a:r>
            <a:r>
              <a:rPr lang="ko-KR" altLang="en-US" dirty="0"/>
              <a:t>일주</a:t>
            </a:r>
            <a:r>
              <a:rPr lang="en-US" altLang="ko-KR" dirty="0"/>
              <a:t>: 168 / </a:t>
            </a:r>
            <a:r>
              <a:rPr lang="en-US" altLang="ko-KR" dirty="0" err="1"/>
              <a:t>ETTm</a:t>
            </a:r>
            <a:r>
              <a:rPr lang="en-US" altLang="ko-KR" dirty="0"/>
              <a:t> </a:t>
            </a:r>
            <a:r>
              <a:rPr lang="ko-KR" altLang="en-US" dirty="0"/>
              <a:t>하루</a:t>
            </a:r>
            <a:r>
              <a:rPr lang="en-US" altLang="ko-KR" dirty="0"/>
              <a:t>:96, </a:t>
            </a:r>
            <a:r>
              <a:rPr lang="ko-KR" altLang="en-US" dirty="0"/>
              <a:t>일주</a:t>
            </a:r>
            <a:r>
              <a:rPr lang="en-US" altLang="ko-KR" dirty="0"/>
              <a:t>:672</a:t>
            </a:r>
          </a:p>
          <a:p>
            <a:pPr marL="0" indent="0">
              <a:buFontTx/>
              <a:buNone/>
            </a:pPr>
            <a:r>
              <a:rPr lang="ko-KR" altLang="en-US" dirty="0"/>
              <a:t>밴드 평균</a:t>
            </a:r>
            <a:r>
              <a:rPr lang="en-US" altLang="ko-KR" dirty="0"/>
              <a:t>: </a:t>
            </a:r>
            <a:r>
              <a:rPr lang="ko-KR" altLang="en-US" dirty="0"/>
              <a:t>정수 </a:t>
            </a:r>
            <a:r>
              <a:rPr lang="ko-KR" altLang="en-US" dirty="0" err="1"/>
              <a:t>라그</a:t>
            </a:r>
            <a:r>
              <a:rPr lang="ko-KR" altLang="en-US" dirty="0"/>
              <a:t> 하나만 보지 않고 </a:t>
            </a:r>
            <a:r>
              <a:rPr lang="en-US" altLang="ko-KR" dirty="0"/>
              <a:t>[P-b, </a:t>
            </a:r>
            <a:r>
              <a:rPr lang="en-US" altLang="ko-KR" dirty="0" err="1"/>
              <a:t>P+b</a:t>
            </a:r>
            <a:r>
              <a:rPr lang="en-US" altLang="ko-KR" dirty="0"/>
              <a:t>] </a:t>
            </a:r>
            <a:r>
              <a:rPr lang="ko-KR" altLang="en-US" dirty="0"/>
              <a:t>범위에서 평균을 내어 노이즈에 둔감하게 만듦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12598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78896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05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87909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  <m:r>
                      <m:rPr>
                        <m:nor/>
                      </m:rPr>
                      <a:rPr lang="en-US" altLang="ko-KR" sz="1200" dirty="0"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· </m:t>
                    </m:r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는</m:t>
                    </m:r>
                  </m:oMath>
                </a14:m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i="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</a:t>
                </a:r>
                <a:r>
                  <a:rPr lang="en-US" altLang="ko-KR" sz="1200" i="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60938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정규화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역정규화가 누적 스케일 변동과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변화를 완충하는 것을 보임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ETTh2, ETTm1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·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일관되게 감소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i="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</a:t>
                </a:r>
                <a:r>
                  <a:rPr lang="en-US" altLang="ko-KR" sz="1200" i="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"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모두 </a:t>
                </a:r>
                <a:r>
                  <a:rPr lang="ko-KR" altLang="en-US" sz="12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증가했으나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None/>
                </a:pP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𝜇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감소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𝜎</a:t>
                </a:r>
                <a:r>
                  <a:rPr lang="en-US" altLang="ko-KR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^2</a:t>
                </a:r>
                <a:r>
                  <a:rPr lang="en-US" altLang="ko-KR" sz="1200" b="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i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증가했으나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유의미하게 개선됨</a:t>
                </a:r>
                <a:endParaRPr lang="en-US" altLang="ko-KR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dirty="0"/>
                  <a:t>분포 </a:t>
                </a:r>
                <a:r>
                  <a:rPr lang="ko-KR" altLang="en-US" dirty="0" err="1"/>
                  <a:t>드리프트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시간에 따라 데이터 분포가 달라지는 현상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55556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7870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36935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59780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32956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412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53563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6296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29476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96932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11639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Seed 10</a:t>
            </a:r>
            <a:r>
              <a:rPr lang="ko-KR" altLang="en-US" dirty="0"/>
              <a:t>개 실험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04103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41553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1) </a:t>
            </a:r>
            <a:r>
              <a:rPr lang="ko-KR" altLang="en-US" dirty="0"/>
              <a:t>학습 집합 비율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2) </a:t>
            </a:r>
            <a:r>
              <a:rPr lang="ko-KR" altLang="en-US" dirty="0"/>
              <a:t>입력 윈도우 길이</a:t>
            </a:r>
            <a:r>
              <a:rPr lang="en-US" altLang="ko-KR" dirty="0"/>
              <a:t>, </a:t>
            </a:r>
            <a:r>
              <a:rPr lang="ko-KR" altLang="en-US" dirty="0"/>
              <a:t>모델이 한 번에 보도록 만드는 과거 시점의 길이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3) </a:t>
            </a:r>
            <a:r>
              <a:rPr lang="ko-KR" altLang="en-US" dirty="0"/>
              <a:t>예측 리드타임 길이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4) </a:t>
            </a:r>
            <a:r>
              <a:rPr lang="ko-KR" altLang="en-US" dirty="0"/>
              <a:t>패치 길이</a:t>
            </a:r>
            <a:r>
              <a:rPr lang="en-US" altLang="ko-KR" dirty="0"/>
              <a:t>. </a:t>
            </a:r>
            <a:r>
              <a:rPr lang="ko-KR" altLang="en-US" dirty="0"/>
              <a:t>입력 값을 패치로 변환할 때 패치의 길이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5) </a:t>
            </a:r>
            <a:r>
              <a:rPr lang="ko-KR" altLang="en-US" dirty="0"/>
              <a:t>모델 내부</a:t>
            </a:r>
            <a:r>
              <a:rPr lang="en-US" altLang="ko-KR" dirty="0"/>
              <a:t>(CNN, GRU)</a:t>
            </a:r>
            <a:r>
              <a:rPr lang="ko-KR" altLang="en-US" dirty="0"/>
              <a:t>에서의 </a:t>
            </a:r>
            <a:r>
              <a:rPr lang="ko-KR" altLang="en-US" dirty="0" err="1"/>
              <a:t>임베딩</a:t>
            </a:r>
            <a:r>
              <a:rPr lang="ko-KR" altLang="en-US" dirty="0"/>
              <a:t> 차원</a:t>
            </a:r>
            <a:r>
              <a:rPr lang="en-US" altLang="ko-KR" dirty="0"/>
              <a:t>. </a:t>
            </a:r>
            <a:r>
              <a:rPr lang="ko-KR" altLang="en-US" dirty="0"/>
              <a:t>커질수록 표현력이 높지만 파라미터도 </a:t>
            </a:r>
            <a:r>
              <a:rPr lang="ko-KR" altLang="en-US" dirty="0" err="1"/>
              <a:t>많아짐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6) </a:t>
            </a:r>
            <a:r>
              <a:rPr lang="ko-KR" altLang="en-US" dirty="0"/>
              <a:t>멀티헤드 </a:t>
            </a:r>
            <a:r>
              <a:rPr lang="ko-KR" altLang="en-US" dirty="0" err="1"/>
              <a:t>어텐션의</a:t>
            </a:r>
            <a:r>
              <a:rPr lang="ko-KR" altLang="en-US" dirty="0"/>
              <a:t> 헤드 수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7) </a:t>
            </a:r>
            <a:r>
              <a:rPr lang="ko-KR" altLang="en-US" dirty="0"/>
              <a:t>초기 </a:t>
            </a:r>
            <a:r>
              <a:rPr lang="ko-KR" altLang="en-US" dirty="0" err="1"/>
              <a:t>학습률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8) </a:t>
            </a:r>
            <a:r>
              <a:rPr lang="en-US" altLang="ko-KR" dirty="0" err="1"/>
              <a:t>AdamW</a:t>
            </a:r>
            <a:r>
              <a:rPr lang="ko-KR" altLang="en-US" dirty="0"/>
              <a:t>의 </a:t>
            </a:r>
            <a:r>
              <a:rPr lang="en-US" altLang="ko-KR" dirty="0"/>
              <a:t>L2 </a:t>
            </a:r>
            <a:r>
              <a:rPr lang="ko-KR" altLang="en-US" dirty="0"/>
              <a:t>정규화 가중치 감쇠 인자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9) </a:t>
            </a:r>
            <a:r>
              <a:rPr lang="ko-KR" altLang="en-US" dirty="0"/>
              <a:t>최대 학습 </a:t>
            </a:r>
            <a:r>
              <a:rPr lang="ko-KR" altLang="en-US" dirty="0" err="1"/>
              <a:t>에포크</a:t>
            </a:r>
            <a:r>
              <a:rPr lang="ko-KR" altLang="en-US" dirty="0"/>
              <a:t> 수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10) </a:t>
            </a:r>
            <a:r>
              <a:rPr lang="en-US" altLang="ko-KR" dirty="0" err="1"/>
              <a:t>OneCycleLR</a:t>
            </a:r>
            <a:r>
              <a:rPr lang="ko-KR" altLang="en-US" dirty="0"/>
              <a:t>에서 사용하는 워밍업 기간으로</a:t>
            </a:r>
            <a:r>
              <a:rPr lang="en-US" altLang="ko-KR" dirty="0"/>
              <a:t>, </a:t>
            </a:r>
            <a:r>
              <a:rPr lang="ko-KR" altLang="en-US" dirty="0"/>
              <a:t>앞 </a:t>
            </a:r>
            <a:r>
              <a:rPr lang="en-US" altLang="ko-KR" dirty="0"/>
              <a:t>5 </a:t>
            </a:r>
            <a:r>
              <a:rPr lang="ko-KR" altLang="en-US" dirty="0" err="1"/>
              <a:t>에포크</a:t>
            </a:r>
            <a:r>
              <a:rPr lang="ko-KR" altLang="en-US" dirty="0"/>
              <a:t> 동안 </a:t>
            </a:r>
            <a:r>
              <a:rPr lang="en-US" altLang="ko-KR" dirty="0"/>
              <a:t>LR </a:t>
            </a:r>
            <a:r>
              <a:rPr lang="ko-KR" altLang="en-US" dirty="0"/>
              <a:t>선형 증가 </a:t>
            </a:r>
            <a:r>
              <a:rPr lang="en-US" altLang="ko-KR" dirty="0"/>
              <a:t>:: </a:t>
            </a:r>
            <a:r>
              <a:rPr lang="ko-KR" altLang="en-US" dirty="0"/>
              <a:t>초기 학습에서의 불안정 감소를 위함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11) Gradient Norm Clipping </a:t>
            </a:r>
            <a:r>
              <a:rPr lang="ko-KR" altLang="en-US" dirty="0" err="1"/>
              <a:t>임계값으로</a:t>
            </a:r>
            <a:r>
              <a:rPr lang="en-US" altLang="ko-KR" dirty="0"/>
              <a:t>, GRU</a:t>
            </a:r>
            <a:r>
              <a:rPr lang="ko-KR" altLang="en-US" dirty="0"/>
              <a:t>의 폭발적 </a:t>
            </a:r>
            <a:r>
              <a:rPr lang="ko-KR" altLang="en-US" dirty="0" err="1"/>
              <a:t>그래디언트</a:t>
            </a:r>
            <a:r>
              <a:rPr lang="ko-KR" altLang="en-US" dirty="0"/>
              <a:t> 방지하기 위함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12) </a:t>
            </a:r>
            <a:r>
              <a:rPr lang="ko-KR" altLang="en-US" dirty="0" err="1"/>
              <a:t>드롭아웃</a:t>
            </a:r>
            <a:r>
              <a:rPr lang="ko-KR" altLang="en-US" dirty="0"/>
              <a:t> 확률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1984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1) </a:t>
            </a:r>
            <a:r>
              <a:rPr lang="ko-KR" altLang="en-US" dirty="0"/>
              <a:t>학습 집합 비율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2) </a:t>
            </a:r>
            <a:r>
              <a:rPr lang="ko-KR" altLang="en-US" dirty="0"/>
              <a:t>입력 윈도우 길이</a:t>
            </a:r>
            <a:r>
              <a:rPr lang="en-US" altLang="ko-KR" dirty="0"/>
              <a:t>, </a:t>
            </a:r>
            <a:r>
              <a:rPr lang="ko-KR" altLang="en-US" dirty="0"/>
              <a:t>모델이 한 번에 보도록 만드는 과거 시점의 길이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3) </a:t>
            </a:r>
            <a:r>
              <a:rPr lang="ko-KR" altLang="en-US" dirty="0"/>
              <a:t>예측 리드타임 길이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4) </a:t>
            </a:r>
            <a:r>
              <a:rPr lang="ko-KR" altLang="en-US" dirty="0"/>
              <a:t>패치 길이</a:t>
            </a:r>
            <a:r>
              <a:rPr lang="en-US" altLang="ko-KR" dirty="0"/>
              <a:t>. </a:t>
            </a:r>
            <a:r>
              <a:rPr lang="ko-KR" altLang="en-US" dirty="0"/>
              <a:t>입력 값을 패치로 변환할 때 패치의 길이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5) </a:t>
            </a:r>
            <a:r>
              <a:rPr lang="ko-KR" altLang="en-US" dirty="0"/>
              <a:t>모델 내부</a:t>
            </a:r>
            <a:r>
              <a:rPr lang="en-US" altLang="ko-KR" dirty="0"/>
              <a:t>(CNN, GRU)</a:t>
            </a:r>
            <a:r>
              <a:rPr lang="ko-KR" altLang="en-US" dirty="0"/>
              <a:t>에서의 </a:t>
            </a:r>
            <a:r>
              <a:rPr lang="ko-KR" altLang="en-US" dirty="0" err="1"/>
              <a:t>임베딩</a:t>
            </a:r>
            <a:r>
              <a:rPr lang="ko-KR" altLang="en-US" dirty="0"/>
              <a:t> 차원</a:t>
            </a:r>
            <a:r>
              <a:rPr lang="en-US" altLang="ko-KR" dirty="0"/>
              <a:t>. </a:t>
            </a:r>
            <a:r>
              <a:rPr lang="ko-KR" altLang="en-US" dirty="0"/>
              <a:t>커질수록 표현력이 높지만 파라미터도 </a:t>
            </a:r>
            <a:r>
              <a:rPr lang="ko-KR" altLang="en-US" dirty="0" err="1"/>
              <a:t>많아짐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6) </a:t>
            </a:r>
            <a:r>
              <a:rPr lang="ko-KR" altLang="en-US" dirty="0"/>
              <a:t>멀티헤드 </a:t>
            </a:r>
            <a:r>
              <a:rPr lang="ko-KR" altLang="en-US" dirty="0" err="1"/>
              <a:t>어텐션의</a:t>
            </a:r>
            <a:r>
              <a:rPr lang="ko-KR" altLang="en-US" dirty="0"/>
              <a:t> 헤드 수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7) </a:t>
            </a:r>
            <a:r>
              <a:rPr lang="ko-KR" altLang="en-US" dirty="0"/>
              <a:t>초기 </a:t>
            </a:r>
            <a:r>
              <a:rPr lang="ko-KR" altLang="en-US" dirty="0" err="1"/>
              <a:t>학습률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8) </a:t>
            </a:r>
            <a:r>
              <a:rPr lang="en-US" altLang="ko-KR" dirty="0" err="1"/>
              <a:t>AdamW</a:t>
            </a:r>
            <a:r>
              <a:rPr lang="ko-KR" altLang="en-US" dirty="0"/>
              <a:t>의 </a:t>
            </a:r>
            <a:r>
              <a:rPr lang="en-US" altLang="ko-KR" dirty="0"/>
              <a:t>L2 </a:t>
            </a:r>
            <a:r>
              <a:rPr lang="ko-KR" altLang="en-US" dirty="0"/>
              <a:t>정규화 가중치 감쇠 인자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9) </a:t>
            </a:r>
            <a:r>
              <a:rPr lang="ko-KR" altLang="en-US" dirty="0"/>
              <a:t>최대 학습 </a:t>
            </a:r>
            <a:r>
              <a:rPr lang="ko-KR" altLang="en-US" dirty="0" err="1"/>
              <a:t>에포크</a:t>
            </a:r>
            <a:r>
              <a:rPr lang="ko-KR" altLang="en-US" dirty="0"/>
              <a:t> 수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10) </a:t>
            </a:r>
            <a:r>
              <a:rPr lang="en-US" altLang="ko-KR" dirty="0" err="1"/>
              <a:t>OneCycleLR</a:t>
            </a:r>
            <a:r>
              <a:rPr lang="ko-KR" altLang="en-US" dirty="0"/>
              <a:t>에서 사용하는 워밍업 기간으로</a:t>
            </a:r>
            <a:r>
              <a:rPr lang="en-US" altLang="ko-KR" dirty="0"/>
              <a:t>, </a:t>
            </a:r>
            <a:r>
              <a:rPr lang="ko-KR" altLang="en-US" dirty="0"/>
              <a:t>앞 </a:t>
            </a:r>
            <a:r>
              <a:rPr lang="en-US" altLang="ko-KR" dirty="0"/>
              <a:t>5 </a:t>
            </a:r>
            <a:r>
              <a:rPr lang="ko-KR" altLang="en-US" dirty="0" err="1"/>
              <a:t>에포크</a:t>
            </a:r>
            <a:r>
              <a:rPr lang="ko-KR" altLang="en-US" dirty="0"/>
              <a:t> 동안 </a:t>
            </a:r>
            <a:r>
              <a:rPr lang="en-US" altLang="ko-KR" dirty="0"/>
              <a:t>LR </a:t>
            </a:r>
            <a:r>
              <a:rPr lang="ko-KR" altLang="en-US" dirty="0"/>
              <a:t>선형 증가 </a:t>
            </a:r>
            <a:r>
              <a:rPr lang="en-US" altLang="ko-KR" dirty="0"/>
              <a:t>:: </a:t>
            </a:r>
            <a:r>
              <a:rPr lang="ko-KR" altLang="en-US" dirty="0"/>
              <a:t>초기 학습에서의 불안정 감소를 위함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11) Gradient Norm Clipping </a:t>
            </a:r>
            <a:r>
              <a:rPr lang="ko-KR" altLang="en-US" dirty="0" err="1"/>
              <a:t>임계값으로</a:t>
            </a:r>
            <a:r>
              <a:rPr lang="en-US" altLang="ko-KR" dirty="0"/>
              <a:t>, GRU</a:t>
            </a:r>
            <a:r>
              <a:rPr lang="ko-KR" altLang="en-US" dirty="0"/>
              <a:t>의 폭발적 </a:t>
            </a:r>
            <a:r>
              <a:rPr lang="ko-KR" altLang="en-US" dirty="0" err="1"/>
              <a:t>그래디언트</a:t>
            </a:r>
            <a:r>
              <a:rPr lang="ko-KR" altLang="en-US" dirty="0"/>
              <a:t> 방지하기 위함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12) </a:t>
            </a:r>
            <a:r>
              <a:rPr lang="ko-KR" altLang="en-US" dirty="0" err="1"/>
              <a:t>드롭아웃</a:t>
            </a:r>
            <a:r>
              <a:rPr lang="ko-KR" altLang="en-US" dirty="0"/>
              <a:t> 확률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69729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9AC37-6A07-47AF-9D63-A624E6B30547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165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D72A1FB-089C-DFA1-A65C-E2653D557EB5}"/>
              </a:ext>
            </a:extLst>
          </p:cNvPr>
          <p:cNvSpPr/>
          <p:nvPr userDrawn="1"/>
        </p:nvSpPr>
        <p:spPr>
          <a:xfrm>
            <a:off x="6519833" y="287529"/>
            <a:ext cx="2333221" cy="548993"/>
          </a:xfrm>
          <a:prstGeom prst="roundRect">
            <a:avLst/>
          </a:prstGeom>
          <a:blipFill dpi="0" rotWithShape="1">
            <a:blip r:embed="rId2">
              <a:alphaModFix amt="5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62286FF-1126-DDB2-C6AE-C06427DE605D}"/>
              </a:ext>
            </a:extLst>
          </p:cNvPr>
          <p:cNvSpPr/>
          <p:nvPr userDrawn="1"/>
        </p:nvSpPr>
        <p:spPr>
          <a:xfrm>
            <a:off x="290946" y="293842"/>
            <a:ext cx="2133907" cy="367455"/>
          </a:xfrm>
          <a:prstGeom prst="roundRect">
            <a:avLst/>
          </a:prstGeom>
          <a:blipFill dpi="0" rotWithShape="1">
            <a:blip r:embed="rId3"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802DB1-B80B-BD86-36AF-9A99C57C06F3}"/>
              </a:ext>
            </a:extLst>
          </p:cNvPr>
          <p:cNvSpPr/>
          <p:nvPr userDrawn="1"/>
        </p:nvSpPr>
        <p:spPr>
          <a:xfrm>
            <a:off x="1167938" y="2011377"/>
            <a:ext cx="6808123" cy="2377161"/>
          </a:xfrm>
          <a:prstGeom prst="roundRect">
            <a:avLst/>
          </a:prstGeom>
          <a:blipFill dpi="0" rotWithShape="1">
            <a:blip r:embed="rId4">
              <a:alphaModFix amt="1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42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97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5400000">
            <a:off x="-3366891" y="3367283"/>
            <a:ext cx="6858000" cy="12343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1000">
                <a:srgbClr val="7ACCC8"/>
              </a:gs>
              <a:gs pos="7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97263" y="6467199"/>
            <a:ext cx="1497620" cy="2983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0C817E-B0C8-4E74-88BC-BBD488D1FF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 flipV="1">
            <a:off x="290052" y="841634"/>
            <a:ext cx="8640000" cy="422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EEBD5D5-C0F0-1C9D-F1EB-FE40E9C868A7}"/>
              </a:ext>
            </a:extLst>
          </p:cNvPr>
          <p:cNvSpPr/>
          <p:nvPr userDrawn="1"/>
        </p:nvSpPr>
        <p:spPr>
          <a:xfrm>
            <a:off x="7380410" y="400826"/>
            <a:ext cx="1549642" cy="360443"/>
          </a:xfrm>
          <a:prstGeom prst="roundRect">
            <a:avLst/>
          </a:prstGeom>
          <a:blipFill dpi="0" rotWithShape="1">
            <a:blip r:embed="rId2" cstate="print">
              <a:alphaModFix amt="5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0210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5400000">
            <a:off x="-3366891" y="3367283"/>
            <a:ext cx="6858000" cy="12343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1000">
                <a:srgbClr val="7ACCC8"/>
              </a:gs>
              <a:gs pos="7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97263" y="6467199"/>
            <a:ext cx="1497620" cy="29830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80C817E-B0C8-4E74-88BC-BBD488D1FF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102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0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0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30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27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69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91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75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DD7CC-5483-4E4A-8941-BA93B739264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EA9F1-9337-4260-BE44-8F74CA5216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3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1.png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41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481.png"/><Relationship Id="rId4" Type="http://schemas.openxmlformats.org/officeDocument/2006/relationships/image" Target="../media/image64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211.14730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5281/zenodo.3898439" TargetMode="External"/><Relationship Id="rId4" Type="http://schemas.openxmlformats.org/officeDocument/2006/relationships/hyperlink" Target="https://arxiv.org/pdf/2503.008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>
            <a:extLst>
              <a:ext uri="{FF2B5EF4-FFF2-40B4-BE49-F238E27FC236}">
                <a16:creationId xmlns:a16="http://schemas.microsoft.com/office/drawing/2014/main" id="{1C91F74C-2B4E-9DD8-0527-54859AECF17D}"/>
              </a:ext>
            </a:extLst>
          </p:cNvPr>
          <p:cNvSpPr txBox="1">
            <a:spLocks/>
          </p:cNvSpPr>
          <p:nvPr/>
        </p:nvSpPr>
        <p:spPr>
          <a:xfrm>
            <a:off x="2377403" y="4464516"/>
            <a:ext cx="4389194" cy="1113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844078" rtl="0" eaLnBrk="1" latinLnBrk="0" hangingPunct="1">
              <a:spcBef>
                <a:spcPct val="20000"/>
              </a:spcBef>
              <a:buFont typeface="맑은 고딕" pitchFamily="50" charset="-127"/>
              <a:buNone/>
              <a:defRPr sz="1477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2039" indent="0" algn="ctr" defTabSz="844078" rtl="0" eaLnBrk="1" latinLnBrk="0" hangingPunct="1">
              <a:spcBef>
                <a:spcPct val="20000"/>
              </a:spcBef>
              <a:buFont typeface="맑은 고딕" pitchFamily="50" charset="-127"/>
              <a:buNone/>
              <a:defRPr sz="110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78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22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117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155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195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233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272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311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연세대학교 지능형데이터</a:t>
            </a:r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최적화학과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System Intelligence Lab</a:t>
            </a: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 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박힘찬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F4627F1-71AA-5040-D319-99B4967954D7}"/>
              </a:ext>
            </a:extLst>
          </p:cNvPr>
          <p:cNvSpPr txBox="1">
            <a:spLocks/>
          </p:cNvSpPr>
          <p:nvPr/>
        </p:nvSpPr>
        <p:spPr>
          <a:xfrm>
            <a:off x="139959" y="2103563"/>
            <a:ext cx="8864082" cy="16238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28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1D CNN-GRU Cross Learning</a:t>
            </a:r>
            <a:r>
              <a:rPr lang="ko-KR" altLang="en-US" sz="28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28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for</a:t>
            </a:r>
            <a:r>
              <a:rPr lang="ko-KR" altLang="en-US" sz="28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28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Multivariate TSF</a:t>
            </a:r>
          </a:p>
          <a:p>
            <a:pPr algn="ctr">
              <a:lnSpc>
                <a:spcPct val="150000"/>
              </a:lnSpc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(Time Series Forecasting)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3D7904A-4541-D262-2B64-9CE7B75793D9}"/>
              </a:ext>
            </a:extLst>
          </p:cNvPr>
          <p:cNvGrpSpPr/>
          <p:nvPr/>
        </p:nvGrpSpPr>
        <p:grpSpPr>
          <a:xfrm>
            <a:off x="-8879" y="-8879"/>
            <a:ext cx="3373516" cy="3027285"/>
            <a:chOff x="-3" y="-9525"/>
            <a:chExt cx="3028952" cy="2724151"/>
          </a:xfrm>
        </p:grpSpPr>
        <p:sp>
          <p:nvSpPr>
            <p:cNvPr id="3" name="직각 삼각형 2">
              <a:extLst>
                <a:ext uri="{FF2B5EF4-FFF2-40B4-BE49-F238E27FC236}">
                  <a16:creationId xmlns:a16="http://schemas.microsoft.com/office/drawing/2014/main" id="{CF902B17-BC9F-9305-D383-91EEB2552739}"/>
                </a:ext>
              </a:extLst>
            </p:cNvPr>
            <p:cNvSpPr/>
            <p:nvPr/>
          </p:nvSpPr>
          <p:spPr>
            <a:xfrm rot="5400000">
              <a:off x="126176" y="-121475"/>
              <a:ext cx="2424174" cy="2676528"/>
            </a:xfrm>
            <a:prstGeom prst="rtTriangle">
              <a:avLst/>
            </a:prstGeom>
            <a:solidFill>
              <a:srgbClr val="DAE2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6" name="직각 삼각형 5">
              <a:extLst>
                <a:ext uri="{FF2B5EF4-FFF2-40B4-BE49-F238E27FC236}">
                  <a16:creationId xmlns:a16="http://schemas.microsoft.com/office/drawing/2014/main" id="{56D7642B-BA24-083E-4F98-31540A608ED6}"/>
                </a:ext>
              </a:extLst>
            </p:cNvPr>
            <p:cNvSpPr/>
            <p:nvPr/>
          </p:nvSpPr>
          <p:spPr>
            <a:xfrm rot="5400000">
              <a:off x="-566737" y="557212"/>
              <a:ext cx="2724151" cy="1590677"/>
            </a:xfrm>
            <a:prstGeom prst="rtTriangle">
              <a:avLst/>
            </a:prstGeom>
            <a:solidFill>
              <a:srgbClr val="4DC3CE"/>
            </a:solidFill>
            <a:ln>
              <a:solidFill>
                <a:srgbClr val="E6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7" name="직각 삼각형 6">
              <a:extLst>
                <a:ext uri="{FF2B5EF4-FFF2-40B4-BE49-F238E27FC236}">
                  <a16:creationId xmlns:a16="http://schemas.microsoft.com/office/drawing/2014/main" id="{D9D94FFB-DD07-2FBB-1A87-45D0C3DFC1AE}"/>
                </a:ext>
              </a:extLst>
            </p:cNvPr>
            <p:cNvSpPr/>
            <p:nvPr/>
          </p:nvSpPr>
          <p:spPr>
            <a:xfrm rot="5400000">
              <a:off x="838197" y="-838201"/>
              <a:ext cx="1352551" cy="3028952"/>
            </a:xfrm>
            <a:prstGeom prst="rtTriangle">
              <a:avLst/>
            </a:prstGeom>
            <a:solidFill>
              <a:srgbClr val="2641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959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410593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Table of C</a:t>
            </a:r>
            <a:r>
              <a:rPr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ontents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60" y="1420000"/>
            <a:ext cx="7849940" cy="326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Background</a:t>
            </a:r>
          </a:p>
          <a:p>
            <a:pPr marL="342900" indent="-342900"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Methodology</a:t>
            </a:r>
          </a:p>
          <a:p>
            <a:pPr marL="342900" indent="-342900"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Experiment</a:t>
            </a:r>
          </a:p>
          <a:p>
            <a:pPr marL="342900" indent="-342900"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Discussion</a:t>
            </a:r>
          </a:p>
          <a:p>
            <a:pPr marL="342900" indent="-342900"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Appendix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574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99007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Background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5198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Multivariate Time Series Forecasting</a:t>
            </a:r>
            <a:endParaRPr kumimoji="0" lang="ko-KR" altLang="en-US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5D2A4-6E10-4417-9A2C-5EA10C2F04B3}"/>
              </a:ext>
            </a:extLst>
          </p:cNvPr>
          <p:cNvSpPr txBox="1"/>
          <p:nvPr/>
        </p:nvSpPr>
        <p:spPr>
          <a:xfrm>
            <a:off x="490584" y="1516704"/>
            <a:ext cx="8381567" cy="247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다변량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(Multivariate)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시계열 예측은 에너지 수요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교통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기상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금융 등에 있어 실무 과제로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장기 전략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운영 의사결정에 직접 연결된 과제임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실무 데이터의 경우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주기성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(Daily/Week Seasonality),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비정상성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(Non-Stationarity),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국면 전환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(Regime Shift)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등의 여러 현상들이 공존하여 예측 성능에 영향을 미침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데이터는 시간에 따라 평균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분산이 달라지는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분포 변동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(Distribution Shift)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보이며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과거 정보를 많이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Look-Back Window)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반영하고 예측을 길게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수록 미세 오차가 누적되어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스케일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변동성 불일치가 커지는 문제가 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0819D3-24DB-4A00-BC51-BB398F9822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988" y="4432091"/>
            <a:ext cx="4546023" cy="1818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FE348-C6E5-470D-B967-99C6AD9ABA43}"/>
              </a:ext>
            </a:extLst>
          </p:cNvPr>
          <p:cNvSpPr txBox="1"/>
          <p:nvPr/>
        </p:nvSpPr>
        <p:spPr>
          <a:xfrm>
            <a:off x="1098495" y="6165424"/>
            <a:ext cx="7165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비정상성에 대한 예시 그림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위 그림은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데이터의 초기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25%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와 말기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25%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분포의 변화로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평균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분산이 시간에 따라 달라진다고 해석할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8727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99007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Background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023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선행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연구에서의 문제 해결 시도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5D2A4-6E10-4417-9A2C-5EA10C2F04B3}"/>
              </a:ext>
            </a:extLst>
          </p:cNvPr>
          <p:cNvSpPr txBox="1"/>
          <p:nvPr/>
        </p:nvSpPr>
        <p:spPr>
          <a:xfrm>
            <a:off x="490584" y="1516704"/>
            <a:ext cx="8381567" cy="3998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PatchTST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는 시계열을 짧게 잘라 토큰화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하면서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변수를 공유 가중치로 개별 처리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독립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로컬 의미 보존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(ii) Attention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메모리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연산 감소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(iii)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더 긴 과거 정보에 집중할 수 있음을 보고함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Autoformer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와 같은 트랜스포머는 긴 의존성 정보를 잘 잡으며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계열 분해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계절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), Auto-Correlation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반복 주기 패턴을 직접 모델링하여 장주기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계절성이 강한 데이터에서 긴 의존성을 잡음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TSMixer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시간 축과 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특징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축에서 각각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MLP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로 혼합을 수행하여 특징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 단계에서 변수 간 상호작용을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 단계에서 시계열 의존성을 포착하여 트랜스포머와 대등하거나 우수한 성과를 보임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FreTS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데이터를 주파수 영역으로 변환하여 주파수 영역에서 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시간 의존성을 함께 학습함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FSMLP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TSMixer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의 채널 기반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MLP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혼합과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FreTS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의 주파수 기반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MLP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혼합을 결합하여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극단값에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대한 과적합을 줄이고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다변량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상호작용을 안정적으로 학습함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CNN-RNN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병합 모델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통해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 CNN, RNN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각각 가진 국소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연결성과 시계열성을 함께 반영하는 등 단순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경량 모델도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다변량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시계열 예측에서 사용되는 모델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92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99007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Background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238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선행 연구의 한계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5D2A4-6E10-4417-9A2C-5EA10C2F04B3}"/>
              </a:ext>
            </a:extLst>
          </p:cNvPr>
          <p:cNvSpPr txBox="1"/>
          <p:nvPr/>
        </p:nvSpPr>
        <p:spPr>
          <a:xfrm>
            <a:off x="490584" y="1516704"/>
            <a:ext cx="8381567" cy="255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PatchTST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류의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독립은 채널 간 상호작용이 강한 데이터에서는 이득을 완전히 끌어내기 어려움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트랜스포머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계열은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높은 복잡도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비용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하이퍼파라미터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튜닝에 따른 큰 성능 편차와 데이터 규모 대비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과적합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우려가 커 일부 연구에서는 선형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MLP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SOTA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트랜스포머보다 높은 성능이 확인되기도 하였음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FreTS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FSMLP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류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고정된 혼합 가중치를 학습하여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상태 의존적 갱신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(State-Dependent Update,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현재 시점의 문맥에 따라 필터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가중치가 바뀌는 적응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제한적임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기존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CNN-RNN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하이브리드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분리 학습 → 마지막 단순 병합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(Late-Fusion)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구조가 대부분으로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학습 과정 전반에서 상호 보정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교차 정보 흐름이 약함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897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1970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요약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1753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제안 모델은 데이터를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간 혼합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나눠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병렬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CNN-GRU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입력하고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매 층에서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서로의 상태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”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를 조건으로 동작하는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동적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깊이별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컨볼루션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Convolution)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수행함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이를 통해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독립의 한계를 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(ii)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상태 의존적 갱신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급격한 변화를 잘 흡수하며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			(iii)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트랜스포머 대비 경량 구조로 효율을 확보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(iv)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기존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연합 모델의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단순 병합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(Late-Fusion)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문제를 해결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할 수 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67D330-8571-4399-9770-92491EFE3F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2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1970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요약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2228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특히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Cross Connection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을 통해서 얻을 수 있는 이점은 다음과 같음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각 층의 동적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반대 경로의 상태로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필터를 재구성하여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상태 의존적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현재 시점의 문맥에 따라 필터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가중치가 바뀌는 적응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상호작용을 구현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4)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Convolution / Group Convolution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없이도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다변량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상호작용을 효율적으로 학습 가능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1, 2)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교차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갱신을 통해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CNN, 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기울기 흐름을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균형화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할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수 있음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3)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E1CA87-939E-4561-B70C-650DCE1E49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26A2476-C83C-40C2-BDEA-170C97FEF2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4488" y="958446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알고리즘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213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Step 1) Input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데이터를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간 혼합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(Patch Embedding)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후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형태로 분할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① CNN Block,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②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GRU Block,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③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Residual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입력으로 활용함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데이터를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Patch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형태로 분할할 경우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초반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후반 데이터 간의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관계 소실 문제를 완화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장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단기 정보를 보존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연산 및 메모리 부담을 감소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한다는 결과가 있어 이를 차용함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 (Reversible Instance Normalization)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정규화 기법으로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추후 별도로 기술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E8ADD-87C5-4A0D-9C04-DDF6E7873233}"/>
              </a:ext>
            </a:extLst>
          </p:cNvPr>
          <p:cNvSpPr txBox="1"/>
          <p:nvPr/>
        </p:nvSpPr>
        <p:spPr>
          <a:xfrm>
            <a:off x="2813737" y="4987000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1BDBD-0304-4B2D-8115-0BC300DE83EE}"/>
              </a:ext>
            </a:extLst>
          </p:cNvPr>
          <p:cNvSpPr txBox="1"/>
          <p:nvPr/>
        </p:nvSpPr>
        <p:spPr>
          <a:xfrm>
            <a:off x="2810494" y="5502587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➁</a:t>
            </a:r>
            <a:endParaRPr lang="ko-KR" altLang="en-US" sz="1000" dirty="0">
              <a:latin typeface="KoPub바탕체 Light" panose="00000300000000000000" pitchFamily="2" charset="-127"/>
              <a:ea typeface="KoPub바탕체 Light" panose="00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F1AAA-C654-4169-B034-477B9C0F78CA}"/>
              </a:ext>
            </a:extLst>
          </p:cNvPr>
          <p:cNvSpPr txBox="1"/>
          <p:nvPr/>
        </p:nvSpPr>
        <p:spPr>
          <a:xfrm>
            <a:off x="2480726" y="5653333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➂</a:t>
            </a:r>
            <a:endParaRPr lang="ko-KR" altLang="en-US" sz="1000" dirty="0">
              <a:latin typeface="KoPub바탕체 Light" panose="00000300000000000000" pitchFamily="2" charset="-127"/>
              <a:ea typeface="KoPub바탕체 Light" panose="000003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1602BC-4C7E-4450-9A61-C89639738D54}"/>
              </a:ext>
            </a:extLst>
          </p:cNvPr>
          <p:cNvSpPr/>
          <p:nvPr/>
        </p:nvSpPr>
        <p:spPr>
          <a:xfrm>
            <a:off x="2261419" y="3988521"/>
            <a:ext cx="878843" cy="2565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50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226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채널 간 혼합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Patch Embedding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43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본 모델에서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 Embedding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채널의 출력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y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수식은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k</m:t>
                                  </m:r>
                                  <m: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u</m:t>
                                  </m:r>
                                </m:sub>
                              </m:sSub>
                              <m: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u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요약하자면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길이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안의 모든 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값들을 가중 합하여 새 토큰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y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생성함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데이터의 채널 정보를 모두 혼합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창의 여러 시점을 서로 다른 가중치로 결합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하여 시간 패턴을 반영함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Embedding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위치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토큰 값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(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입력 시계열 중 채널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Patch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안에서 오프셋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u (Patch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창 내부에서의 상대적 시간 위치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해당하는 샘플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Embedding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채널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채널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오프셋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u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샘플을 얼마나 반영할지 정하는 가중치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Embedding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채널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Bias</a:t>
                </a: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Patch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길이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(Conv 1D kernel size)</a:t>
                </a: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S: Conv 1D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보폭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(Stride)</a:t>
                </a: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입력 변수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437305"/>
              </a:xfrm>
              <a:prstGeom prst="rect">
                <a:avLst/>
              </a:prstGeom>
              <a:blipFill>
                <a:blip r:embed="rId3"/>
                <a:stretch>
                  <a:fillRect l="-145" b="-1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60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235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채널 간 혼합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Patch Embedding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869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예를 들어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C: A,B,C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 = 12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인 데이터가 있을 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길이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=3=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보폭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설정하면 토큰 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 = 4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 생성됨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데이터를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Embedding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채널로 압축한다고 했을 때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Embedding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1(k=1)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토큰은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 1,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u</m:t>
                                  </m:r>
                                </m:sub>
                              </m:sSub>
                              <m: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u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u=0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첫 번째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’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A, B, 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u=1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두 번째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시점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’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A, B, 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u=2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세 번째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시점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’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A, B, 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값을 각각 가중치로 섞어서 하나의 스칼라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1, </m:t>
                        </m:r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만듦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A, B, 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전부를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내부의 여러 시점과 함께 학습 가능한 가중치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가중합을 수행함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순수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슬라이싱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(Slicing)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과는 다름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869393"/>
              </a:xfrm>
              <a:prstGeom prst="rect">
                <a:avLst/>
              </a:prstGeom>
              <a:blipFill>
                <a:blip r:embed="rId3"/>
                <a:stretch>
                  <a:fillRect l="-145" b="-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29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235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채널 간 혼합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Patch Embedding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F65D99A9-EE9B-4CAF-BE3F-C55CD79BF975}"/>
              </a:ext>
            </a:extLst>
          </p:cNvPr>
          <p:cNvGraphicFramePr>
            <a:graphicFrameLocks noGrp="1"/>
          </p:cNvGraphicFramePr>
          <p:nvPr/>
        </p:nvGraphicFramePr>
        <p:xfrm>
          <a:off x="1030288" y="2471240"/>
          <a:ext cx="1303638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5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4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0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1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023490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BA796E6A-1668-4DF0-BCBF-FF8E11E5674A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1983560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49936DFE-7EA1-4C62-8E10-477430FCFB86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3127586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67A10C29-A005-4BF4-9443-A3809514C8A4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4271612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6696D40-060D-4BFC-AEE5-4232BC365BC2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5416331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B8E58C2-FAB5-4D88-89FC-53659AB5616B}"/>
              </a:ext>
            </a:extLst>
          </p:cNvPr>
          <p:cNvSpPr txBox="1"/>
          <p:nvPr/>
        </p:nvSpPr>
        <p:spPr>
          <a:xfrm>
            <a:off x="888464" y="5641160"/>
            <a:ext cx="15872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원시 데이터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입력으로 들어오는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미니배치 한 묶음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F3C21-8D3B-4AFB-B3F2-3985BC3909FE}"/>
              </a:ext>
            </a:extLst>
          </p:cNvPr>
          <p:cNvSpPr txBox="1"/>
          <p:nvPr/>
        </p:nvSpPr>
        <p:spPr>
          <a:xfrm>
            <a:off x="2336569" y="6380867"/>
            <a:ext cx="2653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길이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3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때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Token 4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생성</a:t>
            </a:r>
          </a:p>
        </p:txBody>
      </p:sp>
      <p:graphicFrame>
        <p:nvGraphicFramePr>
          <p:cNvPr id="16" name="표 2">
            <a:extLst>
              <a:ext uri="{FF2B5EF4-FFF2-40B4-BE49-F238E27FC236}">
                <a16:creationId xmlns:a16="http://schemas.microsoft.com/office/drawing/2014/main" id="{0E7828FF-CC4D-4082-B498-87587DC4F453}"/>
              </a:ext>
            </a:extLst>
          </p:cNvPr>
          <p:cNvGraphicFramePr>
            <a:graphicFrameLocks noGrp="1"/>
          </p:cNvGraphicFramePr>
          <p:nvPr/>
        </p:nvGraphicFramePr>
        <p:xfrm>
          <a:off x="4919935" y="2099589"/>
          <a:ext cx="142333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/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 Bias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=0.10</m:t>
                    </m:r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blipFill>
                <a:blip r:embed="rId3"/>
                <a:stretch>
                  <a:fillRect l="-855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/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Weight</a:t>
                </a:r>
                <a:r>
                  <a:rPr lang="en-US" altLang="ko-KR" sz="1400" dirty="0"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blipFill>
                <a:blip r:embed="rId4"/>
                <a:stretch>
                  <a:fillRect l="-1031"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B10413F-1763-4489-91A0-98E8BA0D6DBD}"/>
              </a:ext>
            </a:extLst>
          </p:cNvPr>
          <p:cNvSpPr/>
          <p:nvPr/>
        </p:nvSpPr>
        <p:spPr>
          <a:xfrm flipH="1">
            <a:off x="6351216" y="2099589"/>
            <a:ext cx="199875" cy="731520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6A7D947-4FAE-4B44-B3BE-1E95694F28BF}"/>
              </a:ext>
            </a:extLst>
          </p:cNvPr>
          <p:cNvSpPr/>
          <p:nvPr/>
        </p:nvSpPr>
        <p:spPr>
          <a:xfrm rot="5400000">
            <a:off x="5558875" y="1316211"/>
            <a:ext cx="145451" cy="142333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E8177-8F48-4F03-B91F-473EF187DC68}"/>
              </a:ext>
            </a:extLst>
          </p:cNvPr>
          <p:cNvSpPr txBox="1"/>
          <p:nvPr/>
        </p:nvSpPr>
        <p:spPr>
          <a:xfrm>
            <a:off x="5453304" y="1705638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31525-9B2C-4AC9-86FB-6C0926FDC7AB}"/>
              </a:ext>
            </a:extLst>
          </p:cNvPr>
          <p:cNvSpPr txBox="1"/>
          <p:nvPr/>
        </p:nvSpPr>
        <p:spPr>
          <a:xfrm>
            <a:off x="6528245" y="229817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u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/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 1 × 0.10 + 0 × 0.30     + 2 × (-0.05)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+ 2 × 0.20 + 1 × (-0.10) + 1 × 0.10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+ 3 × 0.00 + 2 × 0.20     + 0 × 0.25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+ 0.10 (Bias)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,1,0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0.90</a:t>
                </a:r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blipFill>
                <a:blip r:embed="rId5"/>
                <a:stretch>
                  <a:fillRect l="-605" t="-1042" b="-46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A329F349-9F02-43A9-99BE-EF64687A31BD}"/>
              </a:ext>
            </a:extLst>
          </p:cNvPr>
          <p:cNvSpPr/>
          <p:nvPr/>
        </p:nvSpPr>
        <p:spPr>
          <a:xfrm rot="16200000" flipH="1">
            <a:off x="3565443" y="1233876"/>
            <a:ext cx="207823" cy="129154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BFEEB-424E-4F84-A1A5-FD5280FA2ECA}"/>
              </a:ext>
            </a:extLst>
          </p:cNvPr>
          <p:cNvSpPr txBox="1"/>
          <p:nvPr/>
        </p:nvSpPr>
        <p:spPr>
          <a:xfrm>
            <a:off x="3551836" y="1516704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192BE-DCB0-4994-A8F9-05EC6F851BCC}"/>
              </a:ext>
            </a:extLst>
          </p:cNvPr>
          <p:cNvSpPr txBox="1"/>
          <p:nvPr/>
        </p:nvSpPr>
        <p:spPr>
          <a:xfrm>
            <a:off x="472999" y="1467711"/>
            <a:ext cx="8381567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Embedding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대하여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89093B4-0093-49C9-ABEC-17B57FD2205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333926" y="2471240"/>
            <a:ext cx="677563" cy="158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8028570-33E5-4890-8F46-07BC108979D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2333926" y="3615266"/>
            <a:ext cx="677563" cy="440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A57739E-7801-4AB5-86B6-28270DD2085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333926" y="4056200"/>
            <a:ext cx="677563" cy="70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F19A89-8332-4FC5-A682-BAFA74A2029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333926" y="4056200"/>
            <a:ext cx="677563" cy="184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2EE3E2A-45A4-4F7C-A407-C86F044D983F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>
            <a:off x="4315127" y="2471240"/>
            <a:ext cx="1579965" cy="134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C19A083-A306-48A9-8F27-0FE3DBBD032C}"/>
              </a:ext>
            </a:extLst>
          </p:cNvPr>
          <p:cNvCxnSpPr>
            <a:cxnSpLocks/>
            <a:stCxn id="16" idx="2"/>
            <a:endCxn id="24" idx="1"/>
          </p:cNvCxnSpPr>
          <p:nvPr/>
        </p:nvCxnSpPr>
        <p:spPr>
          <a:xfrm>
            <a:off x="5631604" y="2831109"/>
            <a:ext cx="263488" cy="987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1A28CCCB-5D5C-460C-92E2-03A1CD49EB33}"/>
              </a:ext>
            </a:extLst>
          </p:cNvPr>
          <p:cNvSpPr/>
          <p:nvPr/>
        </p:nvSpPr>
        <p:spPr>
          <a:xfrm rot="5400000">
            <a:off x="1594337" y="1739242"/>
            <a:ext cx="158277" cy="1303637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3D5A03-C4DB-407F-AB1D-73AF272F0305}"/>
              </a:ext>
            </a:extLst>
          </p:cNvPr>
          <p:cNvSpPr txBox="1"/>
          <p:nvPr/>
        </p:nvSpPr>
        <p:spPr>
          <a:xfrm>
            <a:off x="1402303" y="206679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 = 3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25672508-50CB-4CE2-A286-BAD96D281B85}"/>
              </a:ext>
            </a:extLst>
          </p:cNvPr>
          <p:cNvSpPr/>
          <p:nvPr/>
        </p:nvSpPr>
        <p:spPr>
          <a:xfrm>
            <a:off x="859172" y="2715327"/>
            <a:ext cx="158277" cy="2924789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9650B-203C-416E-B8B4-76934B43CACE}"/>
              </a:ext>
            </a:extLst>
          </p:cNvPr>
          <p:cNvSpPr txBox="1"/>
          <p:nvPr/>
        </p:nvSpPr>
        <p:spPr>
          <a:xfrm>
            <a:off x="279339" y="4023832"/>
            <a:ext cx="657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 = 12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63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235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채널 간 혼합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Patch Embedding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F65D99A9-EE9B-4CAF-BE3F-C55CD79BF975}"/>
              </a:ext>
            </a:extLst>
          </p:cNvPr>
          <p:cNvGraphicFramePr>
            <a:graphicFrameLocks noGrp="1"/>
          </p:cNvGraphicFramePr>
          <p:nvPr/>
        </p:nvGraphicFramePr>
        <p:xfrm>
          <a:off x="1030288" y="2471240"/>
          <a:ext cx="1303638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5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4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0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1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023490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BA796E6A-1668-4DF0-BCBF-FF8E11E5674A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1983560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49936DFE-7EA1-4C62-8E10-477430FCFB86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3127586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67A10C29-A005-4BF4-9443-A3809514C8A4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4271612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6696D40-060D-4BFC-AEE5-4232BC365BC2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5416331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B8E58C2-FAB5-4D88-89FC-53659AB5616B}"/>
              </a:ext>
            </a:extLst>
          </p:cNvPr>
          <p:cNvSpPr txBox="1"/>
          <p:nvPr/>
        </p:nvSpPr>
        <p:spPr>
          <a:xfrm>
            <a:off x="888460" y="5641160"/>
            <a:ext cx="15872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원시 데이터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입력으로 들어오는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미니배치 한 묶음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F3C21-8D3B-4AFB-B3F2-3985BC3909FE}"/>
              </a:ext>
            </a:extLst>
          </p:cNvPr>
          <p:cNvSpPr txBox="1"/>
          <p:nvPr/>
        </p:nvSpPr>
        <p:spPr>
          <a:xfrm>
            <a:off x="2336569" y="6380867"/>
            <a:ext cx="2653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길이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3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때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Token 4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생성</a:t>
            </a:r>
          </a:p>
        </p:txBody>
      </p:sp>
      <p:graphicFrame>
        <p:nvGraphicFramePr>
          <p:cNvPr id="16" name="표 2">
            <a:extLst>
              <a:ext uri="{FF2B5EF4-FFF2-40B4-BE49-F238E27FC236}">
                <a16:creationId xmlns:a16="http://schemas.microsoft.com/office/drawing/2014/main" id="{0E7828FF-CC4D-4082-B498-87587DC4F453}"/>
              </a:ext>
            </a:extLst>
          </p:cNvPr>
          <p:cNvGraphicFramePr>
            <a:graphicFrameLocks noGrp="1"/>
          </p:cNvGraphicFramePr>
          <p:nvPr/>
        </p:nvGraphicFramePr>
        <p:xfrm>
          <a:off x="4919935" y="2099589"/>
          <a:ext cx="142333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/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 Bias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=0.10</m:t>
                    </m:r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blipFill>
                <a:blip r:embed="rId3"/>
                <a:stretch>
                  <a:fillRect l="-855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/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Weight</a:t>
                </a:r>
                <a:r>
                  <a:rPr lang="en-US" altLang="ko-KR" sz="1400" dirty="0"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blipFill>
                <a:blip r:embed="rId4"/>
                <a:stretch>
                  <a:fillRect l="-1031"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B10413F-1763-4489-91A0-98E8BA0D6DBD}"/>
              </a:ext>
            </a:extLst>
          </p:cNvPr>
          <p:cNvSpPr/>
          <p:nvPr/>
        </p:nvSpPr>
        <p:spPr>
          <a:xfrm flipH="1">
            <a:off x="6351216" y="2099589"/>
            <a:ext cx="199875" cy="731520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6A7D947-4FAE-4B44-B3BE-1E95694F28BF}"/>
              </a:ext>
            </a:extLst>
          </p:cNvPr>
          <p:cNvSpPr/>
          <p:nvPr/>
        </p:nvSpPr>
        <p:spPr>
          <a:xfrm rot="5400000">
            <a:off x="5558875" y="1316211"/>
            <a:ext cx="145451" cy="142333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E8177-8F48-4F03-B91F-473EF187DC68}"/>
              </a:ext>
            </a:extLst>
          </p:cNvPr>
          <p:cNvSpPr txBox="1"/>
          <p:nvPr/>
        </p:nvSpPr>
        <p:spPr>
          <a:xfrm>
            <a:off x="5453304" y="1705638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31525-9B2C-4AC9-86FB-6C0926FDC7AB}"/>
              </a:ext>
            </a:extLst>
          </p:cNvPr>
          <p:cNvSpPr txBox="1"/>
          <p:nvPr/>
        </p:nvSpPr>
        <p:spPr>
          <a:xfrm>
            <a:off x="6528245" y="229817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u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/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 2 × 0.10 + 3 × 0.30     + 1 × (-0.05)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+ 0 × 0.20 + 4 × (-0.10) + 2 × 0.10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+ 1 × 0.00 + 5 × 0.20     + 3 × 0.25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+ 0.10 (Bias)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,1,1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2.70</a:t>
                </a:r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blipFill>
                <a:blip r:embed="rId5"/>
                <a:stretch>
                  <a:fillRect l="-605" t="-1042" b="-46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A329F349-9F02-43A9-99BE-EF64687A31BD}"/>
              </a:ext>
            </a:extLst>
          </p:cNvPr>
          <p:cNvSpPr/>
          <p:nvPr/>
        </p:nvSpPr>
        <p:spPr>
          <a:xfrm rot="16200000" flipH="1">
            <a:off x="3565443" y="1233876"/>
            <a:ext cx="207823" cy="129154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BFEEB-424E-4F84-A1A5-FD5280FA2ECA}"/>
              </a:ext>
            </a:extLst>
          </p:cNvPr>
          <p:cNvSpPr txBox="1"/>
          <p:nvPr/>
        </p:nvSpPr>
        <p:spPr>
          <a:xfrm>
            <a:off x="3551836" y="1516704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192BE-DCB0-4994-A8F9-05EC6F851BCC}"/>
              </a:ext>
            </a:extLst>
          </p:cNvPr>
          <p:cNvSpPr txBox="1"/>
          <p:nvPr/>
        </p:nvSpPr>
        <p:spPr>
          <a:xfrm>
            <a:off x="472999" y="1467711"/>
            <a:ext cx="8381567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Embedding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대하여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89093B4-0093-49C9-ABEC-17B57FD2205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333926" y="2471240"/>
            <a:ext cx="677563" cy="158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8028570-33E5-4890-8F46-07BC108979D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2333926" y="3615266"/>
            <a:ext cx="677563" cy="440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A57739E-7801-4AB5-86B6-28270DD2085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333926" y="4056200"/>
            <a:ext cx="677563" cy="70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F19A89-8332-4FC5-A682-BAFA74A2029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333926" y="4056200"/>
            <a:ext cx="677563" cy="184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2EE3E2A-45A4-4F7C-A407-C86F044D983F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4315127" y="3615266"/>
            <a:ext cx="1579965" cy="203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C19A083-A306-48A9-8F27-0FE3DBBD032C}"/>
              </a:ext>
            </a:extLst>
          </p:cNvPr>
          <p:cNvCxnSpPr>
            <a:cxnSpLocks/>
            <a:stCxn id="16" idx="2"/>
            <a:endCxn id="24" idx="1"/>
          </p:cNvCxnSpPr>
          <p:nvPr/>
        </p:nvCxnSpPr>
        <p:spPr>
          <a:xfrm>
            <a:off x="5631604" y="2831109"/>
            <a:ext cx="263488" cy="987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07A89F86-44AB-4045-9600-FFCEAE23479E}"/>
              </a:ext>
            </a:extLst>
          </p:cNvPr>
          <p:cNvSpPr/>
          <p:nvPr/>
        </p:nvSpPr>
        <p:spPr>
          <a:xfrm rot="5400000">
            <a:off x="1594337" y="1739242"/>
            <a:ext cx="158277" cy="1303637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C164C1-9BCC-491A-AFE6-FEF697F94110}"/>
              </a:ext>
            </a:extLst>
          </p:cNvPr>
          <p:cNvSpPr txBox="1"/>
          <p:nvPr/>
        </p:nvSpPr>
        <p:spPr>
          <a:xfrm>
            <a:off x="1402303" y="206679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 = 3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D64C9955-CE9D-47FE-9300-AD18E1F51493}"/>
              </a:ext>
            </a:extLst>
          </p:cNvPr>
          <p:cNvSpPr/>
          <p:nvPr/>
        </p:nvSpPr>
        <p:spPr>
          <a:xfrm>
            <a:off x="859172" y="2715327"/>
            <a:ext cx="158277" cy="2924789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21E1ED-289C-4932-9E2B-23F6054858FD}"/>
              </a:ext>
            </a:extLst>
          </p:cNvPr>
          <p:cNvSpPr txBox="1"/>
          <p:nvPr/>
        </p:nvSpPr>
        <p:spPr>
          <a:xfrm>
            <a:off x="279339" y="4023832"/>
            <a:ext cx="657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 = 12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15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235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채널 간 혼합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Patch Embedding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F65D99A9-EE9B-4CAF-BE3F-C55CD79BF975}"/>
              </a:ext>
            </a:extLst>
          </p:cNvPr>
          <p:cNvGraphicFramePr>
            <a:graphicFrameLocks noGrp="1"/>
          </p:cNvGraphicFramePr>
          <p:nvPr/>
        </p:nvGraphicFramePr>
        <p:xfrm>
          <a:off x="1030288" y="2471240"/>
          <a:ext cx="1303638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5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4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0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1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023490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BA796E6A-1668-4DF0-BCBF-FF8E11E5674A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1983560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49936DFE-7EA1-4C62-8E10-477430FCFB86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3127586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67A10C29-A005-4BF4-9443-A3809514C8A4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4271612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6696D40-060D-4BFC-AEE5-4232BC365BC2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5416331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B8E58C2-FAB5-4D88-89FC-53659AB5616B}"/>
              </a:ext>
            </a:extLst>
          </p:cNvPr>
          <p:cNvSpPr txBox="1"/>
          <p:nvPr/>
        </p:nvSpPr>
        <p:spPr>
          <a:xfrm>
            <a:off x="888460" y="5641160"/>
            <a:ext cx="15872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원시 데이터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입력으로 들어오는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미니배치 한 묶음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F3C21-8D3B-4AFB-B3F2-3985BC3909FE}"/>
              </a:ext>
            </a:extLst>
          </p:cNvPr>
          <p:cNvSpPr txBox="1"/>
          <p:nvPr/>
        </p:nvSpPr>
        <p:spPr>
          <a:xfrm>
            <a:off x="2336569" y="6380867"/>
            <a:ext cx="2653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길이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3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때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Token 4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생성</a:t>
            </a:r>
          </a:p>
        </p:txBody>
      </p:sp>
      <p:graphicFrame>
        <p:nvGraphicFramePr>
          <p:cNvPr id="16" name="표 2">
            <a:extLst>
              <a:ext uri="{FF2B5EF4-FFF2-40B4-BE49-F238E27FC236}">
                <a16:creationId xmlns:a16="http://schemas.microsoft.com/office/drawing/2014/main" id="{0E7828FF-CC4D-4082-B498-87587DC4F453}"/>
              </a:ext>
            </a:extLst>
          </p:cNvPr>
          <p:cNvGraphicFramePr>
            <a:graphicFrameLocks noGrp="1"/>
          </p:cNvGraphicFramePr>
          <p:nvPr/>
        </p:nvGraphicFramePr>
        <p:xfrm>
          <a:off x="4919935" y="2099589"/>
          <a:ext cx="142333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/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 Bias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=0.10</m:t>
                    </m:r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blipFill>
                <a:blip r:embed="rId3"/>
                <a:stretch>
                  <a:fillRect l="-855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/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Weight</a:t>
                </a:r>
                <a:r>
                  <a:rPr lang="en-US" altLang="ko-KR" sz="1400" dirty="0"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blipFill>
                <a:blip r:embed="rId4"/>
                <a:stretch>
                  <a:fillRect l="-1031"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B10413F-1763-4489-91A0-98E8BA0D6DBD}"/>
              </a:ext>
            </a:extLst>
          </p:cNvPr>
          <p:cNvSpPr/>
          <p:nvPr/>
        </p:nvSpPr>
        <p:spPr>
          <a:xfrm flipH="1">
            <a:off x="6351216" y="2099589"/>
            <a:ext cx="199875" cy="731520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6A7D947-4FAE-4B44-B3BE-1E95694F28BF}"/>
              </a:ext>
            </a:extLst>
          </p:cNvPr>
          <p:cNvSpPr/>
          <p:nvPr/>
        </p:nvSpPr>
        <p:spPr>
          <a:xfrm rot="5400000">
            <a:off x="5558875" y="1316211"/>
            <a:ext cx="145451" cy="142333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E8177-8F48-4F03-B91F-473EF187DC68}"/>
              </a:ext>
            </a:extLst>
          </p:cNvPr>
          <p:cNvSpPr txBox="1"/>
          <p:nvPr/>
        </p:nvSpPr>
        <p:spPr>
          <a:xfrm>
            <a:off x="5453304" y="1705638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31525-9B2C-4AC9-86FB-6C0926FDC7AB}"/>
              </a:ext>
            </a:extLst>
          </p:cNvPr>
          <p:cNvSpPr txBox="1"/>
          <p:nvPr/>
        </p:nvSpPr>
        <p:spPr>
          <a:xfrm>
            <a:off x="6528245" y="229817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u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/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 4 × 0.10 + 6 × 0.30     + 0 × (-0.05)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+ 5 × 0.20 + 5 × (-0.10) + 1 × 0.10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+ 6 × 0.00 + 4 × 0.20     + 2 × 0.25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+ 0.10 (Bias)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,1,2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4.20</a:t>
                </a:r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blipFill>
                <a:blip r:embed="rId5"/>
                <a:stretch>
                  <a:fillRect l="-605" t="-1042" b="-46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A329F349-9F02-43A9-99BE-EF64687A31BD}"/>
              </a:ext>
            </a:extLst>
          </p:cNvPr>
          <p:cNvSpPr/>
          <p:nvPr/>
        </p:nvSpPr>
        <p:spPr>
          <a:xfrm rot="16200000" flipH="1">
            <a:off x="3565443" y="1233876"/>
            <a:ext cx="207823" cy="129154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BFEEB-424E-4F84-A1A5-FD5280FA2ECA}"/>
              </a:ext>
            </a:extLst>
          </p:cNvPr>
          <p:cNvSpPr txBox="1"/>
          <p:nvPr/>
        </p:nvSpPr>
        <p:spPr>
          <a:xfrm>
            <a:off x="3551836" y="1516704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192BE-DCB0-4994-A8F9-05EC6F851BCC}"/>
              </a:ext>
            </a:extLst>
          </p:cNvPr>
          <p:cNvSpPr txBox="1"/>
          <p:nvPr/>
        </p:nvSpPr>
        <p:spPr>
          <a:xfrm>
            <a:off x="472999" y="1467711"/>
            <a:ext cx="8381567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Embedding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대하여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89093B4-0093-49C9-ABEC-17B57FD2205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333926" y="2471240"/>
            <a:ext cx="677563" cy="158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8028570-33E5-4890-8F46-07BC108979D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2333926" y="3615266"/>
            <a:ext cx="677563" cy="440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A57739E-7801-4AB5-86B6-28270DD2085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333926" y="4056200"/>
            <a:ext cx="677563" cy="70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F19A89-8332-4FC5-A682-BAFA74A2029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333926" y="4056200"/>
            <a:ext cx="677563" cy="184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2EE3E2A-45A4-4F7C-A407-C86F044D983F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 flipV="1">
            <a:off x="4315127" y="3818429"/>
            <a:ext cx="1579965" cy="94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C19A083-A306-48A9-8F27-0FE3DBBD032C}"/>
              </a:ext>
            </a:extLst>
          </p:cNvPr>
          <p:cNvCxnSpPr>
            <a:cxnSpLocks/>
            <a:stCxn id="16" idx="2"/>
            <a:endCxn id="24" idx="1"/>
          </p:cNvCxnSpPr>
          <p:nvPr/>
        </p:nvCxnSpPr>
        <p:spPr>
          <a:xfrm>
            <a:off x="5631604" y="2831109"/>
            <a:ext cx="263488" cy="987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5DD949CA-A134-4C73-B330-78A97FDC4FFB}"/>
              </a:ext>
            </a:extLst>
          </p:cNvPr>
          <p:cNvSpPr/>
          <p:nvPr/>
        </p:nvSpPr>
        <p:spPr>
          <a:xfrm rot="5400000">
            <a:off x="1594337" y="1739242"/>
            <a:ext cx="158277" cy="1303637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5B1370-69C7-485C-BC77-108F9DCAB1C5}"/>
              </a:ext>
            </a:extLst>
          </p:cNvPr>
          <p:cNvSpPr txBox="1"/>
          <p:nvPr/>
        </p:nvSpPr>
        <p:spPr>
          <a:xfrm>
            <a:off x="1402303" y="206679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 = 3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E0A4A0DC-6D11-489B-A3CA-A8F6A8837D2C}"/>
              </a:ext>
            </a:extLst>
          </p:cNvPr>
          <p:cNvSpPr/>
          <p:nvPr/>
        </p:nvSpPr>
        <p:spPr>
          <a:xfrm>
            <a:off x="859172" y="2715327"/>
            <a:ext cx="158277" cy="2924789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6A759D-AC62-41A2-8206-7F5B6D742C34}"/>
              </a:ext>
            </a:extLst>
          </p:cNvPr>
          <p:cNvSpPr txBox="1"/>
          <p:nvPr/>
        </p:nvSpPr>
        <p:spPr>
          <a:xfrm>
            <a:off x="279339" y="4023832"/>
            <a:ext cx="657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 = 12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01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235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채널 간 혼합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Patch Embedding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F65D99A9-EE9B-4CAF-BE3F-C55CD79BF975}"/>
              </a:ext>
            </a:extLst>
          </p:cNvPr>
          <p:cNvGraphicFramePr>
            <a:graphicFrameLocks noGrp="1"/>
          </p:cNvGraphicFramePr>
          <p:nvPr/>
        </p:nvGraphicFramePr>
        <p:xfrm>
          <a:off x="1030288" y="2471240"/>
          <a:ext cx="1303638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5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4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0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1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023490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BA796E6A-1668-4DF0-BCBF-FF8E11E5674A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1983560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49936DFE-7EA1-4C62-8E10-477430FCFB86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3127586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67A10C29-A005-4BF4-9443-A3809514C8A4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4271612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6696D40-060D-4BFC-AEE5-4232BC365BC2}"/>
              </a:ext>
            </a:extLst>
          </p:cNvPr>
          <p:cNvGraphicFramePr>
            <a:graphicFrameLocks noGrp="1"/>
          </p:cNvGraphicFramePr>
          <p:nvPr/>
        </p:nvGraphicFramePr>
        <p:xfrm>
          <a:off x="3011489" y="5416331"/>
          <a:ext cx="1303638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B8E58C2-FAB5-4D88-89FC-53659AB5616B}"/>
              </a:ext>
            </a:extLst>
          </p:cNvPr>
          <p:cNvSpPr txBox="1"/>
          <p:nvPr/>
        </p:nvSpPr>
        <p:spPr>
          <a:xfrm>
            <a:off x="888460" y="5641160"/>
            <a:ext cx="15872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원시 데이터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입력으로 들어오는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미니배치 한 묶음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F3C21-8D3B-4AFB-B3F2-3985BC3909FE}"/>
              </a:ext>
            </a:extLst>
          </p:cNvPr>
          <p:cNvSpPr txBox="1"/>
          <p:nvPr/>
        </p:nvSpPr>
        <p:spPr>
          <a:xfrm>
            <a:off x="2336569" y="6380867"/>
            <a:ext cx="2653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길이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3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때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Token 4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생성</a:t>
            </a:r>
          </a:p>
        </p:txBody>
      </p:sp>
      <p:graphicFrame>
        <p:nvGraphicFramePr>
          <p:cNvPr id="16" name="표 2">
            <a:extLst>
              <a:ext uri="{FF2B5EF4-FFF2-40B4-BE49-F238E27FC236}">
                <a16:creationId xmlns:a16="http://schemas.microsoft.com/office/drawing/2014/main" id="{0E7828FF-CC4D-4082-B498-87587DC4F453}"/>
              </a:ext>
            </a:extLst>
          </p:cNvPr>
          <p:cNvGraphicFramePr>
            <a:graphicFrameLocks noGrp="1"/>
          </p:cNvGraphicFramePr>
          <p:nvPr/>
        </p:nvGraphicFramePr>
        <p:xfrm>
          <a:off x="4919935" y="2099589"/>
          <a:ext cx="142333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4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744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/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 Bias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=0.10</m:t>
                    </m:r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645904-472F-4C50-927B-FA049E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04" y="2559097"/>
                <a:ext cx="1423338" cy="307777"/>
              </a:xfrm>
              <a:prstGeom prst="rect">
                <a:avLst/>
              </a:prstGeom>
              <a:blipFill>
                <a:blip r:embed="rId3"/>
                <a:stretch>
                  <a:fillRect l="-855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/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Weight</a:t>
                </a:r>
                <a:r>
                  <a:rPr lang="en-US" altLang="ko-KR" sz="1400" dirty="0"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6E904D-0C30-425F-99EB-91716F3D3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29" y="1388435"/>
                <a:ext cx="1184941" cy="317203"/>
              </a:xfrm>
              <a:prstGeom prst="rect">
                <a:avLst/>
              </a:prstGeom>
              <a:blipFill>
                <a:blip r:embed="rId4"/>
                <a:stretch>
                  <a:fillRect l="-1031"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B10413F-1763-4489-91A0-98E8BA0D6DBD}"/>
              </a:ext>
            </a:extLst>
          </p:cNvPr>
          <p:cNvSpPr/>
          <p:nvPr/>
        </p:nvSpPr>
        <p:spPr>
          <a:xfrm flipH="1">
            <a:off x="6351216" y="2099589"/>
            <a:ext cx="199875" cy="731520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6A7D947-4FAE-4B44-B3BE-1E95694F28BF}"/>
              </a:ext>
            </a:extLst>
          </p:cNvPr>
          <p:cNvSpPr/>
          <p:nvPr/>
        </p:nvSpPr>
        <p:spPr>
          <a:xfrm rot="5400000">
            <a:off x="5558875" y="1316211"/>
            <a:ext cx="145451" cy="142333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E8177-8F48-4F03-B91F-473EF187DC68}"/>
              </a:ext>
            </a:extLst>
          </p:cNvPr>
          <p:cNvSpPr txBox="1"/>
          <p:nvPr/>
        </p:nvSpPr>
        <p:spPr>
          <a:xfrm>
            <a:off x="5453304" y="1705638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31525-9B2C-4AC9-86FB-6C0926FDC7AB}"/>
              </a:ext>
            </a:extLst>
          </p:cNvPr>
          <p:cNvSpPr txBox="1"/>
          <p:nvPr/>
        </p:nvSpPr>
        <p:spPr>
          <a:xfrm>
            <a:off x="6528245" y="229817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u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/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 3 × 0.10 + 3 × 0.30     + 3 × (-0.05)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+ 2 × 0.20 + 2 × (-0.10) + 2 × 0.10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+ 1 × 0.00 + 1 × 0.20     + 1 × 0.25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+ 0.10 (Bias)</a:t>
                </a:r>
              </a:p>
              <a:p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,1,3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2.00</a:t>
                </a:r>
                <a:endParaRPr lang="ko-KR" altLang="en-US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60C7C9-0954-4243-A24D-44C37563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092" y="3233653"/>
                <a:ext cx="3025187" cy="1169551"/>
              </a:xfrm>
              <a:prstGeom prst="rect">
                <a:avLst/>
              </a:prstGeom>
              <a:blipFill>
                <a:blip r:embed="rId5"/>
                <a:stretch>
                  <a:fillRect l="-605" t="-1042" b="-46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A329F349-9F02-43A9-99BE-EF64687A31BD}"/>
              </a:ext>
            </a:extLst>
          </p:cNvPr>
          <p:cNvSpPr/>
          <p:nvPr/>
        </p:nvSpPr>
        <p:spPr>
          <a:xfrm rot="16200000" flipH="1">
            <a:off x="3565443" y="1233876"/>
            <a:ext cx="207823" cy="1291548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BFEEB-424E-4F84-A1A5-FD5280FA2ECA}"/>
              </a:ext>
            </a:extLst>
          </p:cNvPr>
          <p:cNvSpPr txBox="1"/>
          <p:nvPr/>
        </p:nvSpPr>
        <p:spPr>
          <a:xfrm>
            <a:off x="3551836" y="1516704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192BE-DCB0-4994-A8F9-05EC6F851BCC}"/>
              </a:ext>
            </a:extLst>
          </p:cNvPr>
          <p:cNvSpPr txBox="1"/>
          <p:nvPr/>
        </p:nvSpPr>
        <p:spPr>
          <a:xfrm>
            <a:off x="472999" y="1467711"/>
            <a:ext cx="8381567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Embedding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대하여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89093B4-0093-49C9-ABEC-17B57FD2205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333926" y="2471240"/>
            <a:ext cx="677563" cy="158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8028570-33E5-4890-8F46-07BC108979D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2333926" y="3615266"/>
            <a:ext cx="677563" cy="440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A57739E-7801-4AB5-86B6-28270DD2085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333926" y="4056200"/>
            <a:ext cx="677563" cy="70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F19A89-8332-4FC5-A682-BAFA74A2029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333926" y="4056200"/>
            <a:ext cx="677563" cy="184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2EE3E2A-45A4-4F7C-A407-C86F044D983F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4315127" y="3818429"/>
            <a:ext cx="1579965" cy="2085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C19A083-A306-48A9-8F27-0FE3DBBD032C}"/>
              </a:ext>
            </a:extLst>
          </p:cNvPr>
          <p:cNvCxnSpPr>
            <a:cxnSpLocks/>
            <a:stCxn id="16" idx="2"/>
            <a:endCxn id="24" idx="1"/>
          </p:cNvCxnSpPr>
          <p:nvPr/>
        </p:nvCxnSpPr>
        <p:spPr>
          <a:xfrm>
            <a:off x="5631604" y="2831109"/>
            <a:ext cx="263488" cy="987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1335A8-FE64-43D6-8251-BEF91FC16D7C}"/>
                  </a:ext>
                </a:extLst>
              </p:cNvPr>
              <p:cNvSpPr txBox="1"/>
              <p:nvPr/>
            </p:nvSpPr>
            <p:spPr>
              <a:xfrm>
                <a:off x="5886025" y="4390330"/>
                <a:ext cx="3025187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,1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b="0" i="0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0.90, 2.70, 4.20, 2.00</m:t>
                        </m:r>
                      </m:e>
                    </m:d>
                  </m:oMath>
                </a14:m>
                <a:endParaRPr lang="en-US" altLang="ko-KR" sz="1400" b="0" dirty="0"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1335A8-FE64-43D6-8251-BEF91FC16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025" y="4390330"/>
                <a:ext cx="3025187" cy="317203"/>
              </a:xfrm>
              <a:prstGeom prst="rect">
                <a:avLst/>
              </a:prstGeom>
              <a:blipFill>
                <a:blip r:embed="rId6"/>
                <a:stretch>
                  <a:fillRect l="-605" t="-1923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A2D3A5-CEE3-4D9F-8331-22F8CFCF4711}"/>
                  </a:ext>
                </a:extLst>
              </p:cNvPr>
              <p:cNvSpPr txBox="1"/>
              <p:nvPr/>
            </p:nvSpPr>
            <p:spPr>
              <a:xfrm>
                <a:off x="4850862" y="5505056"/>
                <a:ext cx="4293138" cy="398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이렇게 생성된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CNN-GRU</a:t>
                </a:r>
                <a:r>
                  <a:rPr lang="ko-KR" altLang="en-US" sz="140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복제되어 입력됨</a:t>
                </a:r>
                <a:endParaRPr lang="en-US" altLang="ko-KR" sz="140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A2D3A5-CEE3-4D9F-8331-22F8CFCF4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862" y="5505056"/>
                <a:ext cx="4293138" cy="398955"/>
              </a:xfrm>
              <a:prstGeom prst="rect">
                <a:avLst/>
              </a:prstGeom>
              <a:blipFill>
                <a:blip r:embed="rId7"/>
                <a:stretch>
                  <a:fillRect l="-284" r="-142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D508EC10-276F-4769-B90D-4C136A43B4F9}"/>
              </a:ext>
            </a:extLst>
          </p:cNvPr>
          <p:cNvSpPr/>
          <p:nvPr/>
        </p:nvSpPr>
        <p:spPr>
          <a:xfrm rot="5400000">
            <a:off x="1594337" y="1739242"/>
            <a:ext cx="158277" cy="1303637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1E8D5A-84A9-4CFD-AB10-584ED3B60E30}"/>
              </a:ext>
            </a:extLst>
          </p:cNvPr>
          <p:cNvSpPr txBox="1"/>
          <p:nvPr/>
        </p:nvSpPr>
        <p:spPr>
          <a:xfrm>
            <a:off x="1402303" y="206679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 = 3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9407328E-4FE4-47B0-8D9C-6888A73EFDEA}"/>
              </a:ext>
            </a:extLst>
          </p:cNvPr>
          <p:cNvSpPr/>
          <p:nvPr/>
        </p:nvSpPr>
        <p:spPr>
          <a:xfrm>
            <a:off x="859172" y="2715327"/>
            <a:ext cx="158277" cy="2924789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B5A73C-D2D7-4811-9E2B-D1D2A475CD8B}"/>
              </a:ext>
            </a:extLst>
          </p:cNvPr>
          <p:cNvSpPr txBox="1"/>
          <p:nvPr/>
        </p:nvSpPr>
        <p:spPr>
          <a:xfrm>
            <a:off x="279339" y="4023832"/>
            <a:ext cx="657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 = 12</a:t>
            </a:r>
            <a:endParaRPr lang="ko-KR" altLang="en-US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8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알고리즘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90584" y="1516704"/>
                <a:ext cx="8653416" cy="2501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Step 2) 1D CNN-GRU Parallel with Dynamic Depth-Wise 1D Convolution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연산을 수식으로 표현하면 다음과 같이 진행됨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Patch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dC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𝑜𝑛𝑣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Input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Patch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Dynamic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Depth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Wise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Conv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[−1]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Patch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GRU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Input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Patch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Dynamic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Depth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Wise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Conv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  <m:r>
                              <a:rPr lang="en-US" altLang="ko-KR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1 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v"/>
                </a:pP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[−1]</m:t>
                    </m:r>
                  </m:oMath>
                </a14:m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은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마지막 시점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조건 벡터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시점별로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Kernel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변화하기 위해 필요한 정보임</a:t>
                </a:r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84" y="1516704"/>
                <a:ext cx="8653416" cy="2501069"/>
              </a:xfrm>
              <a:prstGeom prst="rect">
                <a:avLst/>
              </a:prstGeom>
              <a:blipFill>
                <a:blip r:embed="rId3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>
            <a:extLst>
              <a:ext uri="{FF2B5EF4-FFF2-40B4-BE49-F238E27FC236}">
                <a16:creationId xmlns:a16="http://schemas.microsoft.com/office/drawing/2014/main" id="{3CDA5E13-F3A8-4EDB-A098-39CB5A7FB7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660601-43AB-40EF-ADBA-C234A4EFD551}"/>
              </a:ext>
            </a:extLst>
          </p:cNvPr>
          <p:cNvSpPr/>
          <p:nvPr/>
        </p:nvSpPr>
        <p:spPr>
          <a:xfrm>
            <a:off x="3119438" y="4319588"/>
            <a:ext cx="2262187" cy="1914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5E8C95-F8E8-41E7-8327-C76A46342F0B}"/>
                  </a:ext>
                </a:extLst>
              </p:cNvPr>
              <p:cNvSpPr txBox="1"/>
              <p:nvPr/>
            </p:nvSpPr>
            <p:spPr>
              <a:xfrm>
                <a:off x="76455" y="5250594"/>
                <a:ext cx="2583613" cy="1765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 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1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값</a:t>
                </a:r>
                <a:endParaRPr lang="en-US" altLang="ko-KR" sz="1050" dirty="0"/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GRU 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1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값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결과를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</m:t>
                    </m:r>
                    <m:r>
                      <a:rPr lang="en-US" altLang="ko-KR" sz="105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ko-KR" altLang="en-US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으</m:t>
                    </m:r>
                  </m:oMath>
                </a14:m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만든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Filter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Depth-Wise Conv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한 결과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결과를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</m:t>
                    </m:r>
                    <m:r>
                      <a:rPr lang="en-US" altLang="ko-KR" sz="105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ko-KR" altLang="en-US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으</m:t>
                    </m:r>
                  </m:oMath>
                </a14:m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만든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Filter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Depth-Wise Conv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한 결과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5E8C95-F8E8-41E7-8327-C76A4634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5" y="5250594"/>
                <a:ext cx="2583613" cy="1765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078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5398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Dynamic Depth-Wise 1D Convolution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16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 CNN-GRU Parallel with Dynamic Depth-Wise 1D Convolution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Convolution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이란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Convolution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연산을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채널별로 독립적으로 수행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Convolution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기법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이때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“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”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한 시점에서 동시에 관측되는 변수 하나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의미함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본 연구는 매 순전파마다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입력 값에 의해 계산되어 변하도록 만듦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9398220-7494-42F4-BBC5-C7D604F59C9B}"/>
              </a:ext>
            </a:extLst>
          </p:cNvPr>
          <p:cNvGraphicFramePr>
            <a:graphicFrameLocks noGrp="1"/>
          </p:cNvGraphicFramePr>
          <p:nvPr/>
        </p:nvGraphicFramePr>
        <p:xfrm>
          <a:off x="1472474" y="3903378"/>
          <a:ext cx="1303638" cy="1996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566253201"/>
                    </a:ext>
                  </a:extLst>
                </a:gridCol>
                <a:gridCol w="434546">
                  <a:extLst>
                    <a:ext uri="{9D8B030D-6E8A-4147-A177-3AD203B41FA5}">
                      <a16:colId xmlns:a16="http://schemas.microsoft.com/office/drawing/2014/main" val="2401277178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34066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75169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77693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564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97F0C383-92B4-41CA-8765-CAEF31ACD740}"/>
              </a:ext>
            </a:extLst>
          </p:cNvPr>
          <p:cNvGraphicFramePr>
            <a:graphicFrameLocks noGrp="1"/>
          </p:cNvGraphicFramePr>
          <p:nvPr/>
        </p:nvGraphicFramePr>
        <p:xfrm>
          <a:off x="6047466" y="4280681"/>
          <a:ext cx="434546" cy="869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4C5A2002-EEEA-455E-82E3-0F322566C59D}"/>
              </a:ext>
            </a:extLst>
          </p:cNvPr>
          <p:cNvSpPr/>
          <p:nvPr/>
        </p:nvSpPr>
        <p:spPr>
          <a:xfrm>
            <a:off x="1478623" y="3712645"/>
            <a:ext cx="1262743" cy="195325"/>
          </a:xfrm>
          <a:custGeom>
            <a:avLst/>
            <a:gdLst>
              <a:gd name="connsiteX0" fmla="*/ 0 w 1262743"/>
              <a:gd name="connsiteY0" fmla="*/ 304815 h 315700"/>
              <a:gd name="connsiteX1" fmla="*/ 598714 w 1262743"/>
              <a:gd name="connsiteY1" fmla="*/ 15 h 315700"/>
              <a:gd name="connsiteX2" fmla="*/ 1262743 w 1262743"/>
              <a:gd name="connsiteY2" fmla="*/ 315700 h 31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2743" h="315700">
                <a:moveTo>
                  <a:pt x="0" y="304815"/>
                </a:moveTo>
                <a:cubicBezTo>
                  <a:pt x="194128" y="151508"/>
                  <a:pt x="388257" y="-1799"/>
                  <a:pt x="598714" y="15"/>
                </a:cubicBezTo>
                <a:cubicBezTo>
                  <a:pt x="809171" y="1829"/>
                  <a:pt x="1130300" y="270343"/>
                  <a:pt x="1262743" y="3157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D28ABE0E-1A2E-4A7D-A0DF-C425A7750275}"/>
              </a:ext>
            </a:extLst>
          </p:cNvPr>
          <p:cNvSpPr/>
          <p:nvPr/>
        </p:nvSpPr>
        <p:spPr>
          <a:xfrm>
            <a:off x="1239137" y="3907971"/>
            <a:ext cx="239486" cy="1970315"/>
          </a:xfrm>
          <a:custGeom>
            <a:avLst/>
            <a:gdLst>
              <a:gd name="connsiteX0" fmla="*/ 239486 w 239486"/>
              <a:gd name="connsiteY0" fmla="*/ 0 h 1970315"/>
              <a:gd name="connsiteX1" fmla="*/ 0 w 239486"/>
              <a:gd name="connsiteY1" fmla="*/ 1066800 h 1970315"/>
              <a:gd name="connsiteX2" fmla="*/ 239486 w 239486"/>
              <a:gd name="connsiteY2" fmla="*/ 1970315 h 197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6" h="1970315">
                <a:moveTo>
                  <a:pt x="239486" y="0"/>
                </a:moveTo>
                <a:cubicBezTo>
                  <a:pt x="119743" y="369207"/>
                  <a:pt x="0" y="738414"/>
                  <a:pt x="0" y="1066800"/>
                </a:cubicBezTo>
                <a:cubicBezTo>
                  <a:pt x="0" y="1395186"/>
                  <a:pt x="119743" y="1682750"/>
                  <a:pt x="239486" y="197031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4EC449-67A6-45A2-9DC8-9D3AE010352D}"/>
              </a:ext>
            </a:extLst>
          </p:cNvPr>
          <p:cNvSpPr txBox="1"/>
          <p:nvPr/>
        </p:nvSpPr>
        <p:spPr>
          <a:xfrm>
            <a:off x="1664872" y="3454458"/>
            <a:ext cx="918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3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1FC84C-8E6C-4B1C-8193-7BFDA29958AC}"/>
              </a:ext>
            </a:extLst>
          </p:cNvPr>
          <p:cNvSpPr txBox="1"/>
          <p:nvPr/>
        </p:nvSpPr>
        <p:spPr>
          <a:xfrm>
            <a:off x="474765" y="4616616"/>
            <a:ext cx="827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F8AEA0-E400-4CF4-81D4-C0973B12E874}"/>
              </a:ext>
            </a:extLst>
          </p:cNvPr>
          <p:cNvSpPr txBox="1"/>
          <p:nvPr/>
        </p:nvSpPr>
        <p:spPr>
          <a:xfrm>
            <a:off x="2826839" y="454479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⊗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0B6B7E-5812-49AD-A034-7E9E3F18A7C6}"/>
              </a:ext>
            </a:extLst>
          </p:cNvPr>
          <p:cNvSpPr txBox="1"/>
          <p:nvPr/>
        </p:nvSpPr>
        <p:spPr>
          <a:xfrm>
            <a:off x="5212215" y="450889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ko-KR" altLang="en-US" dirty="0"/>
          </a:p>
        </p:txBody>
      </p:sp>
      <p:graphicFrame>
        <p:nvGraphicFramePr>
          <p:cNvPr id="23" name="표 2">
            <a:extLst>
              <a:ext uri="{FF2B5EF4-FFF2-40B4-BE49-F238E27FC236}">
                <a16:creationId xmlns:a16="http://schemas.microsoft.com/office/drawing/2014/main" id="{7F41A741-96AA-461A-A055-58AD0C3DE612}"/>
              </a:ext>
            </a:extLst>
          </p:cNvPr>
          <p:cNvGraphicFramePr>
            <a:graphicFrameLocks noGrp="1"/>
          </p:cNvGraphicFramePr>
          <p:nvPr/>
        </p:nvGraphicFramePr>
        <p:xfrm>
          <a:off x="4325997" y="3839706"/>
          <a:ext cx="434546" cy="1159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graphicFrame>
        <p:nvGraphicFramePr>
          <p:cNvPr id="24" name="표 2">
            <a:extLst>
              <a:ext uri="{FF2B5EF4-FFF2-40B4-BE49-F238E27FC236}">
                <a16:creationId xmlns:a16="http://schemas.microsoft.com/office/drawing/2014/main" id="{94B78257-8D1D-4AB0-B8BF-6C5168764569}"/>
              </a:ext>
            </a:extLst>
          </p:cNvPr>
          <p:cNvGraphicFramePr>
            <a:graphicFrameLocks noGrp="1"/>
          </p:cNvGraphicFramePr>
          <p:nvPr/>
        </p:nvGraphicFramePr>
        <p:xfrm>
          <a:off x="6482012" y="4280681"/>
          <a:ext cx="434546" cy="869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graphicFrame>
        <p:nvGraphicFramePr>
          <p:cNvPr id="25" name="표 2">
            <a:extLst>
              <a:ext uri="{FF2B5EF4-FFF2-40B4-BE49-F238E27FC236}">
                <a16:creationId xmlns:a16="http://schemas.microsoft.com/office/drawing/2014/main" id="{33D147AF-80E5-4E71-BCA5-361CA0222620}"/>
              </a:ext>
            </a:extLst>
          </p:cNvPr>
          <p:cNvGraphicFramePr>
            <a:graphicFrameLocks noGrp="1"/>
          </p:cNvGraphicFramePr>
          <p:nvPr/>
        </p:nvGraphicFramePr>
        <p:xfrm>
          <a:off x="6916226" y="4280681"/>
          <a:ext cx="434546" cy="869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148566A9-3A92-4A4F-A9D3-3BFF1A011F09}"/>
              </a:ext>
            </a:extLst>
          </p:cNvPr>
          <p:cNvSpPr/>
          <p:nvPr/>
        </p:nvSpPr>
        <p:spPr>
          <a:xfrm>
            <a:off x="3713015" y="4285067"/>
            <a:ext cx="142902" cy="1171575"/>
          </a:xfrm>
          <a:custGeom>
            <a:avLst/>
            <a:gdLst>
              <a:gd name="connsiteX0" fmla="*/ 142902 w 142902"/>
              <a:gd name="connsiteY0" fmla="*/ 0 h 1171575"/>
              <a:gd name="connsiteX1" fmla="*/ 27 w 142902"/>
              <a:gd name="connsiteY1" fmla="*/ 581025 h 1171575"/>
              <a:gd name="connsiteX2" fmla="*/ 133377 w 142902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902" h="1171575">
                <a:moveTo>
                  <a:pt x="142902" y="0"/>
                </a:moveTo>
                <a:cubicBezTo>
                  <a:pt x="72258" y="192881"/>
                  <a:pt x="1614" y="385763"/>
                  <a:pt x="27" y="581025"/>
                </a:cubicBezTo>
                <a:cubicBezTo>
                  <a:pt x="-1560" y="776287"/>
                  <a:pt x="65908" y="973931"/>
                  <a:pt x="133377" y="11715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4F1D544-76E0-4BBF-AF39-258EDCBAF528}"/>
              </a:ext>
            </a:extLst>
          </p:cNvPr>
          <p:cNvSpPr/>
          <p:nvPr/>
        </p:nvSpPr>
        <p:spPr>
          <a:xfrm>
            <a:off x="3856727" y="5454560"/>
            <a:ext cx="434546" cy="231171"/>
          </a:xfrm>
          <a:custGeom>
            <a:avLst/>
            <a:gdLst>
              <a:gd name="connsiteX0" fmla="*/ 0 w 1295400"/>
              <a:gd name="connsiteY0" fmla="*/ 0 h 209550"/>
              <a:gd name="connsiteX1" fmla="*/ 571500 w 1295400"/>
              <a:gd name="connsiteY1" fmla="*/ 209550 h 209550"/>
              <a:gd name="connsiteX2" fmla="*/ 1295400 w 12954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209550">
                <a:moveTo>
                  <a:pt x="0" y="0"/>
                </a:moveTo>
                <a:cubicBezTo>
                  <a:pt x="177800" y="104775"/>
                  <a:pt x="355600" y="209550"/>
                  <a:pt x="571500" y="209550"/>
                </a:cubicBezTo>
                <a:cubicBezTo>
                  <a:pt x="787400" y="209550"/>
                  <a:pt x="1171575" y="4762"/>
                  <a:pt x="129540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8EB196-5EDC-4F4C-8D0C-C2BF6EF7FEFB}"/>
              </a:ext>
            </a:extLst>
          </p:cNvPr>
          <p:cNvSpPr txBox="1"/>
          <p:nvPr/>
        </p:nvSpPr>
        <p:spPr>
          <a:xfrm>
            <a:off x="3082793" y="4826065"/>
            <a:ext cx="718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</a:p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8A3639-4372-457B-8A41-AF3799EF849A}"/>
              </a:ext>
            </a:extLst>
          </p:cNvPr>
          <p:cNvSpPr txBox="1"/>
          <p:nvPr/>
        </p:nvSpPr>
        <p:spPr>
          <a:xfrm>
            <a:off x="3335078" y="3590853"/>
            <a:ext cx="707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3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1FC06E-30B6-49DA-9A17-2D9CFE306E01}"/>
              </a:ext>
            </a:extLst>
          </p:cNvPr>
          <p:cNvSpPr txBox="1"/>
          <p:nvPr/>
        </p:nvSpPr>
        <p:spPr>
          <a:xfrm>
            <a:off x="3609013" y="5650629"/>
            <a:ext cx="918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1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90CC2F-FC5F-4CA3-9ECB-D060066E9CEC}"/>
              </a:ext>
            </a:extLst>
          </p:cNvPr>
          <p:cNvSpPr txBox="1"/>
          <p:nvPr/>
        </p:nvSpPr>
        <p:spPr>
          <a:xfrm>
            <a:off x="6334115" y="5360419"/>
            <a:ext cx="707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3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D31D2E3-CACA-4B14-B010-EA4944DB77AB}"/>
              </a:ext>
            </a:extLst>
          </p:cNvPr>
          <p:cNvSpPr/>
          <p:nvPr/>
        </p:nvSpPr>
        <p:spPr>
          <a:xfrm>
            <a:off x="6040038" y="5135281"/>
            <a:ext cx="1295400" cy="247713"/>
          </a:xfrm>
          <a:custGeom>
            <a:avLst/>
            <a:gdLst>
              <a:gd name="connsiteX0" fmla="*/ 0 w 1295400"/>
              <a:gd name="connsiteY0" fmla="*/ 0 h 247713"/>
              <a:gd name="connsiteX1" fmla="*/ 590550 w 1295400"/>
              <a:gd name="connsiteY1" fmla="*/ 247650 h 247713"/>
              <a:gd name="connsiteX2" fmla="*/ 1295400 w 1295400"/>
              <a:gd name="connsiteY2" fmla="*/ 19050 h 24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247713">
                <a:moveTo>
                  <a:pt x="0" y="0"/>
                </a:moveTo>
                <a:cubicBezTo>
                  <a:pt x="187325" y="122237"/>
                  <a:pt x="374650" y="244475"/>
                  <a:pt x="590550" y="247650"/>
                </a:cubicBezTo>
                <a:cubicBezTo>
                  <a:pt x="806450" y="250825"/>
                  <a:pt x="1050925" y="134937"/>
                  <a:pt x="1295400" y="19050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FB7042A7-9EC2-4201-9188-329A4954203F}"/>
              </a:ext>
            </a:extLst>
          </p:cNvPr>
          <p:cNvSpPr/>
          <p:nvPr/>
        </p:nvSpPr>
        <p:spPr>
          <a:xfrm>
            <a:off x="7344963" y="4268506"/>
            <a:ext cx="295288" cy="857250"/>
          </a:xfrm>
          <a:custGeom>
            <a:avLst/>
            <a:gdLst>
              <a:gd name="connsiteX0" fmla="*/ 9525 w 295288"/>
              <a:gd name="connsiteY0" fmla="*/ 0 h 857250"/>
              <a:gd name="connsiteX1" fmla="*/ 295275 w 295288"/>
              <a:gd name="connsiteY1" fmla="*/ 457200 h 857250"/>
              <a:gd name="connsiteX2" fmla="*/ 0 w 295288"/>
              <a:gd name="connsiteY2" fmla="*/ 85725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88" h="857250">
                <a:moveTo>
                  <a:pt x="9525" y="0"/>
                </a:moveTo>
                <a:cubicBezTo>
                  <a:pt x="153193" y="157162"/>
                  <a:pt x="296862" y="314325"/>
                  <a:pt x="295275" y="457200"/>
                </a:cubicBezTo>
                <a:cubicBezTo>
                  <a:pt x="293688" y="600075"/>
                  <a:pt x="146844" y="728662"/>
                  <a:pt x="0" y="857250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C051457-D3B4-469A-A6D0-75C6578C2C82}"/>
                  </a:ext>
                </a:extLst>
              </p:cNvPr>
              <p:cNvSpPr txBox="1"/>
              <p:nvPr/>
            </p:nvSpPr>
            <p:spPr>
              <a:xfrm>
                <a:off x="7628883" y="4459261"/>
                <a:ext cx="129516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Kernel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Stride</m:t>
                          </m:r>
                        </m:den>
                      </m:f>
                    </m:oMath>
                  </m:oMathPara>
                </a14:m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C051457-D3B4-469A-A6D0-75C6578C2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883" y="4459261"/>
                <a:ext cx="1295163" cy="501419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FDDCC50-7780-4B04-A845-2F18B11CC5D1}"/>
              </a:ext>
            </a:extLst>
          </p:cNvPr>
          <p:cNvSpPr txBox="1"/>
          <p:nvPr/>
        </p:nvSpPr>
        <p:spPr>
          <a:xfrm>
            <a:off x="2531582" y="6047647"/>
            <a:ext cx="4299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1-D Depth-wise Convolutional Neural Network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표 2">
            <a:extLst>
              <a:ext uri="{FF2B5EF4-FFF2-40B4-BE49-F238E27FC236}">
                <a16:creationId xmlns:a16="http://schemas.microsoft.com/office/drawing/2014/main" id="{AEB71055-48A4-4755-8634-7D7C340D8B64}"/>
              </a:ext>
            </a:extLst>
          </p:cNvPr>
          <p:cNvGraphicFramePr>
            <a:graphicFrameLocks noGrp="1"/>
          </p:cNvGraphicFramePr>
          <p:nvPr/>
        </p:nvGraphicFramePr>
        <p:xfrm>
          <a:off x="4093613" y="4071719"/>
          <a:ext cx="434546" cy="1159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graphicFrame>
        <p:nvGraphicFramePr>
          <p:cNvPr id="39" name="표 2">
            <a:extLst>
              <a:ext uri="{FF2B5EF4-FFF2-40B4-BE49-F238E27FC236}">
                <a16:creationId xmlns:a16="http://schemas.microsoft.com/office/drawing/2014/main" id="{8926AB4F-22A0-4064-AC9C-E0BC37F41B15}"/>
              </a:ext>
            </a:extLst>
          </p:cNvPr>
          <p:cNvGraphicFramePr>
            <a:graphicFrameLocks noGrp="1"/>
          </p:cNvGraphicFramePr>
          <p:nvPr/>
        </p:nvGraphicFramePr>
        <p:xfrm>
          <a:off x="3861229" y="4314848"/>
          <a:ext cx="434546" cy="1159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546">
                  <a:extLst>
                    <a:ext uri="{9D8B030D-6E8A-4147-A177-3AD203B41FA5}">
                      <a16:colId xmlns:a16="http://schemas.microsoft.com/office/drawing/2014/main" val="2621527265"/>
                    </a:ext>
                  </a:extLst>
                </a:gridCol>
              </a:tblGrid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67414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526347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42271"/>
                  </a:ext>
                </a:extLst>
              </a:tr>
              <a:tr h="289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30920"/>
                  </a:ext>
                </a:extLst>
              </a:tr>
            </a:tbl>
          </a:graphicData>
        </a:graphic>
      </p:graphicFrame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13454D17-5DE1-4ED2-82F6-B1C565BBE0B8}"/>
              </a:ext>
            </a:extLst>
          </p:cNvPr>
          <p:cNvSpPr/>
          <p:nvPr/>
        </p:nvSpPr>
        <p:spPr>
          <a:xfrm>
            <a:off x="3857625" y="3807825"/>
            <a:ext cx="485775" cy="497475"/>
          </a:xfrm>
          <a:custGeom>
            <a:avLst/>
            <a:gdLst>
              <a:gd name="connsiteX0" fmla="*/ 0 w 485775"/>
              <a:gd name="connsiteY0" fmla="*/ 497475 h 497475"/>
              <a:gd name="connsiteX1" fmla="*/ 114300 w 485775"/>
              <a:gd name="connsiteY1" fmla="*/ 49800 h 497475"/>
              <a:gd name="connsiteX2" fmla="*/ 485775 w 485775"/>
              <a:gd name="connsiteY2" fmla="*/ 30750 h 49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775" h="497475">
                <a:moveTo>
                  <a:pt x="0" y="497475"/>
                </a:moveTo>
                <a:cubicBezTo>
                  <a:pt x="16669" y="312531"/>
                  <a:pt x="33338" y="127587"/>
                  <a:pt x="114300" y="49800"/>
                </a:cubicBezTo>
                <a:cubicBezTo>
                  <a:pt x="195262" y="-27987"/>
                  <a:pt x="340518" y="1381"/>
                  <a:pt x="485775" y="30750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0999109B-A982-4F20-8FB4-D2B6F0A03E3F}"/>
              </a:ext>
            </a:extLst>
          </p:cNvPr>
          <p:cNvSpPr/>
          <p:nvPr/>
        </p:nvSpPr>
        <p:spPr>
          <a:xfrm rot="11595176">
            <a:off x="4246242" y="5311428"/>
            <a:ext cx="451660" cy="281721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ED576-78C3-40D2-986F-BF4F39ADFDD0}"/>
              </a:ext>
            </a:extLst>
          </p:cNvPr>
          <p:cNvSpPr txBox="1"/>
          <p:nvPr/>
        </p:nvSpPr>
        <p:spPr>
          <a:xfrm>
            <a:off x="4664056" y="5396713"/>
            <a:ext cx="8980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ko-KR" altLang="en-US" sz="105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열만 처리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04CA93D6-47C5-43E7-8E84-19DE84C6C98D}"/>
              </a:ext>
            </a:extLst>
          </p:cNvPr>
          <p:cNvSpPr/>
          <p:nvPr/>
        </p:nvSpPr>
        <p:spPr>
          <a:xfrm rot="11595176">
            <a:off x="4441993" y="5054722"/>
            <a:ext cx="451660" cy="28172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D7C1EE-3B30-4D43-892A-50DF4051097C}"/>
              </a:ext>
            </a:extLst>
          </p:cNvPr>
          <p:cNvSpPr txBox="1"/>
          <p:nvPr/>
        </p:nvSpPr>
        <p:spPr>
          <a:xfrm>
            <a:off x="4859806" y="5140007"/>
            <a:ext cx="8980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ko-KR" altLang="en-US" sz="105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열만 처리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21CA12FF-B7BF-49A0-A4AF-DC458405FF63}"/>
              </a:ext>
            </a:extLst>
          </p:cNvPr>
          <p:cNvSpPr/>
          <p:nvPr/>
        </p:nvSpPr>
        <p:spPr>
          <a:xfrm rot="11595176">
            <a:off x="4598278" y="4827240"/>
            <a:ext cx="451660" cy="281721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01409D-BD6C-4602-9BEC-C113D3DA2D9F}"/>
              </a:ext>
            </a:extLst>
          </p:cNvPr>
          <p:cNvSpPr txBox="1"/>
          <p:nvPr/>
        </p:nvSpPr>
        <p:spPr>
          <a:xfrm>
            <a:off x="5016090" y="4912525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r>
              <a:rPr lang="ko-KR" altLang="en-US" sz="105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열만 처리</a:t>
            </a:r>
          </a:p>
        </p:txBody>
      </p:sp>
    </p:spTree>
    <p:extLst>
      <p:ext uri="{BB962C8B-B14F-4D97-AF65-F5344CB8AC3E}">
        <p14:creationId xmlns:p14="http://schemas.microsoft.com/office/powerpoint/2010/main" val="116099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-0.00209 L -0.26077 -0.01898 L -0.0007 -0.00209 Z " pathEditMode="relative" ptsTypes="AAA">
                                      <p:cBhvr>
                                        <p:cTn id="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0.00069 L -0.26389 0.02315 L -0.00174 0.00069 Z " pathEditMode="relative" ptsTypes="AAA">
                                      <p:cBhvr>
                                        <p:cTn id="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0.00208 L -0.26493 0.06528 L -0.00278 0.00208 Z " pathEditMode="relative" ptsTypes="AAA">
                                      <p:cBhvr>
                                        <p:cTn id="1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5398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Dynamic Depth-Wise 1D Convolution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216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 CNN-GRU Parallel with Dynamic Depth-Wise 1D Convolution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매 순전파마다 변하도록 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(Dynamic)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Convolution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사용하는 이유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배치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시점별로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변화하도록 하여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시계열 데이터가 갖는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여러 국면 전환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급격한 패턴 변화 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잘 대응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하도록 유도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수를 변화시키지 않아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추가적인 채널 혼합 없이 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GRU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출력과 교차 혼합 가능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정보 교차 효과 강화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만드는 것은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선형층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뿐이라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파라미터 폭증 우려 없음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학습 안정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D20D37-B838-4279-B91D-C38CEB2E81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7" r="-1"/>
          <a:stretch/>
        </p:blipFill>
        <p:spPr>
          <a:xfrm>
            <a:off x="1944304" y="4350085"/>
            <a:ext cx="5362980" cy="161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0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알고리즘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90584" y="1516704"/>
                <a:ext cx="8381567" cy="2512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Step 2) 1D CNN-GRU Parallel with Dynamic Depth-Wise 1D Convolution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연산을 수식으로 표현하면 다음과 같이 진행됨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0,0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h𝑦𝑝𝑒𝑟</m:t>
                        </m:r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dC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𝑜𝑛𝑣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h𝑦𝑝𝑒𝑟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→…</m:t>
                    </m:r>
                  </m:oMath>
                </a14:m>
                <a:endParaRPr lang="en-US" altLang="ko-KR" sz="1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1,0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h𝑦𝑝𝑒𝑟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𝐺𝑅𝑈</m:t>
                    </m:r>
                    <m:d>
                      <m:d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12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h𝑦𝑝𝑒𝑟</m:t>
                            </m:r>
                            <m:r>
                              <a:rPr lang="en-US" altLang="ko-KR" sz="12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→…</m:t>
                    </m:r>
                  </m:oMath>
                </a14:m>
                <a:endParaRPr lang="en-US" altLang="ko-KR" sz="1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학습 가능한 행렬이며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값을 곱한 양을 서로에게 더함으로써 데이터 병합을 수행함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초기값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2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en-US" altLang="ko-KR" sz="1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.9</m:t>
                              </m:r>
                            </m:e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0.05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0.9</m:t>
                              </m:r>
                            </m:e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0.05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84" y="1516704"/>
                <a:ext cx="8381567" cy="2512739"/>
              </a:xfrm>
              <a:prstGeom prst="rect">
                <a:avLst/>
              </a:prstGeom>
              <a:blipFill>
                <a:blip r:embed="rId3"/>
                <a:stretch>
                  <a:fillRect l="-2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6B742A9D-21B2-413E-AE57-BF42DFACDE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572CCF-5E8B-4A72-8480-D13979016D17}"/>
              </a:ext>
            </a:extLst>
          </p:cNvPr>
          <p:cNvSpPr/>
          <p:nvPr/>
        </p:nvSpPr>
        <p:spPr>
          <a:xfrm>
            <a:off x="3119438" y="4319588"/>
            <a:ext cx="2262187" cy="1914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410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알고리즘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19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2536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Step 3) Cross-Modal Multi-Head Attention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Cross-Modal Multi-Head Attention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통하여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출력과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GRU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출력을 동적으로 병합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 CNN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만든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국소 특징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’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질문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(Query)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GRU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만든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‘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시계열 맥락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’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문맥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(Key/Value)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두고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Multi-Head Attention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수행한 후 병합하는 과정임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생성된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Attention Weight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매 배치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·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·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헤드마다 달라지므로 동적이라고 할 수 있음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Residual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Layer Norm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은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Attention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계층의 학습 초기 불안정성 완화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흐름을 짧게 유지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하기 위해 투입된 기법임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E6B3D6F-CF5B-4E1D-AD34-6FCA295D16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9497EA-45F3-4D28-AC2D-CC7934271745}"/>
              </a:ext>
            </a:extLst>
          </p:cNvPr>
          <p:cNvSpPr/>
          <p:nvPr/>
        </p:nvSpPr>
        <p:spPr>
          <a:xfrm>
            <a:off x="5359400" y="4476750"/>
            <a:ext cx="552637" cy="1752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629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알고리즘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381567" cy="225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Step 4) Output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Input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사용한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LayerNorm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+ Fully-Connected Network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통과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역정규화 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Output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출력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MSE +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𝜆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×(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평균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표준편차 오차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= Loss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삼음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별 평균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표준편차는 예측이 스케일이나 변동성이 빗나가는 문제를 줄여 주며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국소 통계를 더하면 장기 예측 성능이 향상된다는 최근 연구 결과가 있어 이를 차용함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𝜆는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Hyperparameter (0.05)</a:t>
            </a:r>
            <a:endParaRPr lang="ko-KR" altLang="en-US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E3DA75-451A-45CE-B43C-001A72C02C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19" y="4089007"/>
            <a:ext cx="4701096" cy="243663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E3FCF1-80E6-4D62-ADB3-51C5E92A9E83}"/>
              </a:ext>
            </a:extLst>
          </p:cNvPr>
          <p:cNvSpPr/>
          <p:nvPr/>
        </p:nvSpPr>
        <p:spPr>
          <a:xfrm>
            <a:off x="5840361" y="4430891"/>
            <a:ext cx="1191554" cy="1832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703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671001" cy="4574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 (Reversible Instance Normalization)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이란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샘플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채널별로 시점 축의 평균과 표준편차를 맞추고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(norm) –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예측 후 다시 원래 스케일로 되돌리는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denorm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 기법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input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(B: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C: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L: Look-Back Window)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계산은 다음과 같이 진행됨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배치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시점 축 평균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표준편차를 계산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계산된 평균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표준편차로 정규화 수행 후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별 학습 가능한 파라미터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선형 변환을 수행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00150" lvl="2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가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Patch Embedding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입력으로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들어감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역정규화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denorm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모델의 예측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(H: Horizon)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값을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스케일에서 원래 스케일로 변환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(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=1,…,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671001" cy="4574201"/>
              </a:xfrm>
              <a:prstGeom prst="rect">
                <a:avLst/>
              </a:prstGeom>
              <a:blipFill>
                <a:blip r:embed="rId3"/>
                <a:stretch>
                  <a:fillRect l="-1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130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차용 알고리즘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AE4297-4D00-4362-AA1F-770235E70559}"/>
                  </a:ext>
                </a:extLst>
              </p:cNvPr>
              <p:cNvSpPr txBox="1"/>
              <p:nvPr/>
            </p:nvSpPr>
            <p:spPr>
              <a:xfrm>
                <a:off x="187517" y="6472577"/>
                <a:ext cx="3448568" cy="34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ko-KR" altLang="en-US" sz="12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안정화를 위해 추가한 상수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(1e-5, 1e-7)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AE4297-4D00-4362-AA1F-770235E70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472577"/>
                <a:ext cx="3448568" cy="340799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127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896A00C-79A5-471D-9BD2-178AE2E3B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162" y="2647195"/>
            <a:ext cx="3996838" cy="20716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4488" y="958446"/>
            <a:ext cx="5259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모델 알고리즘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(Forward Pass) 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요약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66921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Methodology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1" y="1516704"/>
                <a:ext cx="5833550" cy="5385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입력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:(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Look-Back Window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:</m:t>
                    </m:r>
                    <m:d>
                      <m:d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2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altLang="ko-KR" sz="12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2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altLang="ko-KR" sz="12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2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Horizon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RevIN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norm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배치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·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채널 별 평균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/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표준편차 정렬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PatchEmbed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2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ko-KR" sz="12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),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채널 혼합된 패치 토큰</a:t>
                </a:r>
                <a:endParaRPr lang="en-US" altLang="ko-KR" sz="1200" dirty="0"/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CNN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/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GRU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병렬 경로 초기화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1…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층 반복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romanUcPeriod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DConv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) #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패치 개수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romanUcPeriod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GRU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12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) 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:r>
                  <a:rPr lang="ko-KR" altLang="en-US" sz="12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임베딩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차원 수</a:t>
                </a:r>
                <a:endParaRPr lang="en-US" altLang="ko-KR" sz="1200" i="1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romanUcPeriod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 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</a:rPr>
                          <m:t>DWConv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Depth-Wise Conv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romanUcPeriod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 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</a:rPr>
                          <m:t>DWConv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Depth-Wise Conv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romanUcPeriod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14:m>
                  <m:oMath xmlns:m="http://schemas.openxmlformats.org/officeDocument/2006/math">
                    <m:r>
                      <a:rPr lang="ko-KR" altLang="en-US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Stitch + Residual</a:t>
                </a:r>
                <a:endParaRPr lang="en-US" altLang="ko-KR" sz="1200" dirty="0"/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romanUcPeriod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1,0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20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14:m>
                  <m:oMath xmlns:m="http://schemas.openxmlformats.org/officeDocument/2006/math">
                    <m:r>
                      <a:rPr lang="ko-KR" altLang="en-US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Stitch + Residual</a:t>
                </a:r>
                <a:endParaRPr lang="en-US" altLang="ko-KR" sz="1200" dirty="0"/>
              </a:p>
              <a:p>
                <a:pPr marL="685800" lvl="1" indent="-2286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mem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CrossModalMHAttention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query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key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value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200" dirty="0"/>
              </a:p>
              <a:p>
                <a:pPr marL="685800" lvl="1" indent="-2286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flat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mem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Fully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Connected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Residual →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예측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685800" lvl="1" indent="-2286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lt"/>
                  <a:buAutoNum type="circleNumDbPlain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RevIN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denorm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altLang="ko-KR" sz="1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</a:rPr>
                  <a:t>#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역정규화로 원 단위 복원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516704"/>
                <a:ext cx="5833550" cy="53855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B39FD0C-82B9-44BF-9965-D8F3C0C224CF}"/>
              </a:ext>
            </a:extLst>
          </p:cNvPr>
          <p:cNvSpPr txBox="1"/>
          <p:nvPr/>
        </p:nvSpPr>
        <p:spPr>
          <a:xfrm>
            <a:off x="5004736" y="3031200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14994-F44D-4D5C-9FBD-F9F9FDBAA503}"/>
              </a:ext>
            </a:extLst>
          </p:cNvPr>
          <p:cNvSpPr txBox="1"/>
          <p:nvPr/>
        </p:nvSpPr>
        <p:spPr>
          <a:xfrm>
            <a:off x="5004736" y="3250903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8DC66C-B5FB-429B-A7A7-FF576E8D5774}"/>
              </a:ext>
            </a:extLst>
          </p:cNvPr>
          <p:cNvSpPr txBox="1"/>
          <p:nvPr/>
        </p:nvSpPr>
        <p:spPr>
          <a:xfrm>
            <a:off x="5690536" y="3374013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BF741C-31B7-485A-B182-BF668884B206}"/>
              </a:ext>
            </a:extLst>
          </p:cNvPr>
          <p:cNvSpPr txBox="1"/>
          <p:nvPr/>
        </p:nvSpPr>
        <p:spPr>
          <a:xfrm>
            <a:off x="5690536" y="3860933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C061A-C84A-424D-86E2-493A0410C744}"/>
              </a:ext>
            </a:extLst>
          </p:cNvPr>
          <p:cNvSpPr txBox="1"/>
          <p:nvPr/>
        </p:nvSpPr>
        <p:spPr>
          <a:xfrm>
            <a:off x="6613403" y="4209492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④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4124F-AA4F-4AB1-8755-6FBE75158FE5}"/>
              </a:ext>
            </a:extLst>
          </p:cNvPr>
          <p:cNvSpPr txBox="1"/>
          <p:nvPr/>
        </p:nvSpPr>
        <p:spPr>
          <a:xfrm>
            <a:off x="7811863" y="4107153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42E063-E972-4D27-A470-A81BCC37720A}"/>
              </a:ext>
            </a:extLst>
          </p:cNvPr>
          <p:cNvSpPr txBox="1"/>
          <p:nvPr/>
        </p:nvSpPr>
        <p:spPr>
          <a:xfrm>
            <a:off x="8198535" y="4107153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DECEB6-1CC3-47E6-B8AA-B4EF7C87F4F5}"/>
              </a:ext>
            </a:extLst>
          </p:cNvPr>
          <p:cNvSpPr txBox="1"/>
          <p:nvPr/>
        </p:nvSpPr>
        <p:spPr>
          <a:xfrm>
            <a:off x="8528841" y="3860932"/>
            <a:ext cx="284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7DF08B-BC5F-4DA7-9807-5386F8EE4798}"/>
                  </a:ext>
                </a:extLst>
              </p:cNvPr>
              <p:cNvSpPr txBox="1"/>
              <p:nvPr/>
            </p:nvSpPr>
            <p:spPr>
              <a:xfrm>
                <a:off x="5833550" y="6276850"/>
                <a:ext cx="2129410" cy="49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</m:t>
                        </m:r>
                      </m:sub>
                    </m:sSub>
                    <m:r>
                      <a:rPr lang="en-US" altLang="ko-KR" sz="12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Look</m:t>
                        </m:r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Back</m:t>
                        </m:r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Window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Patch</m:t>
                        </m:r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Length</m:t>
                        </m:r>
                      </m:den>
                    </m:f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몫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7DF08B-BC5F-4DA7-9807-5386F8EE4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550" y="6276850"/>
                <a:ext cx="2129410" cy="497187"/>
              </a:xfrm>
              <a:prstGeom prst="rect">
                <a:avLst/>
              </a:prstGeom>
              <a:blipFill>
                <a:blip r:embed="rId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799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381567" cy="4891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Protocol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모든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Study (1~4)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분석 전용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Hyperparameter (HP1)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고정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하여 모듈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on/off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순수 효과를 보기 위해 수행됨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Comparison Result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및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Data-Level Analysis H1 ~ H6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실험 결과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공정 비교를 위해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경량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표준 세팅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HP2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구성되어 있어 서로 다르다는 것을 명시함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Bridge Test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Hyperparameter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혼입 가능성을 줄이기 위해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핵심 데이터셋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(ETTh2, ETTm2)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양 극단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(96, 720) Seed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기반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(42, 7, 17) 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HP1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·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HP2 Bridge Test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수행하였으며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성능은 동등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~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개선이며 비용은 크게 절감되는 것을 확인할 수 있었고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경향성은 유지하는 모습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보임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Interpretation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따라서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Study 1 ~ 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이라는 분석 창에서 모듈의 기여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비기여를 입증하는 기계적 증거로 제시하고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H1 ~ H6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등의 후속 검증은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통일하여 보고함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효과 크기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”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따라 달라질 수 있으므로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방향 위주로 해석하고자 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498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Hyperparameter Setting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958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381567" cy="1105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Bridge Test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결과는 다음과 같이 확인됨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HP2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성능이 전반적으로 유의미하며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Hyperparameter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설정에 따라서 성능 변동이 있으나 그 경향성은 유지하는 것으로 사료됨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718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Bridge Test Result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1D50F0-6533-45CF-B429-AB92EF96043F}"/>
              </a:ext>
            </a:extLst>
          </p:cNvPr>
          <p:cNvGraphicFramePr>
            <a:graphicFrameLocks noGrp="1"/>
          </p:cNvGraphicFramePr>
          <p:nvPr/>
        </p:nvGraphicFramePr>
        <p:xfrm>
          <a:off x="330918" y="4699395"/>
          <a:ext cx="8482164" cy="14598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706847">
                  <a:extLst>
                    <a:ext uri="{9D8B030D-6E8A-4147-A177-3AD203B41FA5}">
                      <a16:colId xmlns:a16="http://schemas.microsoft.com/office/drawing/2014/main" val="2596247471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65733800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1806091803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1939034948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4056742464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124901431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1338561555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2462335346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4287744658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2858645593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3306603110"/>
                    </a:ext>
                  </a:extLst>
                </a:gridCol>
                <a:gridCol w="706847">
                  <a:extLst>
                    <a:ext uri="{9D8B030D-6E8A-4147-A177-3AD203B41FA5}">
                      <a16:colId xmlns:a16="http://schemas.microsoft.com/office/drawing/2014/main" val="186417470"/>
                    </a:ext>
                  </a:extLst>
                </a:gridCol>
              </a:tblGrid>
              <a:tr h="3361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train_sec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train_sec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infer_ms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infer_ms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peak_mem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peak_mem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flops_g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flops_g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params_m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params_m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extLst>
                  <a:ext uri="{0D108BD9-81ED-4DB2-BD59-A6C34878D82A}">
                    <a16:rowId xmlns:a16="http://schemas.microsoft.com/office/drawing/2014/main" val="1065673144"/>
                  </a:ext>
                </a:extLst>
              </a:tr>
              <a:tr h="27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15.540±0.170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12.861±1.441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14.245±2.649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10.816±1.660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217.794±0.000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73.798±0.202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0.656±0.000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0.201±0.000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45.525±0.000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10.890±0.000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extLst>
                  <a:ext uri="{0D108BD9-81ED-4DB2-BD59-A6C34878D82A}">
                    <a16:rowId xmlns:a16="http://schemas.microsoft.com/office/drawing/2014/main" val="1733849437"/>
                  </a:ext>
                </a:extLst>
              </a:tr>
              <a:tr h="27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15.745±0.168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15.711±0.130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14.683±4.181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11.098±0.204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324.897±0.000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162.966±0.328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0.710±0.000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0.246±0.000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72.366±0.000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33.259±0.000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extLst>
                  <a:ext uri="{0D108BD9-81ED-4DB2-BD59-A6C34878D82A}">
                    <a16:rowId xmlns:a16="http://schemas.microsoft.com/office/drawing/2014/main" val="2087187487"/>
                  </a:ext>
                </a:extLst>
              </a:tr>
              <a:tr h="27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60.851±4.663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56.949±0.383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12.286±0.518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9.784±0.728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216.827±6.541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73.798±0.202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0.656±0.000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0.201±0.000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45.525±0.000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10.890±0.000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extLst>
                  <a:ext uri="{0D108BD9-81ED-4DB2-BD59-A6C34878D82A}">
                    <a16:rowId xmlns:a16="http://schemas.microsoft.com/office/drawing/2014/main" val="2839542792"/>
                  </a:ext>
                </a:extLst>
              </a:tr>
              <a:tr h="27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66.337±0.459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67.168±0.275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14.695±1.318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10.525±0.582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326.990±2.091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159.987±5.487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0.710±0.000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0.246±0.000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72.366±0.000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33.259±0.000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28" marR="9128" marT="9128" marB="0" anchor="ctr"/>
                </a:tc>
                <a:extLst>
                  <a:ext uri="{0D108BD9-81ED-4DB2-BD59-A6C34878D82A}">
                    <a16:rowId xmlns:a16="http://schemas.microsoft.com/office/drawing/2014/main" val="147259695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C28D2A4-9155-4FAB-8C2A-4032F252443F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925327"/>
          <a:ext cx="6858000" cy="1459821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51144143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473909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1513197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7187698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5246987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735978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3823483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083195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450068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06746087"/>
                    </a:ext>
                  </a:extLst>
                </a:gridCol>
              </a:tblGrid>
              <a:tr h="4095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</a:t>
                      </a:r>
                    </a:p>
                    <a:p>
                      <a:pPr algn="l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(HP2)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3461107"/>
                  </a:ext>
                </a:extLst>
              </a:tr>
              <a:tr h="2625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14.485±0.072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13.005±0.012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2.481±0.004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2.375±0.004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3.806±0.010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3.606±0.002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0.951±0.000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0.960±0.000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5645850"/>
                  </a:ext>
                </a:extLst>
              </a:tr>
              <a:tr h="2625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18.150±0.259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13.272±0.161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2.844±0.021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2.402±0.014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4.260±0.030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3.643±0.022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0.943±0.001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0.961±0.000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5761776"/>
                  </a:ext>
                </a:extLst>
              </a:tr>
              <a:tr h="2625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8.639±0.017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8.750±0.016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1.909±0.003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1.936±0.003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2.939±0.003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2.958±0.003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0.971±0.000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5989049"/>
                  </a:ext>
                </a:extLst>
              </a:tr>
              <a:tr h="2625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17.483±0.013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16.767±0.062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2.685±0.003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2.657±0.004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4.181±0.002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4.095±0.008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0.946±0.000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6823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33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381567" cy="2675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– Comparison Dataset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불일치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본 연구의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Study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들은 서로 다른 메커니즘을 겨냥하여 실행됨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이에 따라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그 메커니즘을 가장 뚜렷하게 드러내는 경우의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선택하여 실험을 수행함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경우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변수 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상관 구조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 런타임을 함께 고려하여 선택함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사용한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Datasets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 (Electricity Transformer Temperature)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계열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종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(ETTm1, ETTm2, ETTh1, ETTh2), Weather, Electricity, Solar-Energy, Exchange-Rate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총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종으로 제안 모델의 주기 정합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상호작용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스케일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분산 변화 대응을 폭넓게 검증하도록 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77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Experiment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Protocol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2702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84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본 연구에서는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MSE, MAE, RMSE,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일반적인 지표로 사용하였고 일부 실험에서는 추가 지표를 사용하였음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추가 지표에 관한 설명은 해당 실험에서 기술하였음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MSE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1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MAE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RMSE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MSE</m:t>
                          </m:r>
                        </m:e>
                      </m:ra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acc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842014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483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Metric Definition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58199A-635D-4B18-9181-B8814EF23EED}"/>
                  </a:ext>
                </a:extLst>
              </p:cNvPr>
              <p:cNvSpPr txBox="1"/>
              <p:nvPr/>
            </p:nvSpPr>
            <p:spPr>
              <a:xfrm>
                <a:off x="187517" y="5788027"/>
                <a:ext cx="5546309" cy="1069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: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i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예측값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: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i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정답값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</m:ctrlPr>
                      </m:acc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𝑡</m:t>
                        </m:r>
                      </m:e>
                    </m:acc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𝑖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정답의 전체 평균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N: pred / target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모든 차원을 펼친 개수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(ex. B=32, C=7, H=96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N=32×7×96=21,504)</a:t>
                </a:r>
                <a:endParaRPr lang="ko-KR" altLang="en-US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58199A-635D-4B18-9181-B8814EF2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5788027"/>
                <a:ext cx="5546309" cy="1069973"/>
              </a:xfrm>
              <a:prstGeom prst="rect">
                <a:avLst/>
              </a:prstGeom>
              <a:blipFill>
                <a:blip r:embed="rId4"/>
                <a:stretch>
                  <a:fillRect t="-568" b="-96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492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381567" cy="78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SOTA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모델과 비교 결과는 다음과 같음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데이터셋에 대해 제안 모델이 유의하게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우수한 것을 확인할 수 있었음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791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Comparison Result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1AE2FF-7190-42E1-AEAA-4A86E473D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903970"/>
              </p:ext>
            </p:extLst>
          </p:nvPr>
        </p:nvGraphicFramePr>
        <p:xfrm>
          <a:off x="279294" y="2864690"/>
          <a:ext cx="8575272" cy="348667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487892">
                  <a:extLst>
                    <a:ext uri="{9D8B030D-6E8A-4147-A177-3AD203B41FA5}">
                      <a16:colId xmlns:a16="http://schemas.microsoft.com/office/drawing/2014/main" val="1214313131"/>
                    </a:ext>
                  </a:extLst>
                </a:gridCol>
                <a:gridCol w="482858">
                  <a:extLst>
                    <a:ext uri="{9D8B030D-6E8A-4147-A177-3AD203B41FA5}">
                      <a16:colId xmlns:a16="http://schemas.microsoft.com/office/drawing/2014/main" val="1843127441"/>
                    </a:ext>
                  </a:extLst>
                </a:gridCol>
                <a:gridCol w="458462">
                  <a:extLst>
                    <a:ext uri="{9D8B030D-6E8A-4147-A177-3AD203B41FA5}">
                      <a16:colId xmlns:a16="http://schemas.microsoft.com/office/drawing/2014/main" val="2097383588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3872694234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1815279042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2530004884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2223197698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3044674159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2619617879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422087113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1354193000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225988642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3407957009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1235760205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2559780923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3360260072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4108507304"/>
                    </a:ext>
                  </a:extLst>
                </a:gridCol>
                <a:gridCol w="476404">
                  <a:extLst>
                    <a:ext uri="{9D8B030D-6E8A-4147-A177-3AD203B41FA5}">
                      <a16:colId xmlns:a16="http://schemas.microsoft.com/office/drawing/2014/main" val="2503794670"/>
                    </a:ext>
                  </a:extLst>
                </a:gridCol>
              </a:tblGrid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CTSF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FSMLP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FreTS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TSMixer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iTransformer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Crossformer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Autoformer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PatchTST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280663415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623228461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0.303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0.342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2297037123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0.347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0.368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3543538426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0.378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0.391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097813871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0.433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0.428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242194091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0.099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0.224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763410074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0.122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0.248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896914351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0.145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72405445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0.175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0.299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2.543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4.874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1.601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3158681616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0.361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0.384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3203883524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0.405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0.419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3077709643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0.444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0.440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886897761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0.454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0.457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2235779953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0.134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0.268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664579776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2.586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1.403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1.837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2921556212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0.144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0.278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1.472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573110505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0.271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2.051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3.024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1.399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484861791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0.149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0.193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3808386036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0.201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0.241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2079015059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0.259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0.283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1873129168"/>
                  </a:ext>
                </a:extLst>
              </a:tr>
              <a:tr h="13387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0.308 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0.336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0.363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085" marR="6085" marT="6085" marB="0" anchor="b"/>
                </a:tc>
                <a:extLst>
                  <a:ext uri="{0D108BD9-81ED-4DB2-BD59-A6C34878D82A}">
                    <a16:rowId xmlns:a16="http://schemas.microsoft.com/office/drawing/2014/main" val="48489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951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811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총론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2151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혼합의 주요 발생지는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레이어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인 것으로 확인되어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Point-Wise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Group Convolution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등의 추가 채널 혼합 기법을 더해도 중복 혼합이 되기 쉬워 비용 대비 이득이 작거나 음수임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1, 2)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Cross-Connection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Late-Fusion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No-Fusion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대비 일관된 성능 우위와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Flow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균형을 보여 표현 결합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+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최적화 안정성을 동시에 보장한다고 할 수 있음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3)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동적성을 제거한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Static / Depth-Wise Kernel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생성 자체를 제거한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Shared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방법 보다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RMSE, TTR (Time-To-Recovery)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모두 우위를 보였음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4)</a:t>
            </a:r>
          </a:p>
        </p:txBody>
      </p:sp>
    </p:spTree>
    <p:extLst>
      <p:ext uri="{BB962C8B-B14F-4D97-AF65-F5344CB8AC3E}">
        <p14:creationId xmlns:p14="http://schemas.microsoft.com/office/powerpoint/2010/main" val="218543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2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1-1: Where Mixing Happens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29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142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96,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d_embed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512, Seed 42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Solar-Energy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비롯한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Patch-Entropy-Mean-Norm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값을 확인해 본 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평균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0.998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Embedding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채널이 많은 입력 채널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(C)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고르게 섞어서 만들고 있음으로 사료됨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Heatmap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으로 도시 했을 때도 그림마다 색상이 거의 일관되게 나타나는 것을 확인할 수 있었음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B148A7-0A7F-40F3-BF32-16F66CD6A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2" y="3774668"/>
            <a:ext cx="2236679" cy="16775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293C1A-642D-4F91-A523-B7351F81AF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443" y="3777589"/>
            <a:ext cx="2236679" cy="16775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35ADFF-81EC-4656-92EF-D0A84BEC68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230" y="3774668"/>
            <a:ext cx="2236679" cy="16775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2B4E6C9-1888-4BEC-9483-CF84158FBC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551" y="3774668"/>
            <a:ext cx="2236679" cy="16775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6260A9-18ED-4523-8236-52BBC60B7023}"/>
              </a:ext>
            </a:extLst>
          </p:cNvPr>
          <p:cNvSpPr txBox="1"/>
          <p:nvPr/>
        </p:nvSpPr>
        <p:spPr>
          <a:xfrm>
            <a:off x="1337096" y="5637944"/>
            <a:ext cx="64644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왼쪽부터 </a:t>
            </a:r>
            <a:r>
              <a:rPr lang="en-US" altLang="ko-KR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ETTh1 (C=7), Weather (C=21), Solar-Energy (C=137), Electricity (C=321)</a:t>
            </a:r>
          </a:p>
          <a:p>
            <a:pPr algn="ctr"/>
            <a:r>
              <a:rPr lang="ko-KR" altLang="en-US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에 대한 </a:t>
            </a:r>
            <a:r>
              <a:rPr lang="en-US" altLang="ko-KR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Patch </a:t>
            </a:r>
            <a:r>
              <a:rPr lang="ko-KR" altLang="en-US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혼합 엔트로피 </a:t>
            </a:r>
            <a:r>
              <a:rPr lang="en-US" altLang="ko-KR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Heatmap, X </a:t>
            </a:r>
            <a:r>
              <a:rPr lang="ko-KR" altLang="en-US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축은 </a:t>
            </a:r>
            <a:r>
              <a:rPr lang="en-US" altLang="ko-KR" sz="1400" dirty="0" err="1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d_embed</a:t>
            </a:r>
            <a:r>
              <a:rPr lang="en-US" altLang="ko-KR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, Y </a:t>
            </a:r>
            <a:r>
              <a:rPr lang="ko-KR" altLang="en-US" sz="1400" dirty="0">
                <a:latin typeface="times" panose="02020603050405020304" pitchFamily="18" charset="0"/>
                <a:ea typeface="KoPub바탕체 Light" panose="00000300000000000000" pitchFamily="2" charset="-127"/>
                <a:cs typeface="times" panose="02020603050405020304" pitchFamily="18" charset="0"/>
              </a:rPr>
              <a:t>축은 채널 수를 나타냄</a:t>
            </a:r>
            <a:endParaRPr lang="en-US" altLang="ko-KR" sz="1400" dirty="0">
              <a:latin typeface="times" panose="02020603050405020304" pitchFamily="18" charset="0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2D27F-1542-4C49-8FE7-ADB57E62AC7E}"/>
              </a:ext>
            </a:extLst>
          </p:cNvPr>
          <p:cNvSpPr txBox="1"/>
          <p:nvPr/>
        </p:nvSpPr>
        <p:spPr>
          <a:xfrm>
            <a:off x="171872" y="6187088"/>
            <a:ext cx="466591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Patch-</a:t>
            </a:r>
            <a:r>
              <a:rPr lang="en-US" altLang="ko-KR" sz="11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Entrop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-Mean-Norm: Patch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레이어에서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임베딩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채널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입력 채널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얼마나 균등하게 섞었는지를 엔트로피로 측정하여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 ~ 1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정규화한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지표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Patch-Entropy-Mean-Norm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 =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 없음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1 =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강한 혼합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173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2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1-2: Where Mixing Happens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671001" cy="776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 혼합을 제거했을 때 성능을 비교하면 다음과 같음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위가 혼합이 있을 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아래가 혼합을 제거한 결과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혼합이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초기에 제거될 경우 전체적인 성능 하락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확인되고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추가 모듈로도 하락 폭을 복구하지 못함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0B53654A-F260-4946-ABD6-8498509FE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8569"/>
              </p:ext>
            </p:extLst>
          </p:nvPr>
        </p:nvGraphicFramePr>
        <p:xfrm>
          <a:off x="561109" y="2244655"/>
          <a:ext cx="8021781" cy="2255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1309">
                  <a:extLst>
                    <a:ext uri="{9D8B030D-6E8A-4147-A177-3AD203B41FA5}">
                      <a16:colId xmlns:a16="http://schemas.microsoft.com/office/drawing/2014/main" val="743427548"/>
                    </a:ext>
                  </a:extLst>
                </a:gridCol>
                <a:gridCol w="658793">
                  <a:extLst>
                    <a:ext uri="{9D8B030D-6E8A-4147-A177-3AD203B41FA5}">
                      <a16:colId xmlns:a16="http://schemas.microsoft.com/office/drawing/2014/main" val="1090542695"/>
                    </a:ext>
                  </a:extLst>
                </a:gridCol>
                <a:gridCol w="1123825">
                  <a:extLst>
                    <a:ext uri="{9D8B030D-6E8A-4147-A177-3AD203B41FA5}">
                      <a16:colId xmlns:a16="http://schemas.microsoft.com/office/drawing/2014/main" val="3571115719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2279864539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1015280725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2026711379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4216312997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2469886425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3287608287"/>
                    </a:ext>
                  </a:extLst>
                </a:gridCol>
              </a:tblGrid>
              <a:tr h="238861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ci_entropy</a:t>
                      </a:r>
                      <a:endParaRPr lang="el-GR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ei_param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ei_flops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Patch-Entropy-Mean-Norm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409908"/>
                  </a:ext>
                </a:extLst>
              </a:tr>
              <a:tr h="152003">
                <a:tc rowSpan="3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Exchange-Rate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0.051 ± 0.002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968231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0.049 ± 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3.07 %</a:t>
                      </a:r>
                      <a:r>
                        <a:rPr lang="ko-KR" alt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이득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0.170 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이득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51687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0.053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+3.47 % (</a:t>
                      </a:r>
                      <a:r>
                        <a:rPr lang="ko-KR" altLang="en-US" sz="800" b="1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b="1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ko-KR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–0.364 (</a:t>
                      </a:r>
                      <a:r>
                        <a:rPr lang="ko-KR" altLang="en-US" sz="800" b="1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  <a:endParaRPr lang="en-US" altLang="ko-KR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299422"/>
                  </a:ext>
                </a:extLst>
              </a:tr>
              <a:tr h="152003">
                <a:tc rowSpan="6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Solar-Energy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4.413 ± 0.006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38290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4.764 ± 0.024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+7.95 %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490546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4.498 ± 0.079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+1.91 %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–0.49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–20.55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854938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4.670 ± 0.007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006977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4.943 ± 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+5.83 %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695113"/>
                  </a:ext>
                </a:extLst>
              </a:tr>
              <a:tr h="152003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4.789 ± 0.095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+2.53 %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7.49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315218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1C92EE1B-5202-4719-B95C-ADBD9988B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94654"/>
              </p:ext>
            </p:extLst>
          </p:nvPr>
        </p:nvGraphicFramePr>
        <p:xfrm>
          <a:off x="561109" y="4557856"/>
          <a:ext cx="8021778" cy="2255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1309">
                  <a:extLst>
                    <a:ext uri="{9D8B030D-6E8A-4147-A177-3AD203B41FA5}">
                      <a16:colId xmlns:a16="http://schemas.microsoft.com/office/drawing/2014/main" val="743427548"/>
                    </a:ext>
                  </a:extLst>
                </a:gridCol>
                <a:gridCol w="648510">
                  <a:extLst>
                    <a:ext uri="{9D8B030D-6E8A-4147-A177-3AD203B41FA5}">
                      <a16:colId xmlns:a16="http://schemas.microsoft.com/office/drawing/2014/main" val="1090542695"/>
                    </a:ext>
                  </a:extLst>
                </a:gridCol>
                <a:gridCol w="1134105">
                  <a:extLst>
                    <a:ext uri="{9D8B030D-6E8A-4147-A177-3AD203B41FA5}">
                      <a16:colId xmlns:a16="http://schemas.microsoft.com/office/drawing/2014/main" val="3571115719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2279864539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1015280725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2026711379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4216312997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2469886425"/>
                    </a:ext>
                  </a:extLst>
                </a:gridCol>
                <a:gridCol w="891309">
                  <a:extLst>
                    <a:ext uri="{9D8B030D-6E8A-4147-A177-3AD203B41FA5}">
                      <a16:colId xmlns:a16="http://schemas.microsoft.com/office/drawing/2014/main" val="916892372"/>
                    </a:ext>
                  </a:extLst>
                </a:gridCol>
              </a:tblGrid>
              <a:tr h="307276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ci_entropy</a:t>
                      </a:r>
                      <a:endParaRPr lang="el-GR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ei_param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ei_flops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Patch-Entropy-Mean-Norm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409908"/>
                  </a:ext>
                </a:extLst>
              </a:tr>
              <a:tr h="143396">
                <a:tc rowSpan="3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Exchange-Rate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0.052 ± 0.004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968231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0.052 ± 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+0.96 %</a:t>
                      </a:r>
                      <a:r>
                        <a:rPr lang="ko-KR" alt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–0.023 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 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이득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ko-KR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51687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0.052 ± 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+1.31 %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299422"/>
                  </a:ext>
                </a:extLst>
              </a:tr>
              <a:tr h="143396">
                <a:tc rowSpan="6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Solar-Energy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4.560 ± 0.012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38290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4.809 ± 0.046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+5.45 %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–2.13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490546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4.899 ± 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+7.43 %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–7.02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–292.41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854938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4.866 ± 0.010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006977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5.036 ± 0.052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+3.49 %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695113"/>
                  </a:ext>
                </a:extLst>
              </a:tr>
              <a:tr h="143396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5.129 ± 0.088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+5.41 %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5.44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226.61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31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318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2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1-3: Where Mixing Happens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15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혼합을 연속적으로 규제하였을 때 실험 결과는 다음과 같음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(Solar-Energy Data, Horizon 96)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Patch-Entropy-Mean-Norm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전 구간 일정했고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변동폭도 매우 낮음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본 설정의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혼합을 약화시키지 못함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관측된 우위는 혼합이 유지된 상태에서의 결과이며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이에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혼합의 주된 공급원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이라고 해석됨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1577163"/>
              </a:xfrm>
              <a:prstGeom prst="rect">
                <a:avLst/>
              </a:prstGeom>
              <a:blipFill>
                <a:blip r:embed="rId3"/>
                <a:stretch>
                  <a:fillRect l="-145" b="-34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2">
                <a:extLst>
                  <a:ext uri="{FF2B5EF4-FFF2-40B4-BE49-F238E27FC236}">
                    <a16:creationId xmlns:a16="http://schemas.microsoft.com/office/drawing/2014/main" id="{AD67B7B8-1AAE-45D6-9C9F-7C4BFB5996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0472" y="3137403"/>
              <a:ext cx="6723056" cy="2895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38206">
                      <a:extLst>
                        <a:ext uri="{9D8B030D-6E8A-4147-A177-3AD203B41FA5}">
                          <a16:colId xmlns:a16="http://schemas.microsoft.com/office/drawing/2014/main" val="1090542695"/>
                        </a:ext>
                      </a:extLst>
                    </a:gridCol>
                    <a:gridCol w="1042558">
                      <a:extLst>
                        <a:ext uri="{9D8B030D-6E8A-4147-A177-3AD203B41FA5}">
                          <a16:colId xmlns:a16="http://schemas.microsoft.com/office/drawing/2014/main" val="3571115719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2279864539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1015280725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2026711379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4216312997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2469886425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4233461279"/>
                        </a:ext>
                      </a:extLst>
                    </a:gridCol>
                  </a:tblGrid>
                  <a:tr h="279278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ko-KR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𝑚𝑖𝑥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</a:t>
                          </a:r>
                        </a:p>
                        <a:p>
                          <a:pPr algn="l"/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vs Baseline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ci_entropy</a:t>
                          </a:r>
                          <a:endParaRPr lang="el-GR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ei_param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ei_flops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Patch-Entropy-Mean-Norm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5409908"/>
                      </a:ext>
                    </a:extLst>
                  </a:tr>
                  <a:tr h="142087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4.413 ± 0.006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3968231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+7.95 %</a:t>
                          </a:r>
                          <a:r>
                            <a:rPr lang="ko-KR" altLang="en-US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800" b="1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악화</a:t>
                          </a:r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 (</a:t>
                          </a:r>
                          <a:r>
                            <a:rPr lang="ko-KR" altLang="en-US" sz="800" b="1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악화</a:t>
                          </a:r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4851687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4.498 ± 0.079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+1.91 %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–79.94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1299422"/>
                      </a:ext>
                    </a:extLst>
                  </a:tr>
                  <a:tr h="142087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4.414 ± 0.007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2038290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+7.95 %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32490546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4.498 ± 0.078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+1.92 %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–1.93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–80.35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4854938"/>
                      </a:ext>
                    </a:extLst>
                  </a:tr>
                  <a:tr h="142087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4.413 ± 0.006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6006977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+7.96 %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5695113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4.496 ± 0.080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+1.87 %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–1.88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–78.37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5315218"/>
                      </a:ext>
                    </a:extLst>
                  </a:tr>
                  <a:tr h="142087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0.0010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4.413 ± 0.006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  <a:endParaRPr lang="en-US" altLang="ko-KR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959708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l"/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+7.96 %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–2.90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214116"/>
                      </a:ext>
                    </a:extLst>
                  </a:tr>
                  <a:tr h="142087">
                    <a:tc vMerge="1">
                      <a:txBody>
                        <a:bodyPr/>
                        <a:lstStyle/>
                        <a:p>
                          <a:pPr algn="l"/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4.496 ± 0.080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+1.88 %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  <a:endParaRPr lang="en-US" altLang="ko-KR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–1.88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–78.68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8220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2">
                <a:extLst>
                  <a:ext uri="{FF2B5EF4-FFF2-40B4-BE49-F238E27FC236}">
                    <a16:creationId xmlns:a16="http://schemas.microsoft.com/office/drawing/2014/main" id="{AD67B7B8-1AAE-45D6-9C9F-7C4BFB5996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3188909"/>
                  </p:ext>
                </p:extLst>
              </p:nvPr>
            </p:nvGraphicFramePr>
            <p:xfrm>
              <a:off x="1210472" y="3137403"/>
              <a:ext cx="6723056" cy="2895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38206">
                      <a:extLst>
                        <a:ext uri="{9D8B030D-6E8A-4147-A177-3AD203B41FA5}">
                          <a16:colId xmlns:a16="http://schemas.microsoft.com/office/drawing/2014/main" val="1090542695"/>
                        </a:ext>
                      </a:extLst>
                    </a:gridCol>
                    <a:gridCol w="1042558">
                      <a:extLst>
                        <a:ext uri="{9D8B030D-6E8A-4147-A177-3AD203B41FA5}">
                          <a16:colId xmlns:a16="http://schemas.microsoft.com/office/drawing/2014/main" val="3571115719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2279864539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1015280725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2026711379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4216312997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2469886425"/>
                        </a:ext>
                      </a:extLst>
                    </a:gridCol>
                    <a:gridCol w="840382">
                      <a:extLst>
                        <a:ext uri="{9D8B030D-6E8A-4147-A177-3AD203B41FA5}">
                          <a16:colId xmlns:a16="http://schemas.microsoft.com/office/drawing/2014/main" val="423346127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3636" r="-953333" b="-77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</a:t>
                          </a:r>
                        </a:p>
                        <a:p>
                          <a:pPr algn="l"/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vs Baseline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ci_entropy</a:t>
                          </a:r>
                          <a:endParaRPr lang="el-GR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ei_param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ei_flops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Patch-Entropy-Mean-Norm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5409908"/>
                      </a:ext>
                    </a:extLst>
                  </a:tr>
                  <a:tr h="213360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4.413 ± 0.006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3968231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+7.95 %</a:t>
                          </a:r>
                          <a:r>
                            <a:rPr lang="ko-KR" altLang="en-US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800" b="1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악화</a:t>
                          </a:r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 (</a:t>
                          </a:r>
                          <a:r>
                            <a:rPr lang="ko-KR" altLang="en-US" sz="800" b="1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악화</a:t>
                          </a:r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4851687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4.498 ± 0.079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+1.91 %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–79.94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1299422"/>
                      </a:ext>
                    </a:extLst>
                  </a:tr>
                  <a:tr h="213360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4.414 ± 0.007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2038290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+7.95 %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32490546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4.498 ± 0.078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+1.92 %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–1.93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–80.35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4854938"/>
                      </a:ext>
                    </a:extLst>
                  </a:tr>
                  <a:tr h="213360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4.413 ± 0.006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6006977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+7.96 %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5695113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r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4.496 ± 0.080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+1.87 %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–1.88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–78.37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5315218"/>
                      </a:ext>
                    </a:extLst>
                  </a:tr>
                  <a:tr h="213360">
                    <a:tc row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0.0010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4.413 ± 0.006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  <a:endParaRPr lang="en-US" altLang="ko-KR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—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0.9988</a:t>
                          </a:r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959708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l"/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① </a:t>
                          </a:r>
                          <a:r>
                            <a:rPr lang="en-US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(DPW)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4.764 ± 0.024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+7.96 %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–0.07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–2.90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214116"/>
                      </a:ext>
                    </a:extLst>
                  </a:tr>
                  <a:tr h="213360">
                    <a:tc vMerge="1">
                      <a:txBody>
                        <a:bodyPr/>
                        <a:lstStyle/>
                        <a:p>
                          <a:pPr algn="l"/>
                          <a:endParaRPr lang="ko-KR" alt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ko-KR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② </a:t>
                          </a:r>
                          <a:r>
                            <a:rPr lang="en-US" sz="8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Model (Group)</a:t>
                          </a:r>
                          <a:endParaRPr lang="en-US" sz="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4.496 ± 0.080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+1.88 %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  <a:endParaRPr lang="en-US" altLang="ko-KR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–1.88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–78.68</a:t>
                          </a:r>
                          <a:endParaRPr lang="ko-KR" altLang="en-US" sz="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0.9989</a:t>
                          </a:r>
                          <a:endParaRPr lang="ko-KR" altLang="en-US" sz="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82208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E44B87-AEA2-471F-B9E0-A5CEB4933C97}"/>
                  </a:ext>
                </a:extLst>
              </p:cNvPr>
              <p:cNvSpPr txBox="1"/>
              <p:nvPr/>
            </p:nvSpPr>
            <p:spPr>
              <a:xfrm>
                <a:off x="157097" y="6057781"/>
                <a:ext cx="6813857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l-GR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8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ci_entropy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상관행렬 고유 값의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Baseline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상호작용 분산의 퍼진 정도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상승폭이 크면 채널 간 새롭거나 균형 잡힌 상호작용을 더 학습했다고 해석할 수 있음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l-GR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8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ei_param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파라미터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1M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늘릴 때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Baseline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얻는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 량</a:t>
                </a:r>
                <a:endPara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l-GR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8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ei_flops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GFLOP 1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단위 늘릴 때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Baseline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얻는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 량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채널 혼합을 규제하는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Hyperparameter,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크기가 클 수록 강한 규제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E44B87-AEA2-471F-B9E0-A5CEB493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97" y="6057781"/>
                <a:ext cx="6813857" cy="800219"/>
              </a:xfrm>
              <a:prstGeom prst="rect">
                <a:avLst/>
              </a:prstGeom>
              <a:blipFill>
                <a:blip r:embed="rId5"/>
                <a:stretch>
                  <a:fillRect b="-15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131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2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1-3: Where Mixing Happens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185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가중치의 채널 분포 엔트로피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규제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(Patch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혼합 약화 시도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상세 설명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Kernel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축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u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절댓값을 합산하여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Embedding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기여한 크기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M’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획득함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nary>
                        </m:den>
                      </m:f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‘Embedding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입력 변수들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위에 만든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’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스케일 불변이므로 상대적인 혼합 패턴만을 보게 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로그나 나눗셈에서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값을 피하기 위한 상수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엔트로피로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클수록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,∗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균일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많은 변수를 고르게 섞음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가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작을수록 몇 개 변수에 집중했다는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185377"/>
              </a:xfrm>
              <a:prstGeom prst="rect">
                <a:avLst/>
              </a:prstGeom>
              <a:blipFill>
                <a:blip r:embed="rId3"/>
                <a:stretch>
                  <a:fillRect l="-145" r="-945" b="-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341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21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1-3: Where Mixing Happens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315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가중치의 채널 분포 엔트로피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규제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(Patch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혼합 약화 시도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상세 설명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4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생성된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정규화 및 평균을 수행하여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Embedding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채널을 평균한 전체 혼합도를 생성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func>
                      </m:den>
                    </m:f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 1]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ko-KR" sz="1400" b="0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400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400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ko-KR" sz="1400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광범위하고 균일하게 혼합됨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(Patch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혼합 엔트로피 평균 정규화 값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ko-KR" sz="1400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희박하고 선택적으로 혼합됨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5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만들어진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전체 학습 손실에 추가하여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40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작아지도록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혼합이 약해지도록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압박함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𝑡𝑎𝑠𝑘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en-US" altLang="ko-KR" sz="14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altLang="ko-KR" sz="1400" b="0" i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0, 1e-4, 5e-4, 1e-3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점점 커지도록 설정함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315908"/>
              </a:xfrm>
              <a:prstGeom prst="rect">
                <a:avLst/>
              </a:prstGeom>
              <a:blipFill>
                <a:blip r:embed="rId3"/>
                <a:stretch>
                  <a:fillRect l="-145" b="-1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38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70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1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종합 결론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3198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결론적으로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주된 채널 혼합은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레이어에서 일어나는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것으로 사료되며 제안 구조에서의 채널 상호작용은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+ Dynamic Depth-Wise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조합으로 충분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거의 일괄적으로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Patch-Entropy-Mean-Norm 0.998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수준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Dataset / Seed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달라도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Embedding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채널이 입력 채널을 고르게 섞는 패턴이 재현되었음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채널 혼합을 제거하면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성능이 전반적으로 악화되고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 제거 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추가 모델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Group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추가 모델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(② Model)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을 사용해도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성능 회복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상회하지 못함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		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→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추가 혼합 실효성 부재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채널 혼합 규제에도 불구하고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Patch-Entropy-Mean-Norm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≈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→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혼합의 발생지가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레이어임을 간접 지지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37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6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2-1: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Still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Need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Extra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Mixing?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11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모델에 변수의 상관관계를 반영하는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1D 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추가한 모델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(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DPW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Group Convolution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추가한 모델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(② Model, Group)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대상으로 실험 시 다음과 같음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둘 모두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보다 성능이 떨어지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비용 대비 이득이 작은 것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사료됨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3E799347-5E7E-4F56-8225-0D0056880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691661"/>
              </p:ext>
            </p:extLst>
          </p:nvPr>
        </p:nvGraphicFramePr>
        <p:xfrm>
          <a:off x="711286" y="2567820"/>
          <a:ext cx="7904992" cy="35356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88124">
                  <a:extLst>
                    <a:ext uri="{9D8B030D-6E8A-4147-A177-3AD203B41FA5}">
                      <a16:colId xmlns:a16="http://schemas.microsoft.com/office/drawing/2014/main" val="743427548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1090542695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3571115719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2279864539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1015280725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2026711379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4216312997"/>
                    </a:ext>
                  </a:extLst>
                </a:gridCol>
                <a:gridCol w="988124">
                  <a:extLst>
                    <a:ext uri="{9D8B030D-6E8A-4147-A177-3AD203B41FA5}">
                      <a16:colId xmlns:a16="http://schemas.microsoft.com/office/drawing/2014/main" val="2469886425"/>
                    </a:ext>
                  </a:extLst>
                </a:gridCol>
              </a:tblGrid>
              <a:tr h="279278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ci_entropy</a:t>
                      </a:r>
                      <a:endParaRPr lang="el-GR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ei_param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ei_flops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409908"/>
                  </a:ext>
                </a:extLst>
              </a:tr>
              <a:tr h="142087">
                <a:tc rowSpan="3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Electricity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2764.8 ± 81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968231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2792.1 ± 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+1.0 %</a:t>
                      </a:r>
                      <a:r>
                        <a:rPr lang="ko-KR" alt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8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–0.02 (</a:t>
                      </a:r>
                      <a:r>
                        <a:rPr lang="ko-KR" altLang="en-US" sz="8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–834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51687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2772.5 ± 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–69614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299422"/>
                  </a:ext>
                </a:extLst>
              </a:tr>
              <a:tr h="142087">
                <a:tc rowSpan="6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42.21 ± 0.04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38290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42.46 ±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+0.6 %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+0.003 (</a:t>
                      </a:r>
                      <a:r>
                        <a:rPr lang="ko-KR" altLang="en-US" sz="8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이득</a:t>
                      </a:r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490546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42.21 ± 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+0.13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+5.20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854938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42.89 ± 0.06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006977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43.11 ±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+0.5 %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–1.14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695113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42.96 ± 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+0.17 %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+0.14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+5.70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315218"/>
                  </a:ext>
                </a:extLst>
              </a:tr>
              <a:tr h="213131">
                <a:tc rowSpan="6">
                  <a:txBody>
                    <a:bodyPr/>
                    <a:lstStyle/>
                    <a:p>
                      <a:pPr algn="l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</a:t>
                      </a:r>
                    </a:p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(ETTm1/2, </a:t>
                      </a:r>
                    </a:p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ETTh1/2)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3.207 ± 0.03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17280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3.240 ± 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+1.0 %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</a:t>
                      </a:r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403085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3.243 ± 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+1.1 %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036322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3.487 ± 0.03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21320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3.527 ± 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+1.1 %</a:t>
                      </a:r>
                      <a:endParaRPr lang="ko-KR" altLang="en-US" sz="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027410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3.512 ± 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2978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3779114-F49A-4275-99BC-662F578ED1B3}"/>
              </a:ext>
            </a:extLst>
          </p:cNvPr>
          <p:cNvSpPr txBox="1"/>
          <p:nvPr/>
        </p:nvSpPr>
        <p:spPr>
          <a:xfrm>
            <a:off x="47852" y="6103500"/>
            <a:ext cx="3807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l-GR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ci_entropy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상관행렬 고유 값의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대비 상호작용 분산의 퍼진 정도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상승폭이 크면 채널 간 새롭거나 균형 잡힌 상호작용을 더 학습했다고 해석할 수 있음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l-GR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ei_param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파라미터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1M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늘릴 때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대비 얻는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개선 량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l-GR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ei_flops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 GFLOP 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단위 늘릴 때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대비 얻는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개선 량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KoPub바탕체 Light" panose="00000300000000000000" pitchFamily="2" charset="-127"/>
              <a:ea typeface="KoPub바탕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9238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6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2-2: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Still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Need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Extra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Mixing?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295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다음의 두 가설을 검증하기 위해 실험 계획을 수립함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제안 모델이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생성할 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1D CNN-GRU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블록 출력의 마지막 시점에 맞추어 입력되므로 같은 배치 안 모든 채널 정보를 요약한 벡터가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파라미터를 조절함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생성 에서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블록의 마지막 시점 정보 주입 제거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변화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	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Model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이득이 있는지 확인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블록 출력을 서로 교차하며 채널 정보를 주입하게 되어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만 사용해도 채널 간 상호작용 정보가 주입되는 것으로 추정됨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CNN-GRU Cross Connection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제거 시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Model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이득 유무 확인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516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26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2-2: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Still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Need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Extra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Mixing?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255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제안 모델이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생성할 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1D CNN-GRU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블록 출력의 마지막 시점에 맞추어 입력되므로 같은 배치 안 모든 채널 정보를 요약한 벡터가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파라미터를 조절함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이득이 소폭 나타났지만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통계적으로 유의한 수준이 아님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CNN-GRU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블록 출력을 서로 교차하며 채널 정보를 주입하게 되어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만 사용해도 채널 간 상호작용 정보가 주입되는 것으로 추정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보다 악화되어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블록 출력 교차는 보조 역할을 수행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하며 이미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 구조 상으로 채널 상호작용이 제공되어 있음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사료됨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79B28379-FA80-46D5-B95D-E8043E431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384344"/>
              </p:ext>
            </p:extLst>
          </p:nvPr>
        </p:nvGraphicFramePr>
        <p:xfrm>
          <a:off x="344488" y="4086450"/>
          <a:ext cx="4406559" cy="2255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81312">
                  <a:extLst>
                    <a:ext uri="{9D8B030D-6E8A-4147-A177-3AD203B41FA5}">
                      <a16:colId xmlns:a16="http://schemas.microsoft.com/office/drawing/2014/main" val="743427548"/>
                    </a:ext>
                  </a:extLst>
                </a:gridCol>
                <a:gridCol w="633515">
                  <a:extLst>
                    <a:ext uri="{9D8B030D-6E8A-4147-A177-3AD203B41FA5}">
                      <a16:colId xmlns:a16="http://schemas.microsoft.com/office/drawing/2014/main" val="1090542695"/>
                    </a:ext>
                  </a:extLst>
                </a:gridCol>
                <a:gridCol w="1041504">
                  <a:extLst>
                    <a:ext uri="{9D8B030D-6E8A-4147-A177-3AD203B41FA5}">
                      <a16:colId xmlns:a16="http://schemas.microsoft.com/office/drawing/2014/main" val="3571115719"/>
                    </a:ext>
                  </a:extLst>
                </a:gridCol>
                <a:gridCol w="968916">
                  <a:extLst>
                    <a:ext uri="{9D8B030D-6E8A-4147-A177-3AD203B41FA5}">
                      <a16:colId xmlns:a16="http://schemas.microsoft.com/office/drawing/2014/main" val="2279864539"/>
                    </a:ext>
                  </a:extLst>
                </a:gridCol>
                <a:gridCol w="881312">
                  <a:extLst>
                    <a:ext uri="{9D8B030D-6E8A-4147-A177-3AD203B41FA5}">
                      <a16:colId xmlns:a16="http://schemas.microsoft.com/office/drawing/2014/main" val="1015280725"/>
                    </a:ext>
                  </a:extLst>
                </a:gridCol>
              </a:tblGrid>
              <a:tr h="279278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409908"/>
                  </a:ext>
                </a:extLst>
              </a:tr>
              <a:tr h="142087">
                <a:tc rowSpan="3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Exchange-Rate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 ± 0.001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968231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1.07 %</a:t>
                      </a:r>
                      <a:r>
                        <a:rPr lang="ko-KR" alt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이득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51687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0.048 ± 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+3.53 % (</a:t>
                      </a:r>
                      <a:r>
                        <a:rPr lang="ko-KR" altLang="en-US" sz="800" b="1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299422"/>
                  </a:ext>
                </a:extLst>
              </a:tr>
              <a:tr h="142087">
                <a:tc rowSpan="6"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Solar-Energy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4.629 ± 0.148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38290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4.600 ± 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0.62 %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490546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4.587 ± 0.075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–0.75 %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854938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4.799 ± 0.081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006977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4.759 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0.83 %</a:t>
                      </a:r>
                      <a:endParaRPr lang="ko-KR" alt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695113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4.814 ± 0.130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+0.31 %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31521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E9636B1-D743-424F-9F20-9D0CA589E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148551"/>
              </p:ext>
            </p:extLst>
          </p:nvPr>
        </p:nvGraphicFramePr>
        <p:xfrm>
          <a:off x="4751047" y="4086450"/>
          <a:ext cx="4020616" cy="2255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5154">
                  <a:extLst>
                    <a:ext uri="{9D8B030D-6E8A-4147-A177-3AD203B41FA5}">
                      <a16:colId xmlns:a16="http://schemas.microsoft.com/office/drawing/2014/main" val="23571199"/>
                    </a:ext>
                  </a:extLst>
                </a:gridCol>
                <a:gridCol w="1005154">
                  <a:extLst>
                    <a:ext uri="{9D8B030D-6E8A-4147-A177-3AD203B41FA5}">
                      <a16:colId xmlns:a16="http://schemas.microsoft.com/office/drawing/2014/main" val="1969248370"/>
                    </a:ext>
                  </a:extLst>
                </a:gridCol>
                <a:gridCol w="1005154">
                  <a:extLst>
                    <a:ext uri="{9D8B030D-6E8A-4147-A177-3AD203B41FA5}">
                      <a16:colId xmlns:a16="http://schemas.microsoft.com/office/drawing/2014/main" val="3948581316"/>
                    </a:ext>
                  </a:extLst>
                </a:gridCol>
                <a:gridCol w="1005154">
                  <a:extLst>
                    <a:ext uri="{9D8B030D-6E8A-4147-A177-3AD203B41FA5}">
                      <a16:colId xmlns:a16="http://schemas.microsoft.com/office/drawing/2014/main" val="1445869060"/>
                    </a:ext>
                  </a:extLst>
                </a:gridCol>
              </a:tblGrid>
              <a:tr h="279278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74246"/>
                  </a:ext>
                </a:extLst>
              </a:tr>
              <a:tr h="142087"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 ± 0.001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590293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0.047± 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+0.76 %</a:t>
                      </a:r>
                      <a:r>
                        <a:rPr lang="ko-KR" alt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800" b="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악화</a:t>
                      </a:r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378177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0.047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+1.68 %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964035"/>
                  </a:ext>
                </a:extLst>
              </a:tr>
              <a:tr h="142087"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4.380 ± 0.007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586375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4.726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+7.89 %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32840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4.469 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+2.03 %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313487"/>
                  </a:ext>
                </a:extLst>
              </a:tr>
              <a:tr h="142087"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4.651 ± 0.010</a:t>
                      </a:r>
                      <a:endParaRPr lang="ko-KR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575077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(DPW)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4.918 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+5.73 %</a:t>
                      </a:r>
                      <a:endParaRPr lang="ko-KR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144439"/>
                  </a:ext>
                </a:extLst>
              </a:tr>
              <a:tr h="142087">
                <a:tc vMerge="1">
                  <a:txBody>
                    <a:bodyPr/>
                    <a:lstStyle/>
                    <a:p>
                      <a:pPr algn="r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Model (Group)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4.769 ± 0.111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+3.34 %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5285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EA2FCE9-7CE8-460F-B122-D1DA901E0875}"/>
              </a:ext>
            </a:extLst>
          </p:cNvPr>
          <p:cNvSpPr txBox="1"/>
          <p:nvPr/>
        </p:nvSpPr>
        <p:spPr>
          <a:xfrm>
            <a:off x="902795" y="6349858"/>
            <a:ext cx="7354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①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번 실험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②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번 실험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 결과로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앞에서 세운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가설이 모두 기각됨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확인할 수 있음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96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70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2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종합 결론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587874" cy="327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결론적으로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제안 구조의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+ Dynamic Depth-Wise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만으로도 채널 상호작용이 이미 충분히 주입되어 있다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고 해석할 수 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Study 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위에 추가 채널 혼합을 부여했을 때 이득이 있고 계산 비용을 정당화하는지 확인하는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실험임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대부분의 설정에서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개선이 없거나 오히려 악화되는 양상이 확인됨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추가 혼합을 넣었을 때 비용 대비 성능이 체계적으로 불리한 것을 확인함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레이어 자체가 강한 채널 혼합을 수행한다는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Ablation Study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결과와 함께 생각하면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	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나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Group Convolution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수행되어도 이미 섞인 표현 위에서 중복 혼합을 시도하게 되어 낮은 성능이 나오는 것으로 생각됨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5038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90584" y="1516704"/>
            <a:ext cx="8456347" cy="1505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1D Convolution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이 있을 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(Suggested Method)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와 없을 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(Baseline)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비교한 결과는 다음과 같음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Electricity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데이터의 경우 변수 수가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대비 약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배 많아 추가적인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전처리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작업을 수행해줌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이에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Conv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없을 때보다 있을 때의 성능이 일반적으로 더 좋아지는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것을 확인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659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3-1: Cross Connection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이점 검증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39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8" name="표 2">
            <a:extLst>
              <a:ext uri="{FF2B5EF4-FFF2-40B4-BE49-F238E27FC236}">
                <a16:creationId xmlns:a16="http://schemas.microsoft.com/office/drawing/2014/main" id="{A0C9EA9A-6756-4DF9-A81C-2A7D7A30CDA9}"/>
              </a:ext>
            </a:extLst>
          </p:cNvPr>
          <p:cNvGraphicFramePr>
            <a:graphicFrameLocks noGrp="1"/>
          </p:cNvGraphicFramePr>
          <p:nvPr/>
        </p:nvGraphicFramePr>
        <p:xfrm>
          <a:off x="1059656" y="3002366"/>
          <a:ext cx="7024688" cy="3749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78086">
                  <a:extLst>
                    <a:ext uri="{9D8B030D-6E8A-4147-A177-3AD203B41FA5}">
                      <a16:colId xmlns:a16="http://schemas.microsoft.com/office/drawing/2014/main" val="793447772"/>
                    </a:ext>
                  </a:extLst>
                </a:gridCol>
                <a:gridCol w="878086">
                  <a:extLst>
                    <a:ext uri="{9D8B030D-6E8A-4147-A177-3AD203B41FA5}">
                      <a16:colId xmlns:a16="http://schemas.microsoft.com/office/drawing/2014/main" val="3583001840"/>
                    </a:ext>
                  </a:extLst>
                </a:gridCol>
                <a:gridCol w="1756172">
                  <a:extLst>
                    <a:ext uri="{9D8B030D-6E8A-4147-A177-3AD203B41FA5}">
                      <a16:colId xmlns:a16="http://schemas.microsoft.com/office/drawing/2014/main" val="1042933816"/>
                    </a:ext>
                  </a:extLst>
                </a:gridCol>
                <a:gridCol w="1756172">
                  <a:extLst>
                    <a:ext uri="{9D8B030D-6E8A-4147-A177-3AD203B41FA5}">
                      <a16:colId xmlns:a16="http://schemas.microsoft.com/office/drawing/2014/main" val="2621172623"/>
                    </a:ext>
                  </a:extLst>
                </a:gridCol>
                <a:gridCol w="1756172">
                  <a:extLst>
                    <a:ext uri="{9D8B030D-6E8A-4147-A177-3AD203B41FA5}">
                      <a16:colId xmlns:a16="http://schemas.microsoft.com/office/drawing/2014/main" val="2150883533"/>
                    </a:ext>
                  </a:extLst>
                </a:gridCol>
              </a:tblGrid>
              <a:tr h="272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Datasets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Horizon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Avg. RMSE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Suggested Method± Std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Avg. RMSE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Baseline (Parallel)± Std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∆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RMSE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(Improvements)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884060"/>
                  </a:ext>
                </a:extLst>
              </a:tr>
              <a:tr h="163244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Weather</a:t>
                      </a:r>
                      <a:endParaRPr 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42.21 ± 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44.13 ± 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4.34 %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952631"/>
                  </a:ext>
                </a:extLst>
              </a:tr>
              <a:tr h="163244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42.89 ±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44.66 ± 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3.97 %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109089"/>
                  </a:ext>
                </a:extLst>
              </a:tr>
              <a:tr h="163244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ETTh1</a:t>
                      </a:r>
                      <a:endParaRPr 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3.24 ± 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 ± 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144100"/>
                  </a:ext>
                </a:extLst>
              </a:tr>
              <a:tr h="163244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3.32 ± 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3.41 ± 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2.61 %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411456"/>
                  </a:ext>
                </a:extLst>
              </a:tr>
              <a:tr h="163244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ETTh2</a:t>
                      </a:r>
                      <a:endParaRPr 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 ± 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4.02 ± 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155180"/>
                  </a:ext>
                </a:extLst>
              </a:tr>
              <a:tr h="163244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4.16 ± 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4.27 ± 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607541"/>
                  </a:ext>
                </a:extLst>
              </a:tr>
              <a:tr h="163244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ETTm1</a:t>
                      </a:r>
                      <a:endParaRPr 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2.84 ± 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2.99 ± 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4.92 %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183441"/>
                  </a:ext>
                </a:extLst>
              </a:tr>
              <a:tr h="163244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3.13 ± 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3.20 ± 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2.12 %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40534"/>
                  </a:ext>
                </a:extLst>
              </a:tr>
              <a:tr h="163244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ETTm2</a:t>
                      </a:r>
                      <a:endParaRPr 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 ± 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3.04 ± 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82242"/>
                  </a:ext>
                </a:extLst>
              </a:tr>
              <a:tr h="163244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 ± 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3.44 ± 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2.99 %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712606"/>
                  </a:ext>
                </a:extLst>
              </a:tr>
              <a:tr h="163244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Electricity</a:t>
                      </a:r>
                      <a:endParaRPr 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2808.209 ±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109.015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2800.605 ±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114.081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-0.27 %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837359"/>
                  </a:ext>
                </a:extLst>
              </a:tr>
              <a:tr h="163244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2857.387 ±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79.076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2927.337 ±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69.607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2.39 %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4994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176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659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3-2: Cross Connection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이점 검증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473574" cy="142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같은 구조에서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Cross Connection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 Attention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제거하여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1D CNN-GRU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학습 후 마지막 시점에서 병합하는 모델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병합 없이 예측 값을 산술 평균하는 모델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(② Model)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Seed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성능 평균 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제안 모델이 성능이 우수함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확인할 수 있었음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특히 단기 예측에서 혼합 빈도가 줄어들수록 성능 악화가 커지는 것이 확인됨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2EE5FC06-02F9-4EA9-9846-04B5C467D403}"/>
              </a:ext>
            </a:extLst>
          </p:cNvPr>
          <p:cNvGraphicFramePr>
            <a:graphicFrameLocks noGrp="1"/>
          </p:cNvGraphicFramePr>
          <p:nvPr/>
        </p:nvGraphicFramePr>
        <p:xfrm>
          <a:off x="836466" y="2920469"/>
          <a:ext cx="7471068" cy="3749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24791">
                  <a:extLst>
                    <a:ext uri="{9D8B030D-6E8A-4147-A177-3AD203B41FA5}">
                      <a16:colId xmlns:a16="http://schemas.microsoft.com/office/drawing/2014/main" val="1454892733"/>
                    </a:ext>
                  </a:extLst>
                </a:gridCol>
                <a:gridCol w="758536">
                  <a:extLst>
                    <a:ext uri="{9D8B030D-6E8A-4147-A177-3AD203B41FA5}">
                      <a16:colId xmlns:a16="http://schemas.microsoft.com/office/drawing/2014/main" val="2435642479"/>
                    </a:ext>
                  </a:extLst>
                </a:gridCol>
                <a:gridCol w="1859973">
                  <a:extLst>
                    <a:ext uri="{9D8B030D-6E8A-4147-A177-3AD203B41FA5}">
                      <a16:colId xmlns:a16="http://schemas.microsoft.com/office/drawing/2014/main" val="2424959154"/>
                    </a:ext>
                  </a:extLst>
                </a:gridCol>
                <a:gridCol w="1309256">
                  <a:extLst>
                    <a:ext uri="{9D8B030D-6E8A-4147-A177-3AD203B41FA5}">
                      <a16:colId xmlns:a16="http://schemas.microsoft.com/office/drawing/2014/main" val="2105632920"/>
                    </a:ext>
                  </a:extLst>
                </a:gridCol>
                <a:gridCol w="1309256">
                  <a:extLst>
                    <a:ext uri="{9D8B030D-6E8A-4147-A177-3AD203B41FA5}">
                      <a16:colId xmlns:a16="http://schemas.microsoft.com/office/drawing/2014/main" val="491491674"/>
                    </a:ext>
                  </a:extLst>
                </a:gridCol>
                <a:gridCol w="1309256">
                  <a:extLst>
                    <a:ext uri="{9D8B030D-6E8A-4147-A177-3AD203B41FA5}">
                      <a16:colId xmlns:a16="http://schemas.microsoft.com/office/drawing/2014/main" val="2289327688"/>
                    </a:ext>
                  </a:extLst>
                </a:gridCol>
              </a:tblGrid>
              <a:tr h="175281"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033311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42.21 ± 0.04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13.32 ± 0.03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18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Late-Fusion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46.90 ± 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16.23 ± 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+11.12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744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No-Fusion  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46.79 ± 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16.15 ±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+10.87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9547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42.89 ± 0.06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13.89 ± 0.03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6649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Late-Fusion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46.71 ± 0.13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16.41 ±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+8.91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085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No-Fusion  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46.34 ± 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16.21 ± 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+8.04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230795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(ETTm1/2,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ETTh1/2)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3.21 ± 0.38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1.94 ± 0.36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29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Late-Fusion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 ± 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 ± 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+9.56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775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No-Fusion  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 ±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 ± 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+9.00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2952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3.49 ± 0.40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2.13 ± 0.39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9479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Late-Fusion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3.76 ± 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 ± 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+7.95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22959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No-Fusion  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3.76 ± 0.46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2.36 ± 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+7.59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829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208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659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3-2</a:t>
            </a: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Cross Connection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이점 검증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18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Baseline, Late-Fusion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①,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No-Fusion ②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모델에 대해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Flow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출력한 결과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모델은 두 경로가 비슷한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크기를 가져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학습 균형을 유지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하는 것으로 보임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Late-Fusion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①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모델은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층별 혼합이 없어 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불균형이 발생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하는 것으로 보임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No-Fusion ②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모델은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두 경로가 따로 최적화되어 층별로 극단적인 편차를 보이는 것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해석됨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E6D1FF6-C689-46EF-AE50-E32984A16B98}"/>
              </a:ext>
            </a:extLst>
          </p:cNvPr>
          <p:cNvGrpSpPr/>
          <p:nvPr/>
        </p:nvGrpSpPr>
        <p:grpSpPr>
          <a:xfrm>
            <a:off x="490611" y="4359826"/>
            <a:ext cx="8162778" cy="1373474"/>
            <a:chOff x="344488" y="4526080"/>
            <a:chExt cx="8162778" cy="137347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B1B4ED5-F3C2-4EA1-A51E-96DBCD0C2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488" y="4526081"/>
              <a:ext cx="2746946" cy="137347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6695ADB-629D-4D81-97A7-90802000F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2404" y="4526081"/>
              <a:ext cx="2746946" cy="137347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DDEB4E3-A652-4F07-B930-660B39132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0320" y="4526080"/>
              <a:ext cx="2746946" cy="1373473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D6D06E5-45A0-498A-8467-9BE23793809D}"/>
              </a:ext>
            </a:extLst>
          </p:cNvPr>
          <p:cNvSpPr txBox="1"/>
          <p:nvPr/>
        </p:nvSpPr>
        <p:spPr>
          <a:xfrm>
            <a:off x="1347189" y="5733299"/>
            <a:ext cx="64496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ETTh1 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데이터셋에 대한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Gradient Flow 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그림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, 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왼쪽에서부터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Late-Fusion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② No-Fusion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모델의 출력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085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70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3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종합 결론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247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결론적으로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Cross-Connection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대체 불가하며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단순 산술 평균이나 병합만으로는 표현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최적화 두 축을 모두 만족시키지 못함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Cross-Connection (Baseline)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Late-Fusion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또는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No-Fusion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변환한 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Weather, ETT 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대비 유의한 성능 악화가 확인됨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Gradient Flow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시각화 결과 또한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Baseline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은 두 경로의 기울기 크기가 층 전반에서 균형을 이루는 것으로 확인되지만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Late-Fusion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No-Fusion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경우 층별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경로별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기울기 불균형이 크고 극단적인 편차가 나타남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468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906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4: Dynamic Depth-Wise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이점 검증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1028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동적성을 제거한 모델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(Static,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Kernel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생성 자체를 제거한 모델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(Shared,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②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을 확인한 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동적성이 있는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Conv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사용한 제안 모델이 더 높은 성능을 기록하는 것을 확인할 수 있었음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3">
            <a:extLst>
              <a:ext uri="{FF2B5EF4-FFF2-40B4-BE49-F238E27FC236}">
                <a16:creationId xmlns:a16="http://schemas.microsoft.com/office/drawing/2014/main" id="{5EC0A28E-6B1F-4407-BFE1-6C7314C318FE}"/>
              </a:ext>
            </a:extLst>
          </p:cNvPr>
          <p:cNvGraphicFramePr>
            <a:graphicFrameLocks noGrp="1"/>
          </p:cNvGraphicFramePr>
          <p:nvPr/>
        </p:nvGraphicFramePr>
        <p:xfrm>
          <a:off x="836466" y="2920469"/>
          <a:ext cx="7471068" cy="3749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24791">
                  <a:extLst>
                    <a:ext uri="{9D8B030D-6E8A-4147-A177-3AD203B41FA5}">
                      <a16:colId xmlns:a16="http://schemas.microsoft.com/office/drawing/2014/main" val="1454892733"/>
                    </a:ext>
                  </a:extLst>
                </a:gridCol>
                <a:gridCol w="758536">
                  <a:extLst>
                    <a:ext uri="{9D8B030D-6E8A-4147-A177-3AD203B41FA5}">
                      <a16:colId xmlns:a16="http://schemas.microsoft.com/office/drawing/2014/main" val="2435642479"/>
                    </a:ext>
                  </a:extLst>
                </a:gridCol>
                <a:gridCol w="1859973">
                  <a:extLst>
                    <a:ext uri="{9D8B030D-6E8A-4147-A177-3AD203B41FA5}">
                      <a16:colId xmlns:a16="http://schemas.microsoft.com/office/drawing/2014/main" val="2424959154"/>
                    </a:ext>
                  </a:extLst>
                </a:gridCol>
                <a:gridCol w="1309256">
                  <a:extLst>
                    <a:ext uri="{9D8B030D-6E8A-4147-A177-3AD203B41FA5}">
                      <a16:colId xmlns:a16="http://schemas.microsoft.com/office/drawing/2014/main" val="2105632920"/>
                    </a:ext>
                  </a:extLst>
                </a:gridCol>
                <a:gridCol w="1309256">
                  <a:extLst>
                    <a:ext uri="{9D8B030D-6E8A-4147-A177-3AD203B41FA5}">
                      <a16:colId xmlns:a16="http://schemas.microsoft.com/office/drawing/2014/main" val="491491674"/>
                    </a:ext>
                  </a:extLst>
                </a:gridCol>
                <a:gridCol w="1309256">
                  <a:extLst>
                    <a:ext uri="{9D8B030D-6E8A-4147-A177-3AD203B41FA5}">
                      <a16:colId xmlns:a16="http://schemas.microsoft.com/office/drawing/2014/main" val="2289327688"/>
                    </a:ext>
                  </a:extLst>
                </a:gridCol>
              </a:tblGrid>
              <a:tr h="175281"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033311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42.21 ± 0.04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13.32 ± 0.03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18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42.99 ±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13.54 ± 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+1.86 %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744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43.56 ± 0.33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13.92 ± 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+3.20 %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9547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42.89 ± 0.06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13.89 ± 0.03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6649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43.31 ± 0.13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14.04 ± 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+0.99 %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085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44.65 ± 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14.72 ± 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+4.11 %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230795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(ETTm1/2,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ETTh1/2)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3.21 ± 0.38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1.94 ± 0.36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29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3.32 ± 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2.04 ± 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+3.42 %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775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 ± 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 ± 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+3.94 %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2952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</a:t>
                      </a:r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(Baseline)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3.49 ± 0.40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2.13 ± 0.39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9479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3.58 ± 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2.21 ± 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+2.69 %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22959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②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 ± 0.46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2.25 ± 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+3.30 %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829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0071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6995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4: Dynamic Depth-Wise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이점 검증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1413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동적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즉시 형태를 바꾸어 적응하므로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Spike 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돌발 급등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뒤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Time-To-Recovery* (TTR)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짧은 것을 확인할 수 있었음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제안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모델이 급등 이후 평균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6 ~ 35 Steps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더 빠르게 정상 오차 범위로 복귀하는 것을 확인할 수 있었음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9F1373E2-8F04-4C58-A77F-802926DA7287}"/>
              </a:ext>
            </a:extLst>
          </p:cNvPr>
          <p:cNvGraphicFramePr>
            <a:graphicFrameLocks noGrp="1"/>
          </p:cNvGraphicFramePr>
          <p:nvPr/>
        </p:nvGraphicFramePr>
        <p:xfrm>
          <a:off x="1466203" y="3429000"/>
          <a:ext cx="6395158" cy="194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79031">
                  <a:extLst>
                    <a:ext uri="{9D8B030D-6E8A-4147-A177-3AD203B41FA5}">
                      <a16:colId xmlns:a16="http://schemas.microsoft.com/office/drawing/2014/main" val="1069516897"/>
                    </a:ext>
                  </a:extLst>
                </a:gridCol>
                <a:gridCol w="1069443">
                  <a:extLst>
                    <a:ext uri="{9D8B030D-6E8A-4147-A177-3AD203B41FA5}">
                      <a16:colId xmlns:a16="http://schemas.microsoft.com/office/drawing/2014/main" val="1086217976"/>
                    </a:ext>
                  </a:extLst>
                </a:gridCol>
                <a:gridCol w="1375766">
                  <a:extLst>
                    <a:ext uri="{9D8B030D-6E8A-4147-A177-3AD203B41FA5}">
                      <a16:colId xmlns:a16="http://schemas.microsoft.com/office/drawing/2014/main" val="232202593"/>
                    </a:ext>
                  </a:extLst>
                </a:gridCol>
                <a:gridCol w="1391887">
                  <a:extLst>
                    <a:ext uri="{9D8B030D-6E8A-4147-A177-3AD203B41FA5}">
                      <a16:colId xmlns:a16="http://schemas.microsoft.com/office/drawing/2014/main" val="2806842290"/>
                    </a:ext>
                  </a:extLst>
                </a:gridCol>
                <a:gridCol w="1279031">
                  <a:extLst>
                    <a:ext uri="{9D8B030D-6E8A-4147-A177-3AD203B41FA5}">
                      <a16:colId xmlns:a16="http://schemas.microsoft.com/office/drawing/2014/main" val="695241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TTR</a:t>
                      </a:r>
                    </a:p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(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①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(mean)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0256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+5.8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4248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+19.2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17515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</a:t>
                      </a:r>
                    </a:p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(ETTm1/2, </a:t>
                      </a:r>
                    </a:p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ETTh1/2)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+16.8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1407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+34.5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2058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223C6C4-CBD2-4092-BC75-4FE9D135A280}"/>
              </a:ext>
            </a:extLst>
          </p:cNvPr>
          <p:cNvSpPr txBox="1"/>
          <p:nvPr/>
        </p:nvSpPr>
        <p:spPr>
          <a:xfrm>
            <a:off x="187517" y="5793847"/>
            <a:ext cx="6111683" cy="89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*Time-To-Recovery: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예측 오차가 안정 상태 범위 안으로 연속 스텝 들어올 때까지 걸린 시간으로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예측 모델이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Spike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이후 얼마나 빨리 정상 성능을 회복하는지를 측정하는 지표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작을 수록 빠른 회복을 의미함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53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70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Ablation Study 4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종합 결론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2151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동적성을 부여한 제안 모델이 동적성이 제거된 모델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(Static)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이나 동적성을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생성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공유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(Shared)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바꾼 모델과 비교했을 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Weather, ETT 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우의가 확인됨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동적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데이터 구간별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시점별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패턴 변화를 더 잘 흡수하는 것을 확인할 수 있었음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Spike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이후 복원 속도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(TTR)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또한 제안 모델이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Static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모델보다 최소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6 Step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빠르게 정상 오차 대역으로 복귀하는 것을 확인할 수 있었고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이는 실제 시계열 운영 환경에서 오류 누적 시간을 단축시킬 수 있음을 의미함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65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526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모델과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비교했을 때 성능이 유의하게 높았던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데이터셋에 대해서 왜 제안 모델의 성능이 더 좋았는지를 데이터 단계에서 분석을 수행하였음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사용한 지표는 </a:t>
                </a:r>
                <a:r>
                  <a:rPr lang="ko-KR" altLang="en-US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상관계수 평균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(Pearson Correlation, 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𝝆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자기상관함수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(Autocorrelation Function,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상관행렬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고유값의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Shannon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엔트로피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신호대잡음비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(Signal-to-Noise Ratio,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스파이크율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(Spike Rate)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종임</a:t>
                </a:r>
                <a:endParaRPr lang="en-US" altLang="ko-KR" sz="1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 간 선형 결합 강도를 측정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한 시계열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2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가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자기 자신을 시차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만큼 이동한 것과 얼마나 닮았는지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클수록 일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패턴 </a:t>
                </a:r>
                <a:r>
                  <a:rPr lang="ko-KR" altLang="en-US" sz="12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뚜렷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Shannon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엔트로피는 높을 수록 채널 간 중복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결합성이 높고 낮을 수록 채널 간 중복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결합성이 낮음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이동평균을 신호로 보고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잔차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 시계열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-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이동평균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잡음으로 설정하였음</a:t>
                </a:r>
                <a:endPara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Spike Rate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채널 별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Z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스코어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&gt;3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비율의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관측 중 각 채널의 평균적인 극단 값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(|z|&gt;3)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비중을 의미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526286"/>
              </a:xfrm>
              <a:prstGeom prst="rect">
                <a:avLst/>
              </a:prstGeom>
              <a:blipFill>
                <a:blip r:embed="rId3"/>
                <a:stretch>
                  <a:fillRect l="-145" b="-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56B4A9-3AB0-4CDA-AFEB-59BF50673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7" y="5281714"/>
            <a:ext cx="1422826" cy="5976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F63D16-C490-4E97-A185-EB869229B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649" y="5283920"/>
            <a:ext cx="2802028" cy="5954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6B6F8A-172E-448C-8CA3-8310E1B72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782" y="5281714"/>
            <a:ext cx="1934677" cy="5988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D8E1F89-4071-4CB4-9A83-D30997718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009" y="5351225"/>
            <a:ext cx="2355477" cy="4573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C1B9CB-9043-4164-91AD-0603ACBE3F8B}"/>
                  </a:ext>
                </a:extLst>
              </p:cNvPr>
              <p:cNvSpPr txBox="1"/>
              <p:nvPr/>
            </p:nvSpPr>
            <p:spPr>
              <a:xfrm>
                <a:off x="533240" y="5930147"/>
                <a:ext cx="80775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왼쪽부터 </a:t>
                </a:r>
                <a:r>
                  <a:rPr lang="ko-KR" altLang="en-US" sz="1400" dirty="0" err="1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피어슨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 상관계수 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), 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자기상관함수 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(ACF), Shannon 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엔트로피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, </a:t>
                </a:r>
                <a:r>
                  <a:rPr lang="ko-KR" altLang="en-US" sz="1400" dirty="0" err="1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신호대잡음비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(SNR)</a:t>
                </a:r>
                <a:r>
                  <a:rPr lang="ko-KR" altLang="en-US" sz="1400" dirty="0">
                    <a:latin typeface="times" panose="02020603050405020304" pitchFamily="18" charset="0"/>
                    <a:ea typeface="KoPub바탕체 Light" panose="00000300000000000000" pitchFamily="2" charset="-127"/>
                    <a:cs typeface="times" panose="02020603050405020304" pitchFamily="18" charset="0"/>
                  </a:rPr>
                  <a:t>수식</a:t>
                </a:r>
                <a:endParaRPr lang="en-US" altLang="ko-KR" sz="1400" dirty="0"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C1B9CB-9043-4164-91AD-0603ACBE3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40" y="5930147"/>
                <a:ext cx="8077520" cy="307777"/>
              </a:xfrm>
              <a:prstGeom prst="rect">
                <a:avLst/>
              </a:prstGeom>
              <a:blipFill>
                <a:blip r:embed="rId8"/>
                <a:stretch>
                  <a:fillRect t="-6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349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878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구체적인 지표 계산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ko-KR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다음과 같이 진행됨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ko-KR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변수쌍에 대한 </a:t>
                </a:r>
                <a:r>
                  <a:rPr lang="ko-KR" alt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상관계수의 절대값 평균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ko-KR" alt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US" altLang="ko-K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ko-KR" alt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)|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같은 시각과 오늘 값이 얼마나 닮았는지를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간격 지연에서 측정하여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주기성의 안정도를 요약한 값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ACF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@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day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{</m:t>
                          </m:r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)(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ko-KR" sz="1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KoPub바탕체 Light" panose="00000300000000000000" pitchFamily="2" charset="-127"/>
                                                      <a:cs typeface="Times New Roman" panose="020206030504050203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  <m:r>
                                                <a:rPr lang="en-US" altLang="ko-KR" sz="1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KoPub바탕체 Light" panose="00000300000000000000" pitchFamily="2" charset="-127"/>
                                                  <a:cs typeface="Times New Roman" panose="020206030504050203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ko-KR" alt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𝜀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nary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878417"/>
              </a:xfrm>
              <a:prstGeom prst="rect">
                <a:avLst/>
              </a:prstGeom>
              <a:blipFill>
                <a:blip r:embed="rId3"/>
                <a:stretch>
                  <a:fillRect l="-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/>
              <p:nvPr/>
            </p:nvSpPr>
            <p:spPr>
              <a:xfrm>
                <a:off x="187517" y="4345240"/>
                <a:ext cx="5463983" cy="2491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C: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시계열의 채널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= 7, Weather = 21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ko-KR" altLang="en-US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)|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상관계수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합의 범위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서로 다른 모든 채널 쌍 평균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시계열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관측값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의 표본 평균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상관을 계산하는 시계열 길이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데이터셋의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 길이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하루에 해당하는 지연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스텝 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(Weather: 144,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24)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b: 1,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주변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±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b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 지연을 평균하여 주변 분산을 완화함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굴림체" panose="020B0609000101010101" pitchFamily="49" charset="-127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 안정화를 위한 상수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굴림체" panose="020B0609000101010101" pitchFamily="49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4345240"/>
                <a:ext cx="5463983" cy="2491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925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773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구체적인 지표 계산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ko-KR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다음과 같이 진행됨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SNR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단위로 변하는 추세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신호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세기가 그 주변의 빠른 흔들림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잡음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얼마나 큰지를 시간 영역 분산 비율로 측정한 값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=−(</m:t>
                          </m:r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  <m:sup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ko-KR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SNR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𝑡𝑖𝑚𝑒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Var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Var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r>
                            <a:rPr lang="ko-KR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SNR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𝑡𝑖𝑚𝑒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SNR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𝑡𝑖𝑚𝑒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773003"/>
              </a:xfrm>
              <a:prstGeom prst="rect">
                <a:avLst/>
              </a:prstGeom>
              <a:blipFill>
                <a:blip r:embed="rId3"/>
                <a:stretch>
                  <a:fillRect l="-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/>
              <p:nvPr/>
            </p:nvSpPr>
            <p:spPr>
              <a:xfrm>
                <a:off x="187517" y="4220282"/>
                <a:ext cx="5463983" cy="1947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C: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시계열의 채널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= 7, Weather = 21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굴림체" panose="020B0609000101010101" pitchFamily="49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시계열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관측값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저주파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느린 변화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성분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잔차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고주파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불규칙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성분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Var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∙)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표본 분산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하루에 해당하는 지연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스텝 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(Weather: 144,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24)</a:t>
                </a: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굴림체" panose="020B0609000101010101" pitchFamily="49" charset="-127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굴림체" panose="020B0609000101010101" pitchFamily="49" charset="-127"/>
                    <a:cs typeface="Times New Roman" panose="02020603050405020304" pitchFamily="18" charset="0"/>
                  </a:rPr>
                  <a:t>: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 안정화를 위한 상수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굴림체" panose="020B0609000101010101" pitchFamily="49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00F113-4C0D-4E42-82DF-F90CD6A8E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4220282"/>
                <a:ext cx="5463983" cy="1947713"/>
              </a:xfrm>
              <a:prstGeom prst="rect">
                <a:avLst/>
              </a:prstGeom>
              <a:blipFill>
                <a:blip r:embed="rId4"/>
                <a:stretch>
                  <a:fillRect b="-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44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305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ETTm2, h2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≈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0.324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다른 데이터셋보다 채널들이 서로 더 촘촘히 연결되어 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Shannon Entropy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보았을 때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h1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상대적으로 소수의 채널이 데이터를 주도함을 확인할 수 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높아 일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단위 주기성이 매우 선명하다고 생각할 수 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스파이크율을 보았을 때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h2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1.70%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이상치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·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급변 이벤트가 조금 더 많이 관측됨을 알 수 있었음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h1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약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높은데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SNR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높다는 것은 데이터의 저주파 성분이 잔차보다 우세하다는 의미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평탄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주기적인 특성을 갖는다는 의미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305759"/>
              </a:xfrm>
              <a:prstGeom prst="rect">
                <a:avLst/>
              </a:prstGeom>
              <a:blipFill>
                <a:blip r:embed="rId3"/>
                <a:stretch>
                  <a:fillRect l="-143"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49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7232EF1-E3E4-4CD3-8371-5CBD2184F0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512913"/>
                  </p:ext>
                </p:extLst>
              </p:nvPr>
            </p:nvGraphicFramePr>
            <p:xfrm>
              <a:off x="1054200" y="4506999"/>
              <a:ext cx="7035600" cy="1392555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879450">
                      <a:extLst>
                        <a:ext uri="{9D8B030D-6E8A-4147-A177-3AD203B41FA5}">
                          <a16:colId xmlns:a16="http://schemas.microsoft.com/office/drawing/2014/main" val="2760307467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6372785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732431405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703663071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340439684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060654022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01293939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80197723"/>
                        </a:ext>
                      </a:extLst>
                    </a:gridCol>
                  </a:tblGrid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Datasets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Resolutions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number of variances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ko-KR" alt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𝜌</m:t>
                                    </m:r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e>
                                  <m:sub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𝑚𝑒𝑎𝑛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Shannon</a:t>
                          </a:r>
                        </a:p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Entropy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Spike Rate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𝑆𝑁𝑅</m:t>
                                    </m:r>
                                  </m:e>
                                  <m:sub>
                                    <m:r>
                                      <a:rPr lang="en-US" altLang="ko-K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𝑡𝑖𝑚𝑒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89210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0.0120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6.5134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37172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0.0119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6.4908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4985461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22.8323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2219248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22.7629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3266702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0.2956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0.6275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0.0083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7.9551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33273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7232EF1-E3E4-4CD3-8371-5CBD2184F0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512913"/>
                  </p:ext>
                </p:extLst>
              </p:nvPr>
            </p:nvGraphicFramePr>
            <p:xfrm>
              <a:off x="1054200" y="4506999"/>
              <a:ext cx="7035600" cy="1392555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879450">
                      <a:extLst>
                        <a:ext uri="{9D8B030D-6E8A-4147-A177-3AD203B41FA5}">
                          <a16:colId xmlns:a16="http://schemas.microsoft.com/office/drawing/2014/main" val="2760307467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6372785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2732431405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703663071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3404396846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1060654022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01293939"/>
                        </a:ext>
                      </a:extLst>
                    </a:gridCol>
                    <a:gridCol w="879450">
                      <a:extLst>
                        <a:ext uri="{9D8B030D-6E8A-4147-A177-3AD203B41FA5}">
                          <a16:colId xmlns:a16="http://schemas.microsoft.com/office/drawing/2014/main" val="980197723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Datasets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Resolutions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number of variances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301389" t="-12281" r="-402778" b="-3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Shannon</a:t>
                          </a:r>
                        </a:p>
                        <a:p>
                          <a:pPr algn="ctr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Entropy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Spike Rate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702778" t="-12281" r="-1389" b="-3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9210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0.0120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6.5134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37172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0.0119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6.4908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4985461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hourly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22.8323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2219248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15min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0.8243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0.0170 </a:t>
                          </a:r>
                          <a:endParaRPr lang="en-US" altLang="ko-KR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22.7629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3266702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10min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0.2956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0.6275 </a:t>
                          </a:r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0.0083 </a:t>
                          </a:r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7.9551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33273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D691B9E-DBF0-4BCE-AA94-D4406C4271ED}"/>
              </a:ext>
            </a:extLst>
          </p:cNvPr>
          <p:cNvSpPr txBox="1"/>
          <p:nvPr/>
        </p:nvSpPr>
        <p:spPr>
          <a:xfrm>
            <a:off x="1158261" y="6002422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데이터 단위 분석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8688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42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이에 다음과 같은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6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가설을 세워 데이터 특성에 따른 모델 이득을 검증해보고자 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를 약화시키면 제안 모델의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더 클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H2: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임의 채널을 섞거나 일부를 제거하는 등 채널 간 상관구조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공변구조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약화시키면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더 크게 나타날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H3: Dynamic Depth-Wise Conv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생성 시 이를 고정하거나 정적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교체하면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h2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가장 클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H4: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고주파를 증폭해서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SNR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낮추면 성능 하락이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크게 나타날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H5: Co-Attention Block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단순 결합으로 교체하면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ETTh2, ETTm2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 하락이 뚜렷할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H6: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(Reversible Instance Normalization)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OFF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하면 장기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 하락이 나타날 것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CA551-8190-4A6A-8165-9DCE1FEC1022}"/>
              </a:ext>
            </a:extLst>
          </p:cNvPr>
          <p:cNvSpPr txBox="1"/>
          <p:nvPr/>
        </p:nvSpPr>
        <p:spPr>
          <a:xfrm>
            <a:off x="187517" y="6493352"/>
            <a:ext cx="5463983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공변구조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다변량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시계열에서 채널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변수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들 사이의 동시 변동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상관 관계를 의미함</a:t>
            </a:r>
            <a:endParaRPr lang="ko-KR" altLang="en-US" sz="11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268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10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가설을 통해 검증해보고자 하는 것은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모델이 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단위 주기와 정렬되어 작동할 때 성능 이득이 큰가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H2: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상관구조의 강도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집중도가 커질수록 채널 혼합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스트림 공유의 이득이 커지는가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H3: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생성하는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메커니즘이 주기 위상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진폭 변조에 실제로 기여하는가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H4: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저주파 골격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평탄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주기적인 특성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모델 예측의 주요한 단서인가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H5: Conv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토큰과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GRU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문맥을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Attention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으로 결합하는 것이 단순 결합보다 실제 이득인가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H6: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장기 예측에서 분포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(Distribution Drift)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를 실제로 줄여 성능에 기여하는가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948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37657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4721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실험에 대하여 가설 검증 및 데이터 특성에 따른 모델 이득을 검증한 바는 다음과 같음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H1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주기의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ACF, SNR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더 선명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모델은 이런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주기의 정합을 강하게 활용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하여 성능 이득을 만들어 내고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주기성이 약한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ETTh1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에서는 상대적으로 이득이 작았음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H2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간 상관관계보다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같은 시점에서 함께 등장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 정합에서 제안 모델로 인한 이득이 발생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것으로 확인되고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Cross Stitch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인한 이득은 미약한 것으로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H3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주기의 정합이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중 가장 강해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작은 위상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진폭 차이를 시점 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Kernel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즉시 보정하는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Dynamic Depth-Wise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성능을 개선하는 것으로 해석됨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H4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US" altLang="ko-KR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낮추면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선형적으로 증가하여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모델이 저주파 골격 에 의존함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확인되었고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민감도는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 &gt; ETTm1, ETTh1 &gt; ETTh2, Weather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이질성으로 둔감하게 나타남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H5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Day / Week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정합 지수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(DAI / WAI) &gt; 0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지난주 같은 시간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정보가 유용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안정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조건에서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Co-Attention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선택 결합이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Concat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일관된 성능 이득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나타남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高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데이터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예측에서 확실한 이득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ETTm2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완충이 주효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ETTh2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정렬과 학습 안정화 효과가 주효함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4721485"/>
              </a:xfrm>
              <a:prstGeom prst="rect">
                <a:avLst/>
              </a:prstGeom>
              <a:blipFill>
                <a:blip r:embed="rId3"/>
                <a:stretch>
                  <a:fillRect l="-143" r="-286" b="-3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74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 </a:t>
            </a:r>
            <a:r>
              <a:rPr kumimoji="0"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총론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6293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274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실험에서는 다음의 두 조건으로 실험을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  길이만큼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나눈 뒤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구간의 일부 시점을 섞어 같은 시간대의 반복 패턴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위상 정렬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깨고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를 크게 줄이는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Shuffle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(ii) 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해당 주기의 저주파 성분을 제거하는 차분 실험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(Seasonal Differencing,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Sdiff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H1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실험 결과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(ii)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를 약화시키면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h2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성능이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ETTm1, h1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에서보다 더 크게 하락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하는 것이 관찰되어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주기 정합이 모델의 핵심 이득원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이라고 해석됨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ETTm1, h1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하락폭이 더 큰 경우가 많았는데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ETTm1, h1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	|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∆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ACF|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감소폭이 더 컸기 때문이라고 생각됨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(Shuffle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 일 주기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RMSE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간의 상관이 매우 높게 관측됨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일 주기와의 상관 </a:t>
            </a:r>
            <a:r>
              <a:rPr lang="ko-KR" altLang="en-US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≈ </a:t>
            </a:r>
            <a:r>
              <a:rPr lang="en-US" altLang="ko-KR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0.970, </a:t>
            </a:r>
            <a:r>
              <a:rPr lang="ko-KR" altLang="en-US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주 주기와의 상관 ≈ </a:t>
            </a:r>
            <a:r>
              <a:rPr lang="en-US" altLang="ko-KR" sz="1400" dirty="0">
                <a:latin typeface="Cambria Math" panose="020405030504060302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0.917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620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H1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F49B3-9C2E-4A7E-8AEE-22B83F0565C6}"/>
              </a:ext>
            </a:extLst>
          </p:cNvPr>
          <p:cNvSpPr txBox="1"/>
          <p:nvPr/>
        </p:nvSpPr>
        <p:spPr>
          <a:xfrm>
            <a:off x="187517" y="6493352"/>
            <a:ext cx="8147888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ACF day|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,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ACF week|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Train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구간에서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ACF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감소의 평균 절댓값 크기로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  <a:cs typeface="Times New Roman" panose="02020603050405020304" pitchFamily="18" charset="0"/>
              </a:rPr>
              <a:t>값이 클수록 해당 주기 구조를 더 많이 망가뜨렸다는 의미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882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H1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58549D5-F417-48C7-A1A1-15B7D9CC1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383924"/>
              </p:ext>
            </p:extLst>
          </p:nvPr>
        </p:nvGraphicFramePr>
        <p:xfrm>
          <a:off x="187517" y="1420111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3.055 ±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+ 49.8 %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+ 49.0 %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+ 98.1 %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0.456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+ 27.7 %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3.597 ± 0.013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+ 118.5 %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0.618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+ 42.0 %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2.818 ± 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+ 56.8 %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+ 58.2 %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+ 62.5 %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2.958 ± 0.006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+ 10.3 %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+ 17.1 %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+ 223.6 %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+ 29.1 %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39.672 ± 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+ 342.9 %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graphicFrame>
        <p:nvGraphicFramePr>
          <p:cNvPr id="10" name="표 3">
            <a:extLst>
              <a:ext uri="{FF2B5EF4-FFF2-40B4-BE49-F238E27FC236}">
                <a16:creationId xmlns:a16="http://schemas.microsoft.com/office/drawing/2014/main" id="{C19F90ED-AA69-4779-B038-DCEA4CF7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16554"/>
              </p:ext>
            </p:extLst>
          </p:nvPr>
        </p:nvGraphicFramePr>
        <p:xfrm>
          <a:off x="187517" y="3670050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3.185 ± 0.015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+ 45.1 %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+ 45.1 %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+ 86.5 %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3.655 ± 0.012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+ 161.9 %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+ 35.8 %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3.079 ± 0.006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+ 48.1 %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+ 47.3 %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+ 53.3 %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+ 24.6 %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3.343 ± 0.022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+ 184.1 %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40.824 ± 0.176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+ 33.0 %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+ 323.1 %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+ 35.6 %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D6EB11-1BB2-4CD1-83E4-1588F168C5E2}"/>
              </a:ext>
            </a:extLst>
          </p:cNvPr>
          <p:cNvSpPr txBox="1"/>
          <p:nvPr/>
        </p:nvSpPr>
        <p:spPr>
          <a:xfrm>
            <a:off x="1158261" y="318795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96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1" y="5437889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192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day|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week|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구간에서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감소의 평균 절댓값 크기로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해당 주기 구조를 더 많이 망가뜨렸다는 의미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273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H1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58549D5-F417-48C7-A1A1-15B7D9CC1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586271"/>
              </p:ext>
            </p:extLst>
          </p:nvPr>
        </p:nvGraphicFramePr>
        <p:xfrm>
          <a:off x="187517" y="1420111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3.311 ± 0.014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+ 40.2 %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+ 39.6 %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+ 78.0 %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+ 28.5 %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3.728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+ 169.2 %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+ 33.4 %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3.230 ±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+ 44.1 %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+ 42.8 %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+ 49.0 %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208546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3.675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+ 162.1 %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+ 32.2 %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42.097 ± 0.318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+ 29.8 %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+ 27.2 %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+ 307.7 %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graphicFrame>
        <p:nvGraphicFramePr>
          <p:cNvPr id="10" name="표 3">
            <a:extLst>
              <a:ext uri="{FF2B5EF4-FFF2-40B4-BE49-F238E27FC236}">
                <a16:creationId xmlns:a16="http://schemas.microsoft.com/office/drawing/2014/main" id="{C19F90ED-AA69-4779-B038-DCEA4CF7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20338"/>
              </p:ext>
            </p:extLst>
          </p:nvPr>
        </p:nvGraphicFramePr>
        <p:xfrm>
          <a:off x="187517" y="3670050"/>
          <a:ext cx="8949366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47027">
                  <a:extLst>
                    <a:ext uri="{9D8B030D-6E8A-4147-A177-3AD203B41FA5}">
                      <a16:colId xmlns:a16="http://schemas.microsoft.com/office/drawing/2014/main" val="375725298"/>
                    </a:ext>
                  </a:extLst>
                </a:gridCol>
                <a:gridCol w="1007919">
                  <a:extLst>
                    <a:ext uri="{9D8B030D-6E8A-4147-A177-3AD203B41FA5}">
                      <a16:colId xmlns:a16="http://schemas.microsoft.com/office/drawing/2014/main" val="2928841366"/>
                    </a:ext>
                  </a:extLst>
                </a:gridCol>
                <a:gridCol w="875434">
                  <a:extLst>
                    <a:ext uri="{9D8B030D-6E8A-4147-A177-3AD203B41FA5}">
                      <a16:colId xmlns:a16="http://schemas.microsoft.com/office/drawing/2014/main" val="164285563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469345603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457326412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1218926646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878031251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30253525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990490524"/>
                    </a:ext>
                  </a:extLst>
                </a:gridCol>
                <a:gridCol w="916998">
                  <a:extLst>
                    <a:ext uri="{9D8B030D-6E8A-4147-A177-3AD203B41FA5}">
                      <a16:colId xmlns:a16="http://schemas.microsoft.com/office/drawing/2014/main" val="3431097955"/>
                    </a:ext>
                  </a:extLst>
                </a:gridCol>
              </a:tblGrid>
              <a:tr h="45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Shuffle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day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day| 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Sdiff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ACF week|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05532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3.168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+ 40.8 %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+ 40.3 %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+ 69.4 %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+ 20.7 %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27382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3.649 ± 0.010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+ 213.1 %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+ 34.3 %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255895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3.355 ± 0.014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+ 43.3 %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+ 42.5 %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+ 47.5 %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+ 26.0 %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55567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4.100 ± 0.016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+ 5.9 %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+ 149.9 %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2209"/>
                  </a:ext>
                </a:extLst>
              </a:tr>
              <a:tr h="12890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41.685 ± 0.169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+ 27.0 %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+ 23.9 %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+ 310.7 %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888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D6EB11-1BB2-4CD1-83E4-1588F168C5E2}"/>
              </a:ext>
            </a:extLst>
          </p:cNvPr>
          <p:cNvSpPr txBox="1"/>
          <p:nvPr/>
        </p:nvSpPr>
        <p:spPr>
          <a:xfrm>
            <a:off x="1158261" y="318795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336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1" y="5437889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720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day|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ACF week|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구간에서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감소의 평균 절댓값 크기로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해당 주기 구조를 더 많이 망가뜨렸다는 의미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" y="5824900"/>
                <a:ext cx="8147888" cy="988476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348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1505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간 상관관계보다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같은 시점에서 함께 등장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시간 정합에서 제안 모델로 인한 이득이 발생하는 것으로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Cross Stitch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인한 이득은 미약한 것으로 확인되어 미세 조정 수준에 그치는 것으로 보임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 RMSE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RMSE(Test) - RMSE(Baseline)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결과값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이득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1505540"/>
              </a:xfrm>
              <a:prstGeom prst="rect">
                <a:avLst/>
              </a:prstGeom>
              <a:blipFill>
                <a:blip r:embed="rId3"/>
                <a:stretch>
                  <a:fillRect l="-143" b="-32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H2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9CCF210B-DA07-47C6-982D-8983947C4E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276043"/>
                  </p:ext>
                </p:extLst>
              </p:nvPr>
            </p:nvGraphicFramePr>
            <p:xfrm>
              <a:off x="1794932" y="3429000"/>
              <a:ext cx="55541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88622">
                      <a:extLst>
                        <a:ext uri="{9D8B030D-6E8A-4147-A177-3AD203B41FA5}">
                          <a16:colId xmlns:a16="http://schemas.microsoft.com/office/drawing/2014/main" val="2187102352"/>
                        </a:ext>
                      </a:extLst>
                    </a:gridCol>
                    <a:gridCol w="688622">
                      <a:extLst>
                        <a:ext uri="{9D8B030D-6E8A-4147-A177-3AD203B41FA5}">
                          <a16:colId xmlns:a16="http://schemas.microsoft.com/office/drawing/2014/main" val="356410035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911616071"/>
                        </a:ext>
                      </a:extLst>
                    </a:gridCol>
                    <a:gridCol w="948267">
                      <a:extLst>
                        <a:ext uri="{9D8B030D-6E8A-4147-A177-3AD203B41FA5}">
                          <a16:colId xmlns:a16="http://schemas.microsoft.com/office/drawing/2014/main" val="2994770029"/>
                        </a:ext>
                      </a:extLst>
                    </a:gridCol>
                    <a:gridCol w="1140178">
                      <a:extLst>
                        <a:ext uri="{9D8B030D-6E8A-4147-A177-3AD203B41FA5}">
                          <a16:colId xmlns:a16="http://schemas.microsoft.com/office/drawing/2014/main" val="482046284"/>
                        </a:ext>
                      </a:extLst>
                    </a:gridCol>
                    <a:gridCol w="598311">
                      <a:extLst>
                        <a:ext uri="{9D8B030D-6E8A-4147-A177-3AD203B41FA5}">
                          <a16:colId xmlns:a16="http://schemas.microsoft.com/office/drawing/2014/main" val="3578695310"/>
                        </a:ext>
                      </a:extLst>
                    </a:gridCol>
                    <a:gridCol w="677335">
                      <a:extLst>
                        <a:ext uri="{9D8B030D-6E8A-4147-A177-3AD203B41FA5}">
                          <a16:colId xmlns:a16="http://schemas.microsoft.com/office/drawing/2014/main" val="3384004947"/>
                        </a:ext>
                      </a:extLst>
                    </a:gridCol>
                  </a:tblGrid>
                  <a:tr h="1172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0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𝝆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|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ci-entropy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roll-week 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drop-corr-25%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gain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96358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+ 0.576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+ 0.465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911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+ 0.228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88152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–0.132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83404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1135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9CCF210B-DA07-47C6-982D-8983947C4E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276043"/>
                  </p:ext>
                </p:extLst>
              </p:nvPr>
            </p:nvGraphicFramePr>
            <p:xfrm>
              <a:off x="1794932" y="3429000"/>
              <a:ext cx="55541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88622">
                      <a:extLst>
                        <a:ext uri="{9D8B030D-6E8A-4147-A177-3AD203B41FA5}">
                          <a16:colId xmlns:a16="http://schemas.microsoft.com/office/drawing/2014/main" val="2187102352"/>
                        </a:ext>
                      </a:extLst>
                    </a:gridCol>
                    <a:gridCol w="688622">
                      <a:extLst>
                        <a:ext uri="{9D8B030D-6E8A-4147-A177-3AD203B41FA5}">
                          <a16:colId xmlns:a16="http://schemas.microsoft.com/office/drawing/2014/main" val="356410035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911616071"/>
                        </a:ext>
                      </a:extLst>
                    </a:gridCol>
                    <a:gridCol w="948267">
                      <a:extLst>
                        <a:ext uri="{9D8B030D-6E8A-4147-A177-3AD203B41FA5}">
                          <a16:colId xmlns:a16="http://schemas.microsoft.com/office/drawing/2014/main" val="2994770029"/>
                        </a:ext>
                      </a:extLst>
                    </a:gridCol>
                    <a:gridCol w="1140178">
                      <a:extLst>
                        <a:ext uri="{9D8B030D-6E8A-4147-A177-3AD203B41FA5}">
                          <a16:colId xmlns:a16="http://schemas.microsoft.com/office/drawing/2014/main" val="482046284"/>
                        </a:ext>
                      </a:extLst>
                    </a:gridCol>
                    <a:gridCol w="598311">
                      <a:extLst>
                        <a:ext uri="{9D8B030D-6E8A-4147-A177-3AD203B41FA5}">
                          <a16:colId xmlns:a16="http://schemas.microsoft.com/office/drawing/2014/main" val="3578695310"/>
                        </a:ext>
                      </a:extLst>
                    </a:gridCol>
                    <a:gridCol w="677335">
                      <a:extLst>
                        <a:ext uri="{9D8B030D-6E8A-4147-A177-3AD203B41FA5}">
                          <a16:colId xmlns:a16="http://schemas.microsoft.com/office/drawing/2014/main" val="338400494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77" r="-608850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ci-entropy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roll-week 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drop-corr-25%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721622" t="-3077" r="-180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963588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+ 0.576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+ 0.465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91192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0.7533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+ 0.228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881524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+ 0.232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–0.132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83404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0.2221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0.7799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+ 0.081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–0.001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1135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9FE52F-73C9-4C96-8E9A-353F7D2112FF}"/>
                  </a:ext>
                </a:extLst>
              </p:cNvPr>
              <p:cNvSpPr txBox="1"/>
              <p:nvPr/>
            </p:nvSpPr>
            <p:spPr>
              <a:xfrm>
                <a:off x="187516" y="5750004"/>
                <a:ext cx="8332983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</a:t>
                </a:r>
                <a14:m>
                  <m:oMath xmlns:m="http://schemas.openxmlformats.org/officeDocument/2006/math">
                    <m:r>
                      <a:rPr lang="en-US" altLang="ko-KR" sz="11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𝝆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|: “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채널들이 동시에 얼마나 같이 움직이는가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?”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~ 1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사이로 평균 낸 값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ci-entropy (correlation-informed entropy): “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변동이 소수의 공통 성분에 얼마나 모여 있는가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?”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낮을 수록 한두 개 공통 패턴에 변동이 집중됨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roll-week RMSE: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채널을 서로 다른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최대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시간만큼 엇갈리게 만들어 동시성을 깨뜨린 뒤의 오차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drop-corr-25% RMSE: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다른 채널들과 상관이 높은 상위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25%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채널을 삭제하고 학습했을 때의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TAR (Time-Alignment Reliance):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동시성 의존도 지표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(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roll-week ∆ RMSE) – (drop-corr-25% ∆ RMSE)</a:t>
                </a:r>
              </a:p>
              <a:p>
                <a:pPr marL="171450" indent="-171450" latinLnBrk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gain: </a:t>
                </a:r>
                <a14:m>
                  <m:oMath xmlns:m="http://schemas.openxmlformats.org/officeDocument/2006/math"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공유로 인한 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순이득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Stitch OFF) – (</a:t>
                </a:r>
                <a14:m>
                  <m:oMath xmlns:m="http://schemas.openxmlformats.org/officeDocument/2006/math"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Stitch ON)</a:t>
                </a:r>
                <a:endParaRPr lang="ko-KR" altLang="en-US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9FE52F-73C9-4C96-8E9A-353F7D211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6" y="5750004"/>
                <a:ext cx="8332983" cy="1107996"/>
              </a:xfrm>
              <a:prstGeom prst="rect">
                <a:avLst/>
              </a:prstGeom>
              <a:blipFill>
                <a:blip r:embed="rId5"/>
                <a:stretch>
                  <a:fillRect t="-549" b="-27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4550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57661-71E1-46AF-8F61-E34E27FE7BC3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945E16-A30C-4018-85A0-AC621A922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256" y="3967924"/>
            <a:ext cx="5838738" cy="25653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90584" y="1516704"/>
                <a:ext cx="8653416" cy="2444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모델의 연산을 수식으로 표현하면 다음과 같이 진행됨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Patch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dC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𝑜𝑛𝑣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Input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Patch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Dynamic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Depth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Wise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Conv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𝒐𝒖𝒕</m:t>
                        </m:r>
                        <m: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ko-KR" sz="12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sz="12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</m:t>
                    </m:r>
                    <m:r>
                      <a:rPr lang="en-US" altLang="ko-KR" sz="12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2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Patch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GRU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Input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Patch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→ 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Dynamic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Depth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Wise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2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Conv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𝒐𝒖𝒕</m:t>
                            </m:r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ko-KR" sz="1200" b="1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v"/>
                </a:pP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2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2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[−1]</m:t>
                    </m:r>
                  </m:oMath>
                </a14:m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은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마지막 시점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조건 벡터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배치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시점별로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Kernel</a:t>
                </a:r>
                <a:r>
                  <a: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변화하기 위해 필요한 정보</a:t>
                </a:r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H3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𝒐𝒖𝒕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n-US" altLang="ko-KR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𝒐𝒖𝒕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ko-KR" sz="14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sz="14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</m:t>
                    </m:r>
                    <m:r>
                      <a:rPr lang="en-US" altLang="ko-KR" sz="14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400" b="1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조작함으로써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Dynamic Depth-Wise Conv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h2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성능 이득에 기여하였는지 판단하는 실험임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84" y="1516704"/>
                <a:ext cx="8653416" cy="2444259"/>
              </a:xfrm>
              <a:prstGeom prst="rect">
                <a:avLst/>
              </a:prstGeom>
              <a:blipFill>
                <a:blip r:embed="rId4"/>
                <a:stretch>
                  <a:fillRect l="-70" b="-14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0F945FB-14BC-4B9F-B023-FBCE5DD590B0}"/>
              </a:ext>
            </a:extLst>
          </p:cNvPr>
          <p:cNvCxnSpPr/>
          <p:nvPr/>
        </p:nvCxnSpPr>
        <p:spPr>
          <a:xfrm>
            <a:off x="4772025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840E1ED-EF66-494E-9239-5E57A43342A4}"/>
              </a:ext>
            </a:extLst>
          </p:cNvPr>
          <p:cNvCxnSpPr/>
          <p:nvPr/>
        </p:nvCxnSpPr>
        <p:spPr>
          <a:xfrm>
            <a:off x="4374356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0CA2A36-0CC5-4CD5-856D-05FE95A0E51B}"/>
              </a:ext>
            </a:extLst>
          </p:cNvPr>
          <p:cNvCxnSpPr/>
          <p:nvPr/>
        </p:nvCxnSpPr>
        <p:spPr>
          <a:xfrm>
            <a:off x="3963855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5F9D2C6-936C-4206-A1A2-0249D1004E78}"/>
              </a:ext>
            </a:extLst>
          </p:cNvPr>
          <p:cNvCxnSpPr/>
          <p:nvPr/>
        </p:nvCxnSpPr>
        <p:spPr>
          <a:xfrm>
            <a:off x="3553354" y="5181600"/>
            <a:ext cx="423333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5A167E4-CFC4-40EE-9837-D53A7616609C}"/>
              </a:ext>
            </a:extLst>
          </p:cNvPr>
          <p:cNvCxnSpPr>
            <a:cxnSpLocks/>
          </p:cNvCxnSpPr>
          <p:nvPr/>
        </p:nvCxnSpPr>
        <p:spPr>
          <a:xfrm flipV="1">
            <a:off x="3579018" y="5181600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2DF28E9-3A84-4677-B269-346F7C95B2A3}"/>
              </a:ext>
            </a:extLst>
          </p:cNvPr>
          <p:cNvCxnSpPr>
            <a:cxnSpLocks/>
          </p:cNvCxnSpPr>
          <p:nvPr/>
        </p:nvCxnSpPr>
        <p:spPr>
          <a:xfrm flipV="1">
            <a:off x="3968766" y="5181599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8305D4D-A3EB-492B-968D-E3501C5061EF}"/>
              </a:ext>
            </a:extLst>
          </p:cNvPr>
          <p:cNvCxnSpPr>
            <a:cxnSpLocks/>
          </p:cNvCxnSpPr>
          <p:nvPr/>
        </p:nvCxnSpPr>
        <p:spPr>
          <a:xfrm flipV="1">
            <a:off x="4393604" y="5181599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6A29F67-72C9-4587-A083-A922691DA8BF}"/>
              </a:ext>
            </a:extLst>
          </p:cNvPr>
          <p:cNvCxnSpPr>
            <a:cxnSpLocks/>
          </p:cNvCxnSpPr>
          <p:nvPr/>
        </p:nvCxnSpPr>
        <p:spPr>
          <a:xfrm flipV="1">
            <a:off x="4798694" y="5181599"/>
            <a:ext cx="400877" cy="3640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5E8C95-F8E8-41E7-8327-C76A46342F0B}"/>
                  </a:ext>
                </a:extLst>
              </p:cNvPr>
              <p:cNvSpPr txBox="1"/>
              <p:nvPr/>
            </p:nvSpPr>
            <p:spPr>
              <a:xfrm>
                <a:off x="76455" y="5250594"/>
                <a:ext cx="2583613" cy="1765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 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1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값</a:t>
                </a:r>
                <a:endParaRPr lang="en-US" altLang="ko-KR" sz="1050" dirty="0"/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GRU 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1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번째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Block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출력 값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결과를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</m:t>
                    </m:r>
                    <m:r>
                      <a:rPr lang="en-US" altLang="ko-KR" sz="105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ko-KR" altLang="en-US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으</m:t>
                    </m:r>
                  </m:oMath>
                </a14:m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만든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Filter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Depth-Wise Conv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한 결과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 sz="1050" dirty="0"/>
                  <a:t>: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CNN</a:t>
                </a:r>
                <a:r>
                  <a:rPr lang="en-US" altLang="ko-KR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결과를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𝑜𝑢𝑡</m:t>
                        </m:r>
                        <m:r>
                          <a:rPr lang="en-US" altLang="ko-KR" sz="105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ko-KR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[−1</m:t>
                    </m:r>
                    <m:r>
                      <a:rPr lang="en-US" altLang="ko-KR" sz="105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]</m:t>
                    </m:r>
                    <m:r>
                      <a:rPr lang="ko-KR" altLang="en-US" sz="105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으</m:t>
                    </m:r>
                  </m:oMath>
                </a14:m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만든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Filter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로 </a:t>
                </a:r>
                <a:r>
                  <a:rPr lang="en-US" altLang="ko-KR" sz="105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Depth-Wise Conv</a:t>
                </a:r>
                <a:r>
                  <a:rPr lang="ko-KR" altLang="en-US" sz="1050" dirty="0">
                    <a:latin typeface="KoPub바탕체 Light" panose="00000300000000000000" pitchFamily="2" charset="-127"/>
                    <a:ea typeface="KoPub바탕체 Light" panose="00000300000000000000" pitchFamily="2" charset="-127"/>
                  </a:rPr>
                  <a:t>한 결과</a:t>
                </a: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sz="1050" dirty="0">
                  <a:latin typeface="KoPub바탕체 Light" panose="00000300000000000000" pitchFamily="2" charset="-127"/>
                  <a:ea typeface="KoPub바탕체 Light" panose="00000300000000000000" pitchFamily="2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5E8C95-F8E8-41E7-8327-C76A4634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5" y="5250594"/>
                <a:ext cx="2583613" cy="1765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D7C365-74DF-4053-85AA-1645510CACE4}"/>
              </a:ext>
            </a:extLst>
          </p:cNvPr>
          <p:cNvSpPr/>
          <p:nvPr/>
        </p:nvSpPr>
        <p:spPr>
          <a:xfrm>
            <a:off x="3149517" y="4152452"/>
            <a:ext cx="2465975" cy="2022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8586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42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H3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실험에서는 가설 검증을 위하여 다음의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4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개 조작을 수행함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Freeze-First: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첫 배치에서 추출한 조건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벡터를 이후 전체에 고정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EMA: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 생성 시 새 정보에 대한 반영 비율을 줄여 변동성을 낮춤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Zero: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 벡터를 영벡터로 교체하여 조건성을 제거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Static Depth-Wise: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정적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채널별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고정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Kernel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로 대체하여 조건 벡터를 사용하지 않음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 결과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조건성을 강하게 약화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(EMA/Zero)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하거나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완전히 제거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(Static DW)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하면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h2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 성능이 크게 감소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하였고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긴 주기와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길수록 악화 폭이 더 커지는 것을 확인할 수 있었음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ETTm2,  h2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일 주기 정합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중 가장 강한 것으로 확인됨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이러한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는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작은 위상 </a:t>
            </a:r>
            <a:r>
              <a:rPr lang="en-US" altLang="ko-KR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b="1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진폭 차이로 예측 오차가 달라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질 수 있어 즉시 위상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·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진폭차를 보정하는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Dynamic 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가 큰 이득을 만듦으로 보임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EA8080E-A62F-4B79-BE0D-8943FAA54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784789"/>
              </p:ext>
            </p:extLst>
          </p:nvPr>
        </p:nvGraphicFramePr>
        <p:xfrm>
          <a:off x="2219842" y="4892051"/>
          <a:ext cx="5038165" cy="1889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56621">
                  <a:extLst>
                    <a:ext uri="{9D8B030D-6E8A-4147-A177-3AD203B41FA5}">
                      <a16:colId xmlns:a16="http://schemas.microsoft.com/office/drawing/2014/main" val="3982333537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1601575091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1400825439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1471015528"/>
                    </a:ext>
                  </a:extLst>
                </a:gridCol>
                <a:gridCol w="1070386">
                  <a:extLst>
                    <a:ext uri="{9D8B030D-6E8A-4147-A177-3AD203B41FA5}">
                      <a16:colId xmlns:a16="http://schemas.microsoft.com/office/drawing/2014/main" val="4145865203"/>
                    </a:ext>
                  </a:extLst>
                </a:gridCol>
              </a:tblGrid>
              <a:tr h="2956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Phase-Drift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(↓= </a:t>
                      </a:r>
                      <a:r>
                        <a:rPr lang="ko-KR" altLang="en-US" sz="11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정합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(↑= </a:t>
                      </a:r>
                      <a:r>
                        <a:rPr lang="ko-KR" altLang="en-US" sz="1100" dirty="0">
                          <a:latin typeface="KoPub바탕체 Light" panose="00000300000000000000" pitchFamily="2" charset="-127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정합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 H = 720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(EMA)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 H = 720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(Static-DW)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600349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0.0417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0.8193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+ 18.5 %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+ 17.5 %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97215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0.0208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0.8221</a:t>
                      </a:r>
                      <a:endParaRPr lang="ko-KR" alt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+ 8.8 %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42301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98215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0.0885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+ 1.8 %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931569"/>
                  </a:ext>
                </a:extLst>
              </a:tr>
              <a:tr h="12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0.0486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0.7675</a:t>
                      </a:r>
                      <a:endParaRPr lang="ko-KR" alt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2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4134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5342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H3: Phase-D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rift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59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5337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Phase-Drift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작을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수록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정합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↑):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오늘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어제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비해 얼마나 시계열 상 밀려 있는지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(Shift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되어 있는지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정수 샘플 단위로 측정하는 도구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 순서는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파형을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표준화하여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스케일 영향을 제거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정수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∈{0, 1, …,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전일 파형을 원형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roll</m:t>
                    </m:r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상관을 계산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roll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최적 시프트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상관이 최대가 되는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선택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그 절대 크기를 하루 길이로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  <m:acc>
                            <m:accPr>
                              <m:chr m:val="̃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d>
                      <m:d>
                        <m:dPr>
                          <m:begChr m:val=""/>
                          <m:endChr m:val="]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en-US" altLang="ko-KR" sz="1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예를 들어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(1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 간격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T=24) = Phase-Drift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0.0417;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간 어긋남이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시간이라는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원형 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roll: 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벡터를 원형으로 회전시켜 하루의 시작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끝을 넘어가도 자연스럽게 맞추도록 만듦</a:t>
                </a:r>
                <a:endPara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5337808"/>
              </a:xfrm>
              <a:prstGeom prst="rect">
                <a:avLst/>
              </a:prstGeom>
              <a:blipFill>
                <a:blip r:embed="rId3"/>
                <a:stretch>
                  <a:fillRect l="-145" b="-4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8399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436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H3: SPAI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5287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SPAI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(Shape / Phase Alignment Index,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수록 정합 ↑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): Shift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를 보정 후 오늘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어제 파형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유사도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측정하는 도구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계산 순서는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파형을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표준화하여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스케일 영향을 제거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정수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∈{0, 1, …,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전일 파형을 원형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roll</m:t>
                    </m:r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상관을 계산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b="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roll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최적 시프트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상관이 최대가 되는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선택하여 다음과 같은 계산을 취함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SPAI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400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roll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̃"/>
                          <m:ctrlP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))</m:t>
                      </m:r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</m:e>
                      </m:d>
                      <m:d>
                        <m:dPr>
                          <m:begChr m:val=""/>
                          <m:endChr m:val="]"/>
                          <m:ctrlPr>
                            <a:rPr lang="en-US" altLang="ko-KR" sz="14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ko-KR" sz="14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원형 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Shift roll: 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벡터를 원형으로 회전시켜 하루의 시작</a:t>
                </a:r>
                <a:r>
                  <a:rPr lang="en-US" altLang="ko-KR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끝을 넘어가도 자연스럽게 맞추도록 만듦</a:t>
                </a:r>
                <a:endPara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5287025"/>
              </a:xfrm>
              <a:prstGeom prst="rect">
                <a:avLst/>
              </a:prstGeom>
              <a:blipFill>
                <a:blip r:embed="rId3"/>
                <a:stretch>
                  <a:fillRect l="-145" b="-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564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0" y="2810537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blipFill>
                <a:blip r:embed="rId3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1680461F-81F5-4910-9394-272C1D97F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992708"/>
              </p:ext>
            </p:extLst>
          </p:nvPr>
        </p:nvGraphicFramePr>
        <p:xfrm>
          <a:off x="1541949" y="1438937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3.601 ± 0.011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3.653 ± 0.011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+ 10.2 %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+ 10.0 %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3.728 ± 0.020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3.644 ± 0.010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+ 18.5 %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+ 12.7 %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+ 17.5 %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0B608C7-3589-42C3-94DA-873455F51958}"/>
              </a:ext>
            </a:extLst>
          </p:cNvPr>
          <p:cNvSpPr txBox="1"/>
          <p:nvPr/>
        </p:nvSpPr>
        <p:spPr>
          <a:xfrm>
            <a:off x="1158260" y="450874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graphicFrame>
        <p:nvGraphicFramePr>
          <p:cNvPr id="17" name="표 3">
            <a:extLst>
              <a:ext uri="{FF2B5EF4-FFF2-40B4-BE49-F238E27FC236}">
                <a16:creationId xmlns:a16="http://schemas.microsoft.com/office/drawing/2014/main" id="{696FE3E7-2C77-4E2D-B3E4-8F5DC3C3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988816"/>
              </p:ext>
            </p:extLst>
          </p:nvPr>
        </p:nvGraphicFramePr>
        <p:xfrm>
          <a:off x="1541949" y="3137140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2.959 ± 0.005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3.338 ± 0.019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3.683 ± 0.017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4.098 ± 0.014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+ 8.8%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0627230-95EB-4393-A452-ED4724BF2C83}"/>
              </a:ext>
            </a:extLst>
          </p:cNvPr>
          <p:cNvSpPr txBox="1"/>
          <p:nvPr/>
        </p:nvSpPr>
        <p:spPr>
          <a:xfrm>
            <a:off x="1158260" y="6165452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graphicFrame>
        <p:nvGraphicFramePr>
          <p:cNvPr id="19" name="표 3">
            <a:extLst>
              <a:ext uri="{FF2B5EF4-FFF2-40B4-BE49-F238E27FC236}">
                <a16:creationId xmlns:a16="http://schemas.microsoft.com/office/drawing/2014/main" id="{97460C3D-8132-451C-A3BD-D876D159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16082"/>
              </p:ext>
            </p:extLst>
          </p:nvPr>
        </p:nvGraphicFramePr>
        <p:xfrm>
          <a:off x="1541949" y="4793852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39.718 ± 0.135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+ 2.9 %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40.850 ± 0.193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42.127 ± 0.270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+ 5.1 %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41.678 ± 0.179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+ 5.2 %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+ 1.4 %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8484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H3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5A66B-4EFC-4337-B82A-560450EB9681}"/>
              </a:ext>
            </a:extLst>
          </p:cNvPr>
          <p:cNvSpPr txBox="1"/>
          <p:nvPr/>
        </p:nvSpPr>
        <p:spPr>
          <a:xfrm>
            <a:off x="1158260" y="2810537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</a:p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B85A7-3562-4218-B23E-C8C78F40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35779"/>
              </a:xfrm>
              <a:prstGeom prst="rect">
                <a:avLst/>
              </a:prstGeom>
              <a:blipFill>
                <a:blip r:embed="rId3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1680461F-81F5-4910-9394-272C1D97F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208060"/>
              </p:ext>
            </p:extLst>
          </p:nvPr>
        </p:nvGraphicFramePr>
        <p:xfrm>
          <a:off x="1541949" y="1438937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2181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3.055 ± 0.008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3.185 ± 0.015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+ 0.7 %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3.311 ± 0.014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3.168 ± 0.029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0B608C7-3589-42C3-94DA-873455F51958}"/>
              </a:ext>
            </a:extLst>
          </p:cNvPr>
          <p:cNvSpPr txBox="1"/>
          <p:nvPr/>
        </p:nvSpPr>
        <p:spPr>
          <a:xfrm>
            <a:off x="1158260" y="450874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실험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graphicFrame>
        <p:nvGraphicFramePr>
          <p:cNvPr id="17" name="표 3">
            <a:extLst>
              <a:ext uri="{FF2B5EF4-FFF2-40B4-BE49-F238E27FC236}">
                <a16:creationId xmlns:a16="http://schemas.microsoft.com/office/drawing/2014/main" id="{696FE3E7-2C77-4E2D-B3E4-8F5DC3C3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47680"/>
              </p:ext>
            </p:extLst>
          </p:nvPr>
        </p:nvGraphicFramePr>
        <p:xfrm>
          <a:off x="1541949" y="3137140"/>
          <a:ext cx="6060100" cy="1371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365">
                  <a:extLst>
                    <a:ext uri="{9D8B030D-6E8A-4147-A177-3AD203B41FA5}">
                      <a16:colId xmlns:a16="http://schemas.microsoft.com/office/drawing/2014/main" val="239244332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3844717013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663709840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4153041164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1309038776"/>
                    </a:ext>
                  </a:extLst>
                </a:gridCol>
                <a:gridCol w="1085147">
                  <a:extLst>
                    <a:ext uri="{9D8B030D-6E8A-4147-A177-3AD203B41FA5}">
                      <a16:colId xmlns:a16="http://schemas.microsoft.com/office/drawing/2014/main" val="2764440534"/>
                    </a:ext>
                  </a:extLst>
                </a:gridCol>
              </a:tblGrid>
              <a:tr h="138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Freeze-First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Static-DW</a:t>
                      </a:r>
                    </a:p>
                    <a:p>
                      <a:pPr latinLnBrk="1"/>
                      <a:r>
                        <a:rPr lang="ko-KR" alt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91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2.818 ± 0.007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1.3 %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+ 2.5 %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9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3.079 ± 0.006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0.6 %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9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3.230 ± 0.008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0.3 %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+ 2.0 %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95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3.335 ± 0.014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+ 1.8 %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2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6213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08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H4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계열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낮출수록 </a:t>
                </a:r>
                <a:r>
                  <a:rPr lang="en-US" altLang="ko-KR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b="1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증가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 그 관계가 높은 선형성을 보임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낮추었을 때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ETTm2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ETTm1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하락이 크게 나타났으나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ETTh2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ETTh1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보다 하락폭이 작았음</a:t>
                </a:r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Elasticity</m:t>
                    </m:r>
                    <m:r>
                      <m:rPr>
                        <m:nor/>
                      </m:rPr>
                      <a:rPr lang="en-US" altLang="ko-K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SNR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den>
                    </m:f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약화에 더 민감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양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이며 선형 적합도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또한 유의미하여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제안 모델이 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저주파 골격 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추세 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주기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실질적으로 의존한다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 볼 수 있음</a:t>
                </a:r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ETTm1, ETTh1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Baseline 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상대적으로 낮고 하루 주기 위상 안정성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낮아 제안 모델로 인한 이득이 떨어지고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채널 간 이질성이 강하여 제안 모델로 인한 이득이 크게 드러나지 않는 것으로 보임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아래 표의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채널 중앙값을 사용함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080715"/>
              </a:xfrm>
              <a:prstGeom prst="rect">
                <a:avLst/>
              </a:prstGeom>
              <a:blipFill>
                <a:blip r:embed="rId3"/>
                <a:stretch>
                  <a:fillRect l="-145" b="-1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 Steps,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 Steps, Weather: 144 Steps)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시차 자기 상관으로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주기의 위상 안정성을 반영함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4CC3612F-FD95-440F-9FCC-1CF928D655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52102"/>
                  </p:ext>
                </p:extLst>
              </p:nvPr>
            </p:nvGraphicFramePr>
            <p:xfrm>
              <a:off x="2910829" y="4505292"/>
              <a:ext cx="3322341" cy="161544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8251">
                      <a:extLst>
                        <a:ext uri="{9D8B030D-6E8A-4147-A177-3AD203B41FA5}">
                          <a16:colId xmlns:a16="http://schemas.microsoft.com/office/drawing/2014/main" val="1499403842"/>
                        </a:ext>
                      </a:extLst>
                    </a:gridCol>
                    <a:gridCol w="509954">
                      <a:extLst>
                        <a:ext uri="{9D8B030D-6E8A-4147-A177-3AD203B41FA5}">
                          <a16:colId xmlns:a16="http://schemas.microsoft.com/office/drawing/2014/main" val="3934115781"/>
                        </a:ext>
                      </a:extLst>
                    </a:gridCol>
                    <a:gridCol w="595793">
                      <a:extLst>
                        <a:ext uri="{9D8B030D-6E8A-4147-A177-3AD203B41FA5}">
                          <a16:colId xmlns:a16="http://schemas.microsoft.com/office/drawing/2014/main" val="3893044420"/>
                        </a:ext>
                      </a:extLst>
                    </a:gridCol>
                    <a:gridCol w="718001">
                      <a:extLst>
                        <a:ext uri="{9D8B030D-6E8A-4147-A177-3AD203B41FA5}">
                          <a16:colId xmlns:a16="http://schemas.microsoft.com/office/drawing/2014/main" val="4028361254"/>
                        </a:ext>
                      </a:extLst>
                    </a:gridCol>
                    <a:gridCol w="820342">
                      <a:extLst>
                        <a:ext uri="{9D8B030D-6E8A-4147-A177-3AD203B41FA5}">
                          <a16:colId xmlns:a16="http://schemas.microsoft.com/office/drawing/2014/main" val="843687205"/>
                        </a:ext>
                      </a:extLst>
                    </a:gridCol>
                  </a:tblGrid>
                  <a:tr h="22603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0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𝑑𝑎𝑦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𝑺𝑵𝑹</m:t>
                                  </m:r>
                                </m:e>
                                <m:sub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𝒕𝒊𝒎𝒆</m:t>
                                  </m:r>
                                </m:sub>
                              </m:sSub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03838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22.7629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3240445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22.8323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0.8231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2998589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6.4908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0.7991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864092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6.5134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988742"/>
                      </a:ext>
                    </a:extLst>
                  </a:tr>
                  <a:tr h="13909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7.9551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55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4CC3612F-FD95-440F-9FCC-1CF928D655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52102"/>
                  </p:ext>
                </p:extLst>
              </p:nvPr>
            </p:nvGraphicFramePr>
            <p:xfrm>
              <a:off x="2910829" y="4505292"/>
              <a:ext cx="3322341" cy="161544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8251">
                      <a:extLst>
                        <a:ext uri="{9D8B030D-6E8A-4147-A177-3AD203B41FA5}">
                          <a16:colId xmlns:a16="http://schemas.microsoft.com/office/drawing/2014/main" val="1499403842"/>
                        </a:ext>
                      </a:extLst>
                    </a:gridCol>
                    <a:gridCol w="509954">
                      <a:extLst>
                        <a:ext uri="{9D8B030D-6E8A-4147-A177-3AD203B41FA5}">
                          <a16:colId xmlns:a16="http://schemas.microsoft.com/office/drawing/2014/main" val="3934115781"/>
                        </a:ext>
                      </a:extLst>
                    </a:gridCol>
                    <a:gridCol w="595793">
                      <a:extLst>
                        <a:ext uri="{9D8B030D-6E8A-4147-A177-3AD203B41FA5}">
                          <a16:colId xmlns:a16="http://schemas.microsoft.com/office/drawing/2014/main" val="3893044420"/>
                        </a:ext>
                      </a:extLst>
                    </a:gridCol>
                    <a:gridCol w="718001">
                      <a:extLst>
                        <a:ext uri="{9D8B030D-6E8A-4147-A177-3AD203B41FA5}">
                          <a16:colId xmlns:a16="http://schemas.microsoft.com/office/drawing/2014/main" val="4028361254"/>
                        </a:ext>
                      </a:extLst>
                    </a:gridCol>
                    <a:gridCol w="820342">
                      <a:extLst>
                        <a:ext uri="{9D8B030D-6E8A-4147-A177-3AD203B41FA5}">
                          <a16:colId xmlns:a16="http://schemas.microsoft.com/office/drawing/2014/main" val="8436872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32143" t="-4615" r="-420238" b="-3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48305" t="-4615" r="-116102" b="-3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038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22.7629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324044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22.8323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0.8231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299858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6.4908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0.7991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86409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6.5134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98874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7.9551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555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62047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2038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Weather Dataset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6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하위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6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 채널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대한 정보는 다음과 같음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저주파 지배군은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매우 크고 </a:t>
                </a:r>
                <a:r>
                  <a:rPr lang="en-US" altLang="ko-KR" sz="1400" dirty="0" err="1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높아 명확한 일 주기 문맥을 형성하나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고주파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불규칙 지배군은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매우 작고 </a:t>
                </a:r>
                <a:r>
                  <a:rPr lang="en-US" altLang="ko-KR" sz="1400" dirty="0" err="1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낮아 주기 위상 안정성이 약함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곧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간 이질성이 강하다고 할 수 있음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표의 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은 단순 산술평균 수치</a:t>
                </a:r>
                <a:r>
                  <a:rPr lang="en-US" altLang="ko-KR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이때 저주파 분산 비율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(LF ratio)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𝑆𝑁𝑅</m:t>
                        </m:r>
                      </m:num>
                      <m:den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𝑆𝑁𝑅</m:t>
                        </m:r>
                      </m:den>
                    </m:f>
                    <m:r>
                      <a:rPr lang="en-US" altLang="ko-K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과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같음</a:t>
                </a:r>
                <a:endParaRPr lang="en-US" altLang="ko-KR" sz="1400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2038507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ACF@day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𝑑𝑎𝑦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96 Steps, </a:t>
                </a:r>
                <a:r>
                  <a:rPr lang="en-US" altLang="ko-KR" sz="11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24 Steps, Weather: 144 Steps)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시차 자기 상관으로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주기의 위상 안정성을 반영함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77597"/>
                <a:ext cx="8147888" cy="757964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FDBCD15-6086-4D4C-8BFF-CF5ED3D44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0756054"/>
                  </p:ext>
                </p:extLst>
              </p:nvPr>
            </p:nvGraphicFramePr>
            <p:xfrm>
              <a:off x="1152518" y="3778638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𝑺𝑵𝑹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𝒕𝒊𝒎𝒆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 (mbar)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3507.32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0.9849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rho (g/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376.11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0.9973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Tlog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Tpot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(K)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295.45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Tdew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285.34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0.9659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FDBCD15-6086-4D4C-8BFF-CF5ED3D44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0756054"/>
                  </p:ext>
                </p:extLst>
              </p:nvPr>
            </p:nvGraphicFramePr>
            <p:xfrm>
              <a:off x="1152518" y="3778638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735" t="-5000" r="-202941" b="-6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 (mbar)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3507.32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0.9849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205000" r="-300730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376.11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0.9973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Tlog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Tpot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(K)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295.45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Tdew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degC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285.34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0.9659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4DD879FF-17F1-4EB4-918B-802788186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9244064"/>
                  </p:ext>
                </p:extLst>
              </p:nvPr>
            </p:nvGraphicFramePr>
            <p:xfrm>
              <a:off x="4663782" y="3781327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14365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𝑺𝑵𝑹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𝒕𝒊𝒎𝒆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wv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(m/s)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 (mm)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0.4361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0.3037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0.0820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wd (deg)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raining (s)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max. PAR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2.4645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1678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OT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4.1571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4DD879FF-17F1-4EB4-918B-802788186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9244064"/>
                  </p:ext>
                </p:extLst>
              </p:nvPr>
            </p:nvGraphicFramePr>
            <p:xfrm>
              <a:off x="4663782" y="3781327"/>
              <a:ext cx="3327700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831925">
                      <a:extLst>
                        <a:ext uri="{9D8B030D-6E8A-4147-A177-3AD203B41FA5}">
                          <a16:colId xmlns:a16="http://schemas.microsoft.com/office/drawing/2014/main" val="608818574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447900919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4127918850"/>
                        </a:ext>
                      </a:extLst>
                    </a:gridCol>
                    <a:gridCol w="831925">
                      <a:extLst>
                        <a:ext uri="{9D8B030D-6E8A-4147-A177-3AD203B41FA5}">
                          <a16:colId xmlns:a16="http://schemas.microsoft.com/office/drawing/2014/main" val="125704385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735" t="-5000" r="-202941" b="-6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LF ratio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ACF@day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28392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wv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(m/s)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050831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 (mm)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0.4361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0.3037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0.0820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7799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wd (deg)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839582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raining (s)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9103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max. PAR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2.4645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612671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OT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4.1571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64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FE2C238-0168-492C-AFA8-36CF2E0849FB}"/>
              </a:ext>
            </a:extLst>
          </p:cNvPr>
          <p:cNvSpPr txBox="1"/>
          <p:nvPr/>
        </p:nvSpPr>
        <p:spPr>
          <a:xfrm>
            <a:off x="1158261" y="5497400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저주파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지배군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고주파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/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불규칙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지배군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245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Elasticity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SNR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den>
                    </m:f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감소할 때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몇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증가하는가를 나타내는 지표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SNR-down 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모든 변조에서의 총 평균값을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blipFill>
                <a:blip r:embed="rId3"/>
                <a:stretch>
                  <a:fillRect b="-2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5803774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2.959 ± 0.005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3.125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3.338 ± 0.019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3.478 ± 0.089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0.094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3.683 ± 0.017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3.786 ± 0.069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4.098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4.159 ± 0.058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5803774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951111" t="-3077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2.959 ± 0.005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3.125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3.338 ± 0.019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3.478 ± 0.089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0.094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3.683 ± 0.017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3.786 ± 0.069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4.098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4.159 ± 0.058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730709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3.601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3.664 ± 0.061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+ 1.7 %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3.653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3.719 ± 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3.728 ± 0.020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3.806 ± 0.072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3.644 ± 0.010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3.730 ± 0.083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+ 2.4 %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730709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951111" t="-4615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3.601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3.664 ± 0.061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+ 1.7 %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3.653 ± 0.011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3.719 ± 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+ 1.8 %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3.728 ± 0.020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3.806 ± 0.072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3.644 ± 0.010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3.730 ± 0.083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+ 2.4 %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0">
                <a:extLst>
                  <a:ext uri="{FF2B5EF4-FFF2-40B4-BE49-F238E27FC236}">
                    <a16:creationId xmlns:a16="http://schemas.microsoft.com/office/drawing/2014/main" id="{A3199DB8-9A88-4392-B04C-487FE4CDC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3724013"/>
                  </p:ext>
                </p:extLst>
              </p:nvPr>
            </p:nvGraphicFramePr>
            <p:xfrm>
              <a:off x="1692534" y="4334995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39.718 ± 0.135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40.208 ± 0.307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40.850 ± 0.193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41.107 ± 0.249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42.127 ± 0.270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42.234 ± 0.261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41.678 ± 0.179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42.139 ± 0.344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0">
                <a:extLst>
                  <a:ext uri="{FF2B5EF4-FFF2-40B4-BE49-F238E27FC236}">
                    <a16:creationId xmlns:a16="http://schemas.microsoft.com/office/drawing/2014/main" id="{A3199DB8-9A88-4392-B04C-487FE4CDC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3724013"/>
                  </p:ext>
                </p:extLst>
              </p:nvPr>
            </p:nvGraphicFramePr>
            <p:xfrm>
              <a:off x="1692534" y="4334995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951111" t="-3077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39.718 ± 0.135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40.208 ± 0.307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40.850 ± 0.193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41.107 ± 0.249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42.127 ± 0.270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42.234 ± 0.261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+ 0.3 %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41.678 ± 0.179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42.139 ± 0.344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+ 1.1 %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38788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H4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/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∆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Test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Baseline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RMSE</m:t>
                        </m:r>
                      </m:den>
                    </m:f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×100 %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(+)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악화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커짐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음수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(-)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면 성능 개선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오차 감소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Elasticity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RMSE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 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SNR</m:t>
                        </m:r>
                        <m:r>
                          <m:rPr>
                            <m:nor/>
                          </m:rPr>
                          <a:rPr lang="en-US" altLang="ko-KR" sz="11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%</m:t>
                        </m:r>
                      </m:den>
                    </m:f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,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감소할 때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몇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%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증가하는가를 나타내는 지표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SNR-down RMSE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모든 변조에서의 총 평균값을 의미함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KoPub바탕체 Light" panose="00000300000000000000" pitchFamily="2" charset="-127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95D7E-DE37-424B-80F5-78DF288B7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5706595"/>
                <a:ext cx="8147888" cy="1151405"/>
              </a:xfrm>
              <a:prstGeom prst="rect">
                <a:avLst/>
              </a:prstGeom>
              <a:blipFill>
                <a:blip r:embed="rId3"/>
                <a:stretch>
                  <a:fillRect b="-2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19390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2.817 ± 0.007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2.898 ± 0.049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3.081 ± 0.006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3.157 ± 0.048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3.230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3.315 ± 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3.335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3.408 ± 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10">
                <a:extLst>
                  <a:ext uri="{FF2B5EF4-FFF2-40B4-BE49-F238E27FC236}">
                    <a16:creationId xmlns:a16="http://schemas.microsoft.com/office/drawing/2014/main" id="{1A37960F-FE99-432C-9F2C-0195555ABF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3719390"/>
                  </p:ext>
                </p:extLst>
              </p:nvPr>
            </p:nvGraphicFramePr>
            <p:xfrm>
              <a:off x="1692536" y="1420111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951111" t="-3077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2.817 ± 0.007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2.898 ± 0.049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3.081 ± 0.006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3.157 ± 0.048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+ 2.5 %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3.230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3.315 ± 0.050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3.335 ± 0.014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3.408 ± 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+ 2.2 %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5079212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3.056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3.210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3.186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3.346 ± 0.103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+ 5.0 %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3.310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3.471 ± 0.107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3.164 ± 0.032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3.374 ± 0.151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+ 6.6 %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1BC1C50-1904-43BF-814B-77EBA7A5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5079212"/>
                  </p:ext>
                </p:extLst>
              </p:nvPr>
            </p:nvGraphicFramePr>
            <p:xfrm>
              <a:off x="1692535" y="2877553"/>
              <a:ext cx="5758927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9801">
                      <a:extLst>
                        <a:ext uri="{9D8B030D-6E8A-4147-A177-3AD203B41FA5}">
                          <a16:colId xmlns:a16="http://schemas.microsoft.com/office/drawing/2014/main" val="218878243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3165762690"/>
                        </a:ext>
                      </a:extLst>
                    </a:gridCol>
                    <a:gridCol w="1054250">
                      <a:extLst>
                        <a:ext uri="{9D8B030D-6E8A-4147-A177-3AD203B41FA5}">
                          <a16:colId xmlns:a16="http://schemas.microsoft.com/office/drawing/2014/main" val="2298524958"/>
                        </a:ext>
                      </a:extLst>
                    </a:gridCol>
                    <a:gridCol w="1226371">
                      <a:extLst>
                        <a:ext uri="{9D8B030D-6E8A-4147-A177-3AD203B41FA5}">
                          <a16:colId xmlns:a16="http://schemas.microsoft.com/office/drawing/2014/main" val="2598440555"/>
                        </a:ext>
                      </a:extLst>
                    </a:gridCol>
                    <a:gridCol w="882127">
                      <a:extLst>
                        <a:ext uri="{9D8B030D-6E8A-4147-A177-3AD203B41FA5}">
                          <a16:colId xmlns:a16="http://schemas.microsoft.com/office/drawing/2014/main" val="2860386952"/>
                        </a:ext>
                      </a:extLst>
                    </a:gridCol>
                    <a:gridCol w="742278">
                      <a:extLst>
                        <a:ext uri="{9D8B030D-6E8A-4147-A177-3AD203B41FA5}">
                          <a16:colId xmlns:a16="http://schemas.microsoft.com/office/drawing/2014/main" val="2790988601"/>
                        </a:ext>
                      </a:extLst>
                    </a:gridCol>
                    <a:gridCol w="548641">
                      <a:extLst>
                        <a:ext uri="{9D8B030D-6E8A-4147-A177-3AD203B41FA5}">
                          <a16:colId xmlns:a16="http://schemas.microsoft.com/office/drawing/2014/main" val="40301804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SNR-down RMSE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Elasticity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951111" t="-4615" r="-2222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057294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3.056 ± 0.008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3.210 ± 0.099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+ 5.1 %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164237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3.186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3.346 ± 0.103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+ 5.0 %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735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3.310 ± 0.015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3.471 ± 0.107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+ 4.9 %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6963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3.164 ± 0.032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3.374 ± 0.151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+ 6.6 %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5163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6865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3000" y="1467711"/>
                <a:ext cx="8531152" cy="2475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H5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결과에 따르면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Co-Attention Block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Concat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교체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하면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특히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모든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Horizon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크게 하락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CC (Correlation Coefficient)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소폭 하락함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 분석에 따르면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지난주 같은 시간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정보가 유용하고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↑)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데이터 흐름이 비교적 안정적으로 재현되며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↓)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여러 변수가 그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함께 움직임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Cross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sync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↑)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Co-Attention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이때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1D Conv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토큰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(Query)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GRU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문맥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(Key / Value)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선택적으로 가중해 결합하여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CC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저하를 억제하고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악화를 줄이나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Weather, ETTm1, ETTh1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정합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(WAI) &lt; 0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혹은 전체 지수가 낮아 선택적 결합을 해도 이득이 작거나 혼재함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0" y="1467711"/>
                <a:ext cx="8531152" cy="2475037"/>
              </a:xfrm>
              <a:prstGeom prst="rect">
                <a:avLst/>
              </a:prstGeom>
              <a:blipFill>
                <a:blip r:embed="rId3"/>
                <a:stretch>
                  <a:fillRect l="-143" b="-1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11">
                <a:extLst>
                  <a:ext uri="{FF2B5EF4-FFF2-40B4-BE49-F238E27FC236}">
                    <a16:creationId xmlns:a16="http://schemas.microsoft.com/office/drawing/2014/main" id="{D0421725-C542-42B2-9B10-CD5420E27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859206"/>
                  </p:ext>
                </p:extLst>
              </p:nvPr>
            </p:nvGraphicFramePr>
            <p:xfrm>
              <a:off x="1524001" y="4419801"/>
              <a:ext cx="6095997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15286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92522063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3890391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103868768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55058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36041200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43703427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1481934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904398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ACF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Align</m:t>
                                    </m:r>
                                    <m:r>
                                      <a:rPr lang="en-US" altLang="ko-KR" sz="1000" b="1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index</m:t>
                                    </m:r>
                                  </m:e>
                                  <m:sub>
                                    <m:r>
                                      <a:rPr lang="en-US" altLang="ko-KR" sz="1000" b="1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Cross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sync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Phase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000" b="1" i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var</m:t>
                                    </m:r>
                                  </m:e>
                                  <m:sub>
                                    <m:r>
                                      <a:rPr lang="en-US" altLang="ko-KR" sz="1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83693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24844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0.8892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0.6389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0.4512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0.8085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309805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0.7271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0.0625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0.8319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383799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0.6211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0.3743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0.1770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499085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0.5699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0.3149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-0.1581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0.1514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666238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0.6091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0.4683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0.2759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-0.2967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0.1104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0.0987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0.4436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876211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11">
                <a:extLst>
                  <a:ext uri="{FF2B5EF4-FFF2-40B4-BE49-F238E27FC236}">
                    <a16:creationId xmlns:a16="http://schemas.microsoft.com/office/drawing/2014/main" id="{D0421725-C542-42B2-9B10-CD5420E271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859206"/>
                  </p:ext>
                </p:extLst>
              </p:nvPr>
            </p:nvGraphicFramePr>
            <p:xfrm>
              <a:off x="1524001" y="4419801"/>
              <a:ext cx="6095997" cy="170688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15286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92522063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3890391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103868768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55058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36041200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43703427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14819349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9043980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50000" t="-7500" r="-301802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49327" t="-7500" r="-200448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50450" t="-7500" r="-101351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50450" t="-7500" r="-1351" b="-61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836930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248442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0.8892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0.6389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0.4512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0.8085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3098056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0.7271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0.0625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0.2005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0.1673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0.4567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0.8319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3837995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0.7903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0.6211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0.3743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-0.0937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0.1770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4990854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0.7331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0.5699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0.3149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-0.1581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0.1514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0.5936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0.8794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6662389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0.6091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0.4683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0.2759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-0.2967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0.1104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0.0987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0.4436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 fontAlgn="b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0.8638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876211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1869A9B-29DE-43D7-A11B-E6A9D22909B3}"/>
              </a:ext>
            </a:extLst>
          </p:cNvPr>
          <p:cNvSpPr txBox="1"/>
          <p:nvPr/>
        </p:nvSpPr>
        <p:spPr>
          <a:xfrm>
            <a:off x="1158261" y="6180054"/>
            <a:ext cx="682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각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Datasets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데이터 분석 결과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03D1F-3D5F-4503-8ED4-8C02AF0DCDA4}"/>
              </a:ext>
            </a:extLst>
          </p:cNvPr>
          <p:cNvSpPr txBox="1"/>
          <p:nvPr/>
        </p:nvSpPr>
        <p:spPr>
          <a:xfrm>
            <a:off x="107409" y="6567155"/>
            <a:ext cx="58200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Lag: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몇 스텝 전의 값을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참고하느냐에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 대한 시간 간격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. (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얼마나 과거를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참고하느냐에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 대한 시간 간격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KoPub바탕체 Light" panose="00000300000000000000" pitchFamily="2" charset="-127"/>
                <a:ea typeface="KoPub바탕체 Light" panose="000003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56319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4593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24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4593565" cy="461665"/>
              </a:xfrm>
              <a:prstGeom prst="rect">
                <a:avLst/>
              </a:prstGeom>
              <a:blipFill>
                <a:blip r:embed="rId3"/>
                <a:stretch>
                  <a:fillRect l="-2125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947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“Lag P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일주일 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과거와 현재가 얼마나 닮았는가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수치화하는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지표로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클수록 해당 주기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패턴이 반복된다는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클 수록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유용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과거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시점의 정보가 현재와 잘 맞닿음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높다는 것은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어제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지난주 같은 시간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패턴이 잘 반복된다는 의미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본 실험에서는 채널 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ACF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구하여 밴드 평균값을 낸 뒤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다시 채널 평균값을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)(</m:t>
                              </m:r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nary>
                        </m:den>
                      </m:f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ACF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ACF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ACF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947445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CBC8E-3756-4C0F-AC21-DF264717CB18}"/>
                  </a:ext>
                </a:extLst>
              </p:cNvPr>
              <p:cNvSpPr txBox="1"/>
              <p:nvPr/>
            </p:nvSpPr>
            <p:spPr>
              <a:xfrm>
                <a:off x="187517" y="6028927"/>
                <a:ext cx="6202525" cy="89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시계열의 총 길이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t: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시간 인덱스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c: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인덱스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atinLnBrk="1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P: Lag,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얼마나 과거를 참고하느냐 라는 시간 간격</a:t>
                </a:r>
                <a:b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시간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관측 값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시간에 따른 관측 값 평균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CBC8E-3756-4C0F-AC21-DF264717C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7" y="6028927"/>
                <a:ext cx="6202525" cy="899670"/>
              </a:xfrm>
              <a:prstGeom prst="rect">
                <a:avLst/>
              </a:prstGeom>
              <a:blipFill>
                <a:blip r:embed="rId5"/>
                <a:stretch>
                  <a:fillRect b="-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2977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var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endParaRPr kumimoji="0"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blipFill>
                <a:blip r:embed="rId3"/>
                <a:stretch>
                  <a:fillRect l="-1854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69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4592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ko-KR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주를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인 원으로 전환하여 피크가 발생한 시점을 각도로 전환하여 측정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작다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피크 타이밍이 안정 → 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비슷한 시각에 피크가 발생함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위상 안정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 작음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c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시계열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연속 블록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분할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𝑖𝑃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𝑖𝑃</m:t>
                              </m:r>
                              <m: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…,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=0,…,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예를 들어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Data: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10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(→T: 240), P: 24, c: 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전력부하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”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= 2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세 번째 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48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49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ko-KR" sz="1400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i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…, 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71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KoPub바탕체 Light" panose="00000300000000000000" pitchFamily="2" charset="-127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개의 시점을 포함하는 블록이 생성됨 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48</m:t>
                        </m:r>
                      </m:sub>
                      <m:sup>
                        <m:d>
                          <m:dPr>
                            <m:ctrlP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KoPub바탕체 Light" panose="00000300000000000000" pitchFamily="2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세 번째 날의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시의 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전력부하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“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정보라고 이해할 수 있음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블록에서 최댓값 시점 </a:t>
                </a:r>
                <a14:m>
                  <m:oMath xmlns:m="http://schemas.openxmlformats.org/officeDocument/2006/math"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𝜏</m:t>
                    </m:r>
                    <m:r>
                      <a:rPr lang="ko-KR" altLang="en-US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추출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결측은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건너뜀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𝑖𝑃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𝜏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∈{0,…,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−1}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4592989"/>
              </a:xfrm>
              <a:prstGeom prst="rect">
                <a:avLst/>
              </a:prstGeom>
              <a:blipFill>
                <a:blip r:embed="rId4"/>
                <a:stretch>
                  <a:fillRect l="-144" r="-10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59C6A12-8B96-4A94-A4CB-8B4CCEEA071D}"/>
              </a:ext>
            </a:extLst>
          </p:cNvPr>
          <p:cNvSpPr txBox="1"/>
          <p:nvPr/>
        </p:nvSpPr>
        <p:spPr>
          <a:xfrm>
            <a:off x="187517" y="6238672"/>
            <a:ext cx="6202525" cy="573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 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시계열 길이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B 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밴드 폭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/ c 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변수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인덱스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 : Lag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길이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얼마나 과거를 참고하느냐 라는 시간 간격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65811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var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endParaRPr kumimoji="0"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5263620" cy="461665"/>
              </a:xfrm>
              <a:prstGeom prst="rect">
                <a:avLst/>
              </a:prstGeom>
              <a:blipFill>
                <a:blip r:embed="rId3"/>
                <a:stretch>
                  <a:fillRect l="-1854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3801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ko-KR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주를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인 원으로 전환하여 피크가 발생한 시점을 각도로 전환하여 측정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Phase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sz="14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작다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피크 타이밍이 안정 → 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주 비슷한 시각에 피크가 발생함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위상 안정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 작음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시점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각도로 변환함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den>
                      </m:f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radian</m:t>
                      </m:r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4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블록 별 각도들의 평균 방향과 집중 정도를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func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func>
                        </m:e>
                      </m:nary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5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원형 분산으로 바꾸고 채널 평균을 계산함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3801425"/>
              </a:xfrm>
              <a:prstGeom prst="rect">
                <a:avLst/>
              </a:prstGeom>
              <a:blipFill>
                <a:blip r:embed="rId4"/>
                <a:stretch>
                  <a:fillRect l="-144" r="-10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0978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54500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Cross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sync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endParaRPr kumimoji="0"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5450018" cy="461665"/>
              </a:xfrm>
              <a:prstGeom prst="rect">
                <a:avLst/>
              </a:prstGeom>
              <a:blipFill>
                <a:blip r:embed="rId3"/>
                <a:stretch>
                  <a:fillRect l="-1790" t="-9211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5122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1400" b="1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Times New Roman" panose="02020603050405020304" pitchFamily="18" charset="0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Cross</m:t>
                        </m:r>
                        <m:r>
                          <m:rPr>
                            <m:nor/>
                          </m:rPr>
                          <a:rPr kumimoji="0" lang="en-US" altLang="ko-KR" sz="1400" b="1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Times New Roman" panose="02020603050405020304" pitchFamily="18" charset="0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1400" b="1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Times New Roman" panose="02020603050405020304" pitchFamily="18" charset="0"/>
                            <a:ea typeface="KoPub돋움체 Bold" panose="00000800000000000000" pitchFamily="2" charset="-127"/>
                            <a:cs typeface="Times New Roman" panose="02020603050405020304" pitchFamily="18" charset="0"/>
                          </a:rPr>
                          <m:t>sync</m:t>
                        </m:r>
                      </m:e>
                      <m:sub>
                        <m:r>
                          <a:rPr kumimoji="0"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𝑷</m:t>
                        </m:r>
                      </m:sub>
                    </m:sSub>
                    <m:r>
                      <a:rPr kumimoji="0" lang="en-US" altLang="ko-KR" sz="1400" b="1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  <a:ea typeface="KoPub돋움체 Bold" panose="00000800000000000000" pitchFamily="2" charset="-127"/>
                      </a:rPr>
                      <m:t>: 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여러 변수쌍이 같은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동시에 움직이는지를 확인하는 지표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동시에 움직이면 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강조할 전역적 근거가 큼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채널 별 평균을 제거하여 스케일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오프셋의 영향을 줄임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2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정규화 상수를 계산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ko-KR" altLang="en-US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3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채널 전 쌍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j),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&lt;j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쌍 별 교차상관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(Lag P)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xcorr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KoPub바탕체 Light" panose="00000300000000000000" pitchFamily="2" charset="-127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+mj-ea"/>
                  <a:buAutoNum type="circleNumDbPlain" startAt="4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모든 쌍을 사용해 평균을 구함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sync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ko-KR" sz="1400" b="0" i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xcorr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5122171"/>
              </a:xfrm>
              <a:prstGeom prst="rect">
                <a:avLst/>
              </a:prstGeom>
              <a:blipFill>
                <a:blip r:embed="rId4"/>
                <a:stretch>
                  <a:fillRect l="-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0881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9331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240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Align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_</m:t>
                        </m:r>
                        <m:r>
                          <m:rPr>
                            <m:nor/>
                          </m:rPr>
                          <a:rPr kumimoji="0" lang="en-US" altLang="ko-KR" sz="2400" b="0" i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KoPub돋움체 Bold" panose="00000800000000000000" pitchFamily="2" charset="-127"/>
                            <a:ea typeface="KoPub돋움체 Bold" panose="00000800000000000000" pitchFamily="2" charset="-127"/>
                          </a:rPr>
                          <m:t>index</m:t>
                        </m:r>
                      </m:e>
                      <m:sub>
                        <m:r>
                          <a:rPr kumimoji="0" lang="en-US" altLang="ko-KR" sz="2400" b="0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  <a:ea typeface="KoPub돋움체 Bold" panose="00000800000000000000" pitchFamily="2" charset="-127"/>
                          </a:rPr>
                          <m:t>𝑃</m:t>
                        </m:r>
                      </m:sub>
                    </m:sSub>
                  </m:oMath>
                </a14:m>
                <a:r>
                  <a:rPr kumimoji="0" lang="en-US" altLang="ko-KR" sz="2400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, DAI, WAI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933180" cy="461665"/>
              </a:xfrm>
              <a:prstGeom prst="rect">
                <a:avLst/>
              </a:prstGeom>
              <a:blipFill>
                <a:blip r:embed="rId3"/>
                <a:stretch>
                  <a:fillRect l="-1407" t="-9211" r="-440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445090" cy="3924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Align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index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하나의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유용성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(ii)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타이밍 안정성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(iii)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다변수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동조화를 하나의 수치로 요약한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크기가 양수일수록 해당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가 유용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안정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동조하여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골라 쓰는 결합이 맞아 떨어질 환경임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크기가 음수일수록 해당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P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는 덜 유용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불안정하여 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강조해도 효과가 작거나 혼재할 소지 있음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Align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index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ACF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유</m:t>
                          </m:r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용</m:t>
                          </m:r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성</m:t>
                          </m:r>
                        </m:lim>
                      </m:limLow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Phase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var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타이밍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안</m:t>
                          </m:r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정</m:t>
                          </m:r>
                        </m:lim>
                      </m:limLow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Cross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400" b="0" i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sync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동조화</m:t>
                          </m:r>
                        </m:lim>
                      </m:limLow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DAI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(Day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Alignment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Index):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하루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에서의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Align_index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DAI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sync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𝑑𝑎𝑦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WAI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(Week Alignment Index):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일주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Lag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에서의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Align_index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AI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ACF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𝑤𝑒𝑒𝑘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Phase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𝑤𝑒𝑒𝑘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sync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𝑤𝑒𝑒𝑘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445090" cy="3924216"/>
              </a:xfrm>
              <a:prstGeom prst="rect">
                <a:avLst/>
              </a:prstGeom>
              <a:blipFill>
                <a:blip r:embed="rId4"/>
                <a:stretch>
                  <a:fillRect l="-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0475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FD78339-FC77-4E63-9877-148200A9B01E}"/>
              </a:ext>
            </a:extLst>
          </p:cNvPr>
          <p:cNvGraphicFramePr>
            <a:graphicFrameLocks noGrp="1"/>
          </p:cNvGraphicFramePr>
          <p:nvPr/>
        </p:nvGraphicFramePr>
        <p:xfrm>
          <a:off x="483992" y="1420111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2.960 ± 0.007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0.9856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3.181 ± 0.056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0.9834 ± 0.0006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–0.0022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3.345 ± 0.008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0.9817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3.633 ± 0.059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0.9784 ± 0.0007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3.693 ± 0.020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0.9777 ± 0.0003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4.048 ± 0.056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0.9732 ± 0.0008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–0.0045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4.097 ± 0.011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0.9727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4.361 ± 0.013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0.9691 ± 0.0002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0110EDC3-4DE4-4F73-910D-B9B64F8804FC}"/>
              </a:ext>
            </a:extLst>
          </p:cNvPr>
          <p:cNvGraphicFramePr>
            <a:graphicFrameLocks noGrp="1"/>
          </p:cNvGraphicFramePr>
          <p:nvPr/>
        </p:nvGraphicFramePr>
        <p:xfrm>
          <a:off x="483992" y="4026282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3.603 ± 0.011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0.9807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3.823 ± 0.053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+ 6.1 %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0.9779 ± 0.0005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–0.0029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3.653 ± 0.011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0.9812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3.937 ± 0.014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+ 7.8%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0.9776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3.728 ± 0.019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0.9810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4.035 ± 0.034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+ 8.2 %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0.9771 ± 0.0003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3.643 ± 0.015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0.9809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3.893 ± 0.013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0.9774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4298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FD78339-FC77-4E63-9877-148200A9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836159"/>
              </p:ext>
            </p:extLst>
          </p:nvPr>
        </p:nvGraphicFramePr>
        <p:xfrm>
          <a:off x="483992" y="1420111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2.817 ± 0.007</a:t>
                      </a:r>
                      <a:endParaRPr lang="ko-KR" alt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0.8599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2.829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0.8584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3.081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3.093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0.8299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0.8142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3.265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+ 1.1 %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0.8105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0.0023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–0.0038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0.8058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3.351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0.8044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–0.0014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0110EDC3-4DE4-4F73-910D-B9B64F880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18185"/>
              </p:ext>
            </p:extLst>
          </p:nvPr>
        </p:nvGraphicFramePr>
        <p:xfrm>
          <a:off x="483992" y="4026282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0.008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0.8406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0.0009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3.134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0.024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0.8248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3.293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0.030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+ 3.4 %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0.8101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–0.0147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0.015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0.8056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0.0019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3.430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0.025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+ 3.6 %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0.7863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–0.0193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3.164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0.8145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0.0032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3.330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0.041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0.7882 </a:t>
                      </a:r>
                      <a:r>
                        <a:rPr lang="en-US" altLang="ko-KR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 0.0053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–0.0263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5279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H5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FD78339-FC77-4E63-9877-148200A9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77749"/>
              </p:ext>
            </p:extLst>
          </p:nvPr>
        </p:nvGraphicFramePr>
        <p:xfrm>
          <a:off x="483992" y="1420111"/>
          <a:ext cx="8176015" cy="2499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0467">
                  <a:extLst>
                    <a:ext uri="{9D8B030D-6E8A-4147-A177-3AD203B41FA5}">
                      <a16:colId xmlns:a16="http://schemas.microsoft.com/office/drawing/2014/main" val="2505276975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6967432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9121394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43246552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366367777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3465607320"/>
                    </a:ext>
                  </a:extLst>
                </a:gridCol>
                <a:gridCol w="1345612">
                  <a:extLst>
                    <a:ext uri="{9D8B030D-6E8A-4147-A177-3AD203B41FA5}">
                      <a16:colId xmlns:a16="http://schemas.microsoft.com/office/drawing/2014/main" val="1845301920"/>
                    </a:ext>
                  </a:extLst>
                </a:gridCol>
              </a:tblGrid>
              <a:tr h="16157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CC</a:t>
                      </a:r>
                    </a:p>
                    <a:p>
                      <a:pPr algn="l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 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Baseline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23565"/>
                  </a:ext>
                </a:extLst>
              </a:tr>
              <a:tr h="140419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39.678 ± 0.136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0.9929 ± 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66422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40.289 ± 0.129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0.9926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77913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40.823 ± 0.186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0.9925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94341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41.099 ± 0.185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+ 0.7 %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0.9924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6808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42.055 ± 0.301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0.9920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0489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41.831 ± 0.102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–0.5 %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0.9921 ± 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059846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(Co-Attn)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41.677 ± 0.176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0.9921 ± 0.0001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85215"/>
                  </a:ext>
                </a:extLst>
              </a:tr>
              <a:tr h="140419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Ablation (</a:t>
                      </a:r>
                      <a:r>
                        <a:rPr lang="en-US" altLang="ko-KR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41.805 ± 0.116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+ 0.3 %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0.9921 ± 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–0.0000</a:t>
                      </a:r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3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3356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824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결과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(Reversible Instance Normalization)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을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OFF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하면 대부분의 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성능이 크게 하락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것을 확인할 수 있었음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 (ETTm1, m2, h1, h2) Datasets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 OFF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시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가 약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33 %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하였으며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Weather Dataset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약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22 ~ 25 %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증가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악화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것을 확인할 수 있었음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분포 </a:t>
                </a:r>
                <a:r>
                  <a:rPr lang="ko-KR" altLang="en-US" sz="14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드리프트를</a:t>
                </a:r>
                <a:r>
                  <a:rPr lang="ko-KR" altLang="en-US" sz="14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줄인다는 가설은 일부 지지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되는 것으로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분포 </a:t>
                </a:r>
                <a:r>
                  <a:rPr lang="ko-KR" altLang="en-US" sz="12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관점에서</a:t>
                </a:r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b="1" i="1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(Mean)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정렬은 폭넓게 작용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하여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성능 개선의 주된 원인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으로 생각됨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분포 </a:t>
                </a:r>
                <a:r>
                  <a:rPr lang="ko-KR" altLang="en-US" sz="1200" b="1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관점에서</a:t>
                </a:r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1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200" b="1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1200" b="1" i="1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(Variance)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은 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의존하되 예측 오차는 줄여 </a:t>
                </a:r>
                <a:r>
                  <a:rPr lang="ko-KR" altLang="en-US" sz="1200" b="1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실용 관점에서 이득은 유지</a:t>
                </a:r>
                <a:r>
                  <a:rPr lang="ko-KR" altLang="en-US" sz="12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하는 것으로 생각됨</a:t>
                </a:r>
                <a:endParaRPr lang="en-US" altLang="ko-KR" sz="12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824684"/>
              </a:xfrm>
              <a:prstGeom prst="rect">
                <a:avLst/>
              </a:prstGeom>
              <a:blipFill>
                <a:blip r:embed="rId3"/>
                <a:stretch>
                  <a:fillRect l="-143" b="-8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6F89240C-A145-4165-8597-AFF2CBC59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25879"/>
                  </p:ext>
                </p:extLst>
              </p:nvPr>
            </p:nvGraphicFramePr>
            <p:xfrm>
              <a:off x="2445325" y="4421802"/>
              <a:ext cx="4253348" cy="1758252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3337">
                      <a:extLst>
                        <a:ext uri="{9D8B030D-6E8A-4147-A177-3AD203B41FA5}">
                          <a16:colId xmlns:a16="http://schemas.microsoft.com/office/drawing/2014/main" val="560906697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410681636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73076585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2561879976"/>
                        </a:ext>
                      </a:extLst>
                    </a:gridCol>
                  </a:tblGrid>
                  <a:tr h="33872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r>
                                    <a:rPr lang="ko-KR" altLang="en-US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𝑎𝑏𝑠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sSup>
                                    <m:sSupPr>
                                      <m:ctrlPr>
                                        <a:rPr lang="en-US" altLang="ko-KR" sz="1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ko-KR" altLang="en-US" sz="1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ko-KR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𝑎𝑏𝑠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0478740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1.4481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–0.4622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–3.6988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425720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0.3436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0.6808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0.7271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9302704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2.7815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1.1541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4.6218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6818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2.6948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1.5792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20.6237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462899"/>
                      </a:ext>
                    </a:extLst>
                  </a:tr>
                  <a:tr h="20565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14.5343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5.6061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–977.9211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71219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2">
                <a:extLst>
                  <a:ext uri="{FF2B5EF4-FFF2-40B4-BE49-F238E27FC236}">
                    <a16:creationId xmlns:a16="http://schemas.microsoft.com/office/drawing/2014/main" id="{6F89240C-A145-4165-8597-AFF2CBC59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25879"/>
                  </p:ext>
                </p:extLst>
              </p:nvPr>
            </p:nvGraphicFramePr>
            <p:xfrm>
              <a:off x="2445325" y="4421802"/>
              <a:ext cx="4253348" cy="1758252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3337">
                      <a:extLst>
                        <a:ext uri="{9D8B030D-6E8A-4147-A177-3AD203B41FA5}">
                          <a16:colId xmlns:a16="http://schemas.microsoft.com/office/drawing/2014/main" val="560906697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410681636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730765855"/>
                        </a:ext>
                      </a:extLst>
                    </a:gridCol>
                    <a:gridCol w="1063337">
                      <a:extLst>
                        <a:ext uri="{9D8B030D-6E8A-4147-A177-3AD203B41FA5}">
                          <a16:colId xmlns:a16="http://schemas.microsoft.com/office/drawing/2014/main" val="2561879976"/>
                        </a:ext>
                      </a:extLst>
                    </a:gridCol>
                  </a:tblGrid>
                  <a:tr h="4628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(OFF- ON)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99429" t="-2632" r="-100571" b="-2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01149" t="-2632" r="-1149" b="-28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047874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1.4481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–0.4622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–3.6988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42572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0.3436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0.6808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0.7271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930270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2.7815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1.1541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4.6218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681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2.6948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1.5792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20.6237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4628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14.5343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5.6061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–977.9211</a:t>
                          </a:r>
                          <a:endParaRPr lang="ko-KR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71219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DC93FA-DFC5-4C38-9599-C625E187DFA5}"/>
              </a:ext>
            </a:extLst>
          </p:cNvPr>
          <p:cNvSpPr txBox="1"/>
          <p:nvPr/>
        </p:nvSpPr>
        <p:spPr>
          <a:xfrm>
            <a:off x="1158261" y="6180054"/>
            <a:ext cx="6827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Horizon = 720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에서의 분포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결과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값이 양수면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감소시켰다는 의미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234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531853" cy="2875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Validation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Test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구간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길이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 (Horizon)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잘라 각 창의 평균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분산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구간의 평균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분산에 비해 얼마나 멀어졌는지를 측정하여 데이터의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정도를 확인함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ETTh2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는 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비해 표준편차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이상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구간 평균에 비해 이동했으며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 또한 기준 대비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80 ~ 90 %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변동하는 고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임이 확인됨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그러나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개별 수준 상관과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감소량을 보았을 때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감소가 클 수록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개선도 큰 것으로 보이지만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감소와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 간의 상관이 낮았음</a:t>
                </a:r>
                <a:endParaRPr lang="en-US" altLang="ko-KR" sz="1400" b="0" i="1" dirty="0">
                  <a:latin typeface="Cambria Math" panose="020405030504060302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정렬 외에도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학습 안정화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/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스케일 일관화를 통해 이득을 낸 것으로 추정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F88212-9485-4C83-B023-FA7A754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531853" cy="2875146"/>
              </a:xfrm>
              <a:prstGeom prst="rect">
                <a:avLst/>
              </a:prstGeom>
              <a:blipFill>
                <a:blip r:embed="rId3"/>
                <a:stretch>
                  <a:fillRect l="-143" b="-12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A518C50A-41B8-414D-B855-728BD2E4BC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6165"/>
                  </p:ext>
                </p:extLst>
              </p:nvPr>
            </p:nvGraphicFramePr>
            <p:xfrm>
              <a:off x="668954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19544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2.45 ± 1.34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 ± 0.60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18.24 ± 14.76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 ± 0.75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 ± 0.43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23.62 ± 8.11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2.97 ± 0.13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1.48 ± 0.35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25.69 ± 9.49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 ± 0.10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1.58 ± 0.34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 ± 10.44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A518C50A-41B8-414D-B855-728BD2E4BC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6165"/>
                  </p:ext>
                </p:extLst>
              </p:nvPr>
            </p:nvGraphicFramePr>
            <p:xfrm>
              <a:off x="668954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96875" t="-3077" r="-105625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86145" t="-3077" r="-1807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2.45 ± 1.34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 ± 0.60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18.24 ± 14.76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 ± 0.75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 ± 0.43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23.62 ± 8.11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2.97 ± 0.13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1.48 ± 0.35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25.69 ± 9.49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2.69 ± 0.10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1.58 ± 0.34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20.62 ± 10.44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7A53CB09-2A60-41A5-A020-B6793F183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54404"/>
                  </p:ext>
                </p:extLst>
              </p:nvPr>
            </p:nvGraphicFramePr>
            <p:xfrm>
              <a:off x="4683350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19544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2.36 ± 1.05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0.46 ± 0.39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–3.21 ±11.42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2.27 ± 0.90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0.17 ± 0.37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–8.55 ± 6.43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2.33 ± 0.77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0.39 ± 0.48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–14.27 ± 6.77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18291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 ± 0.33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 ± 0.64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 ± 17.26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7A53CB09-2A60-41A5-A020-B6793F183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54404"/>
                  </p:ext>
                </p:extLst>
              </p:nvPr>
            </p:nvGraphicFramePr>
            <p:xfrm>
              <a:off x="4683350" y="4646069"/>
              <a:ext cx="3903046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8401">
                      <a:extLst>
                        <a:ext uri="{9D8B030D-6E8A-4147-A177-3AD203B41FA5}">
                          <a16:colId xmlns:a16="http://schemas.microsoft.com/office/drawing/2014/main" val="4110142914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915970128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1696558988"/>
                        </a:ext>
                      </a:extLst>
                    </a:gridCol>
                    <a:gridCol w="1012722">
                      <a:extLst>
                        <a:ext uri="{9D8B030D-6E8A-4147-A177-3AD203B41FA5}">
                          <a16:colId xmlns:a16="http://schemas.microsoft.com/office/drawing/2014/main" val="292624919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(mean ± 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96875" t="-3077" r="-105000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86145" t="-3077" r="-1205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83133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2.36 ± 1.05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0.46 ± 0.39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–3.21 ±11.42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97765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2.27 ± 0.90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0.17 ± 0.37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–8.55 ± 6.43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90640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2.33 ± 0.77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0.39 ± 0.48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–14.27 ± 6.77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16198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2.78 ± 0.33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1.15 ± 0.64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4.62 ± 17.26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0077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725028C-CC65-49A2-ADAB-DEDAA1FCEFBA}"/>
              </a:ext>
            </a:extLst>
          </p:cNvPr>
          <p:cNvSpPr txBox="1"/>
          <p:nvPr/>
        </p:nvSpPr>
        <p:spPr>
          <a:xfrm>
            <a:off x="1063224" y="6059271"/>
            <a:ext cx="70175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(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좌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)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, (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우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)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ETTh2</a:t>
            </a:r>
            <a:r>
              <a:rPr lang="en-US" altLang="ko-KR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 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에 대한 </a:t>
            </a:r>
            <a:r>
              <a:rPr lang="ko-KR" altLang="en-US" sz="1400" dirty="0" err="1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드리프트</a:t>
            </a:r>
            <a:r>
              <a:rPr lang="ko-KR" altLang="en-US" sz="1400" dirty="0">
                <a:latin typeface="KoPub바탕체 Light" panose="00000300000000000000" pitchFamily="2" charset="-127"/>
                <a:ea typeface="KoPub바탕체 Light" panose="00000300000000000000" pitchFamily="2" charset="-127"/>
                <a:cs typeface="times" panose="02020603050405020304" pitchFamily="18" charset="0"/>
              </a:rPr>
              <a:t> 감소량 표 </a:t>
            </a:r>
            <a:endParaRPr lang="en-US" altLang="ko-KR" sz="1400" dirty="0">
              <a:latin typeface="KoPub바탕체 Light" panose="00000300000000000000" pitchFamily="2" charset="-127"/>
              <a:ea typeface="KoPub바탕체 Light" panose="00000300000000000000" pitchFamily="2" charset="-127"/>
              <a:cs typeface="times" panose="02020603050405020304" pitchFamily="18" charset="0"/>
            </a:endParaRPr>
          </a:p>
          <a:p>
            <a:pPr algn="ctr"/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OFF – </a:t>
            </a:r>
            <a:r>
              <a:rPr lang="en-US" altLang="ko-KR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RevIN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값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+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ON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드리프트를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줄였다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는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드리프트를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늘렸다는 의미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99680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59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공통 표기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다변수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시계열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변수 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C)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훈련 구간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(60% Data)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기준 통계를 계산한 값은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mean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𝑡𝑟𝑎𝑖𝑛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std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),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Validation / Test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구간을 길이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 (Horizon)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분할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Window index = 1, …, 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라 하고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Window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에서의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채널별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평균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mean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),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채널 평균으로 집계한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𝜐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라 설정함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수치 안정화를 위해 분모에는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ko-KR" sz="14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를 더함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591496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6611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0603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, SD)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060377" cy="461665"/>
              </a:xfrm>
              <a:prstGeom prst="rect">
                <a:avLst/>
              </a:prstGeom>
              <a:blipFill>
                <a:blip r:embed="rId3"/>
                <a:stretch>
                  <a:fillRect l="-1610" t="-9211" r="-503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79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196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SD)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평균이 기준에서 몇 표준편차만큼 이동했는지 전반적 수준을 측정하는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훈련 기준 평균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 얼마나 떨어져 있는지를 표준편차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단위로 측정함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표의 값은 여러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값을 평균한 값으로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구간의 전반적 평균 이동 정도를 나타냄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SD)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값이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1.0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Validation / Test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평균이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평균에서 표준편차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만큼 떨어져 있음을 의미함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196662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2783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0395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(p95, SD)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039538" cy="461665"/>
              </a:xfrm>
              <a:prstGeom prst="rect">
                <a:avLst/>
              </a:prstGeom>
              <a:blipFill>
                <a:blip r:embed="rId3"/>
                <a:stretch>
                  <a:fillRect l="-1616" t="-9211" r="-606" b="-30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80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049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SD)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 이동이 가장 심한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이동 크기를 측정하는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훈련 기준 평균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에서 얼마나 떨어져 있는지를 표준편차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단위로 측정함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H6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 표의 값은 여러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값을 평균한 값으로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구간의 전반적 평균 이동 정도를 나타냄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중 상위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평균이 가장 많이 움직인 구간의 스케일 수치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KoPub바탕체 Light" panose="00000300000000000000" pitchFamily="2" charset="-127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SD) = 1.55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Validation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Test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평균이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평균에서 표준편차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1.55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배 만큼 떨어져 있음을 의미함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95) =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quantile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0.95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)}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049442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4275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376104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376104" cy="470000"/>
              </a:xfrm>
              <a:prstGeom prst="rect">
                <a:avLst/>
              </a:prstGeom>
              <a:blipFill>
                <a:blip r:embed="rId3"/>
                <a:stretch>
                  <a:fillRect l="-1531" t="-7792" b="-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48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분산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대비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분산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가 얼마나 상대적으로 달라졌는지를 측정하는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무단위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비율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평균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= 0.80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분산이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대비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80%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만큼 달라졌다는 의미임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값이 클수록 변동성 스케일 자체가 크게 흔들리는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라는 의미임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      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𝜐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480633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8885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4488" y="958446"/>
                <a:ext cx="6291146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295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2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Data-Level Analysis: H6: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2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drift (p95, </a:t>
                </a:r>
                <a:r>
                  <a:rPr lang="ko-KR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) </a:t>
                </a:r>
                <a:endParaRPr kumimoji="0" lang="en-US" altLang="ko-KR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958446"/>
                <a:ext cx="6291146" cy="470000"/>
              </a:xfrm>
              <a:prstGeom prst="rect">
                <a:avLst/>
              </a:prstGeom>
              <a:blipFill>
                <a:blip r:embed="rId3"/>
                <a:stretch>
                  <a:fillRect l="-1550" t="-7792" r="-872" b="-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3083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</a:t>
                </a: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분산 변화가 가장 심한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크기를 측정하는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무단위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비율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Window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중 상위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5%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분산 스케일이 얼마나 크게 변했는지를 확인하는 수치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drift (p95,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상대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) = 1.20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이면 분산이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Train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기준 대비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120%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만큼 달라졌다는 의미임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급격한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Regime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전환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이상 변동을 포착하는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400" i="1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𝜐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sz="1400" b="0" i="1" smtClean="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KoPub바탕체 Light" panose="00000300000000000000" pitchFamily="2" charset="-127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14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KoPub바탕체 Light" panose="00000300000000000000" pitchFamily="2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nary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      (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2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drift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95) = 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quantile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0.95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𝜐</m:t>
                              </m:r>
                            </m:sub>
                          </m:s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)}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3083601"/>
              </a:xfrm>
              <a:prstGeom prst="rect">
                <a:avLst/>
              </a:prstGeom>
              <a:blipFill>
                <a:blip r:embed="rId4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387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564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H6: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개별 수준 상관 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83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/>
              <p:nvPr/>
            </p:nvSpPr>
            <p:spPr>
              <a:xfrm>
                <a:off x="472999" y="1467711"/>
                <a:ext cx="8381567" cy="4230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개별 수준 상관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이란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mean / var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드리프트를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줄여서 그 실행에서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도 좋아졌는지를 각 실행별로 볼 수 있는 지표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 D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와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Horizon H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를 고정하고 여러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Seed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OFF – </a:t>
                </a:r>
                <a:r>
                  <a:rPr lang="en-US" altLang="ko-KR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RevIN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ON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 차이 값을 구하여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피어슨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상관을 계산함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양의 상관은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드리프트를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줄일 수록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개선도 있다는 의미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무상관 또는 음의 상관은 </a:t>
                </a:r>
                <a:r>
                  <a:rPr lang="ko-KR" altLang="en-US" sz="1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드리프트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감소에 따른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RMSE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개선이 약하거나 나빠진다는 의미로 해석됨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각 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Seed s </a:t>
                </a:r>
                <a:r>
                  <a:rPr lang="ko-KR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 대해 계산은 다음과 같음</a:t>
                </a:r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𝑂𝐹𝐹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𝑂𝑁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ko-KR" altLang="en-US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ko-KR" sz="1400" b="0" i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𝑂𝐹𝐹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𝑂𝑁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ko-KR" altLang="en-US" sz="140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𝑂𝐹𝐹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drift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𝑂𝑁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d>
                        <m:d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ko-KR" sz="140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({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}, {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ko-KR" altLang="en-US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})  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ko-KR" sz="1400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ko-KR" sz="14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corr</m:t>
                      </m:r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({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altLang="ko-KR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RMSE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}, {</m:t>
                      </m:r>
                      <m:sSubSup>
                        <m:sSubSupPr>
                          <m:ctrlP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ko-KR" altLang="en-US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KoPub바탕체 Light" panose="00000300000000000000" pitchFamily="2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m:t>𝑎𝑏𝑠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altLang="ko-KR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})</m:t>
                      </m:r>
                    </m:oMath>
                  </m:oMathPara>
                </a14:m>
                <a:endPara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71C9AB-1A2D-4CB0-991B-7132F1A4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1467711"/>
                <a:ext cx="8381567" cy="4230710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2010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데이터 자체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분포 요약은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84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82937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1.5944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0.8923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0.9518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1.1310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0.8724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0.9308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1.4703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82937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1.5944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0.8923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0.9518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1.1310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1.5748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0.8724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0.9419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1.1332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1.5507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0.9308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1.4703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0.9170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152871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0.9268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1.4029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1.3548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0.8531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152871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1.1343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1.5546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0.9268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1.1254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1.4597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0.8164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0.9164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1.1336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1.4029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0.7818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1.1446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1.3548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0.7480</a:t>
                          </a:r>
                          <a:endParaRPr lang="ko-KR" altLang="en-US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0.8531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3">
                <a:extLst>
                  <a:ext uri="{FF2B5EF4-FFF2-40B4-BE49-F238E27FC236}">
                    <a16:creationId xmlns:a16="http://schemas.microsoft.com/office/drawing/2014/main" id="{7A32D756-6BC9-4A95-B670-46DB5DBC0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960218"/>
                  </p:ext>
                </p:extLst>
              </p:nvPr>
            </p:nvGraphicFramePr>
            <p:xfrm>
              <a:off x="962807" y="4471149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1.0940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0.9529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0.5763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0.5593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1.2435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0.5364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3">
                <a:extLst>
                  <a:ext uri="{FF2B5EF4-FFF2-40B4-BE49-F238E27FC236}">
                    <a16:creationId xmlns:a16="http://schemas.microsoft.com/office/drawing/2014/main" id="{7A32D756-6BC9-4A95-B670-46DB5DBC0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960218"/>
                  </p:ext>
                </p:extLst>
              </p:nvPr>
            </p:nvGraphicFramePr>
            <p:xfrm>
              <a:off x="962807" y="4471149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Weather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0.5985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1.0940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0.9529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1.1229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0.5763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0.9185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1.1921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0.5593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1.0011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0.8768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1.2435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0.5364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1.2865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25196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데이터 자체 </a:t>
            </a:r>
            <a:r>
              <a:rPr lang="ko-KR" altLang="en-US" sz="1400" dirty="0" err="1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드리프트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분포 요약은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85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36646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0.5837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0.5715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0.8116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1.0765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0.5619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0.7660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0.7967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1.1183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0.5390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0.7383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8277E3D4-736F-436E-978B-3A796AB18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6636646"/>
                  </p:ext>
                </p:extLst>
              </p:nvPr>
            </p:nvGraphicFramePr>
            <p:xfrm>
              <a:off x="962809" y="1868693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0.5837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0.8373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1.1900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0.5715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0.7947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0.8116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1.0765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0.5619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0.7660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0.7967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1.1183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0.5390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0.7383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0.9661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061194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0502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p95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SD)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평균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drift (p95</a:t>
                          </a:r>
                          <a:r>
                            <a:rPr lang="en-US" altLang="ko-KR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상대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05023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0.5546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0.7828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1.0283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0.7169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0502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0.5081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0.6898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3">
                <a:extLst>
                  <a:ext uri="{FF2B5EF4-FFF2-40B4-BE49-F238E27FC236}">
                    <a16:creationId xmlns:a16="http://schemas.microsoft.com/office/drawing/2014/main" id="{D9BFA7BE-DBA9-475D-9051-3DA8BA0791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061194"/>
                  </p:ext>
                </p:extLst>
              </p:nvPr>
            </p:nvGraphicFramePr>
            <p:xfrm>
              <a:off x="962808" y="3160508"/>
              <a:ext cx="7218381" cy="1219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56217">
                      <a:extLst>
                        <a:ext uri="{9D8B030D-6E8A-4147-A177-3AD203B41FA5}">
                          <a16:colId xmlns:a16="http://schemas.microsoft.com/office/drawing/2014/main" val="3938749690"/>
                        </a:ext>
                      </a:extLst>
                    </a:gridCol>
                    <a:gridCol w="645459">
                      <a:extLst>
                        <a:ext uri="{9D8B030D-6E8A-4147-A177-3AD203B41FA5}">
                          <a16:colId xmlns:a16="http://schemas.microsoft.com/office/drawing/2014/main" val="2473153830"/>
                        </a:ext>
                      </a:extLst>
                    </a:gridCol>
                    <a:gridCol w="1101444">
                      <a:extLst>
                        <a:ext uri="{9D8B030D-6E8A-4147-A177-3AD203B41FA5}">
                          <a16:colId xmlns:a16="http://schemas.microsoft.com/office/drawing/2014/main" val="1229415409"/>
                        </a:ext>
                      </a:extLst>
                    </a:gridCol>
                    <a:gridCol w="1071716">
                      <a:extLst>
                        <a:ext uri="{9D8B030D-6E8A-4147-A177-3AD203B41FA5}">
                          <a16:colId xmlns:a16="http://schemas.microsoft.com/office/drawing/2014/main" val="2229367585"/>
                        </a:ext>
                      </a:extLst>
                    </a:gridCol>
                    <a:gridCol w="1258529">
                      <a:extLst>
                        <a:ext uri="{9D8B030D-6E8A-4147-A177-3AD203B41FA5}">
                          <a16:colId xmlns:a16="http://schemas.microsoft.com/office/drawing/2014/main" val="3420435652"/>
                        </a:ext>
                      </a:extLst>
                    </a:gridCol>
                    <a:gridCol w="1301675">
                      <a:extLst>
                        <a:ext uri="{9D8B030D-6E8A-4147-A177-3AD203B41FA5}">
                          <a16:colId xmlns:a16="http://schemas.microsoft.com/office/drawing/2014/main" val="1371385344"/>
                        </a:ext>
                      </a:extLst>
                    </a:gridCol>
                    <a:gridCol w="1183341">
                      <a:extLst>
                        <a:ext uri="{9D8B030D-6E8A-4147-A177-3AD203B41FA5}">
                          <a16:colId xmlns:a16="http://schemas.microsoft.com/office/drawing/2014/main" val="276060679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8232" t="-5000" r="-438122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24432" t="-5000" r="-3505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75845" t="-5000" r="-19806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63551" t="-5000" r="-915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Window </a:t>
                          </a:r>
                          <a:r>
                            <a:rPr lang="ko-KR" altLang="en-US" sz="1000" dirty="0">
                              <a:latin typeface="KoPub바탕체 Light" panose="00000300000000000000" pitchFamily="2" charset="-127"/>
                              <a:ea typeface="KoPub바탕체 Light" panose="00000300000000000000" pitchFamily="2" charset="-127"/>
                              <a:cs typeface="Times New Roman" panose="02020603050405020304" pitchFamily="18" charset="0"/>
                            </a:rPr>
                            <a:t>개수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7672608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ETTh1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0.5546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0.7828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1.0283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 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2982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0.5343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0.7474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0.9606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87083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0.5285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0.7169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0.8492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165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0.5081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0.6079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0.6898</a:t>
                          </a:r>
                          <a:endParaRPr lang="ko-KR" altLang="en-US" sz="1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0.8045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8623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8065D02-E5C9-451E-B4DC-65B31B04E24E}"/>
              </a:ext>
            </a:extLst>
          </p:cNvPr>
          <p:cNvSpPr txBox="1"/>
          <p:nvPr/>
        </p:nvSpPr>
        <p:spPr>
          <a:xfrm>
            <a:off x="472998" y="4379708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ETTm2. ETTh2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대한 개별 수준 상관 표는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3">
                <a:extLst>
                  <a:ext uri="{FF2B5EF4-FFF2-40B4-BE49-F238E27FC236}">
                    <a16:creationId xmlns:a16="http://schemas.microsoft.com/office/drawing/2014/main" id="{C53F516B-FF89-4D8F-89F8-C437549E9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636304"/>
                  </p:ext>
                </p:extLst>
              </p:nvPr>
            </p:nvGraphicFramePr>
            <p:xfrm>
              <a:off x="962808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15146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141754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0.185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3">
                <a:extLst>
                  <a:ext uri="{FF2B5EF4-FFF2-40B4-BE49-F238E27FC236}">
                    <a16:creationId xmlns:a16="http://schemas.microsoft.com/office/drawing/2014/main" id="{C53F516B-FF89-4D8F-89F8-C437549E9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636304"/>
                  </p:ext>
                </p:extLst>
              </p:nvPr>
            </p:nvGraphicFramePr>
            <p:xfrm>
              <a:off x="962808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28736" t="-3077" r="-98276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35503" t="-3077" r="-1183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0.897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0.550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0.822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0.185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0.338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0.715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0.427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AFB9F162-AEAF-4105-AC51-FD14AD9EDF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9860414"/>
                  </p:ext>
                </p:extLst>
              </p:nvPr>
            </p:nvGraphicFramePr>
            <p:xfrm>
              <a:off x="4735154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15146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∆ </a:t>
                          </a:r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RMSE,</a:t>
                          </a:r>
                          <a:r>
                            <a:rPr lang="ko-KR" altLang="en-US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∆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ko-KR" sz="1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drift (abs))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141754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–0.367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–0.593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141754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3">
                <a:extLst>
                  <a:ext uri="{FF2B5EF4-FFF2-40B4-BE49-F238E27FC236}">
                    <a16:creationId xmlns:a16="http://schemas.microsoft.com/office/drawing/2014/main" id="{AFB9F162-AEAF-4105-AC51-FD14AD9EDF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9860414"/>
                  </p:ext>
                </p:extLst>
              </p:nvPr>
            </p:nvGraphicFramePr>
            <p:xfrm>
              <a:off x="4735154" y="4809464"/>
              <a:ext cx="3446035" cy="13716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694492">
                      <a:extLst>
                        <a:ext uri="{9D8B030D-6E8A-4147-A177-3AD203B41FA5}">
                          <a16:colId xmlns:a16="http://schemas.microsoft.com/office/drawing/2014/main" val="1134259366"/>
                        </a:ext>
                      </a:extLst>
                    </a:gridCol>
                    <a:gridCol w="668071">
                      <a:extLst>
                        <a:ext uri="{9D8B030D-6E8A-4147-A177-3AD203B41FA5}">
                          <a16:colId xmlns:a16="http://schemas.microsoft.com/office/drawing/2014/main" val="1669736552"/>
                        </a:ext>
                      </a:extLst>
                    </a:gridCol>
                    <a:gridCol w="1057111">
                      <a:extLst>
                        <a:ext uri="{9D8B030D-6E8A-4147-A177-3AD203B41FA5}">
                          <a16:colId xmlns:a16="http://schemas.microsoft.com/office/drawing/2014/main" val="685384249"/>
                        </a:ext>
                      </a:extLst>
                    </a:gridCol>
                    <a:gridCol w="1026361">
                      <a:extLst>
                        <a:ext uri="{9D8B030D-6E8A-4147-A177-3AD203B41FA5}">
                          <a16:colId xmlns:a16="http://schemas.microsoft.com/office/drawing/2014/main" val="11785627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Datasets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Horizon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28736" t="-3077" r="-98276" b="-2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235503" t="-3077" r="-1183" b="-2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3004877"/>
                      </a:ext>
                    </a:extLst>
                  </a:tr>
                  <a:tr h="243840">
                    <a:tc rowSpan="4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ETTm2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0.654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0.375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38298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–0.226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–0.367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7534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–0.593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–0.460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45526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–0.776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–0.741</a:t>
                          </a:r>
                          <a:endParaRPr lang="ko-KR" alt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9145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83494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따른 실험 결과는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86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50991F20-A3C7-4B58-9628-7F0C6C6AF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358536"/>
              </p:ext>
            </p:extLst>
          </p:nvPr>
        </p:nvGraphicFramePr>
        <p:xfrm>
          <a:off x="1438599" y="1886295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2.96 ± 0.00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5.41 ± 1.34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3.90 ± 1.04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+ 45.31 %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 ± 0.74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4.61 ± 0.58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+ 47.34 %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3.69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2.39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6.66 ± 0.12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4.85 ± 0.08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+ 44.60 %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4.10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6.80 ± 0.10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4.94 ± 0.07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+ 39.66 %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92BD7474-D34D-4D2D-9C52-30779FE51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384497"/>
              </p:ext>
            </p:extLst>
          </p:nvPr>
        </p:nvGraphicFramePr>
        <p:xfrm>
          <a:off x="1438598" y="4341684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5.96 ± 1.05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4.34 ± 0.84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+ 39.63 %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3.66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2.42 ± 0.02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5.92 ± 0.91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4.35 ± 0.73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+ 38.30 %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3.73 ± 0.02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2.46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6.05 ± 0.76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4.45 ± 0.61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+ 38.43 %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3.64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6.42 ± 0.33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4.75 ± 0.26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+ 43.29 %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0341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따른 실험 결과는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87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C2FF83BA-0E88-4641-9D03-D1FCB515D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696722"/>
              </p:ext>
            </p:extLst>
          </p:nvPr>
        </p:nvGraphicFramePr>
        <p:xfrm>
          <a:off x="1438599" y="1886295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ETTm1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1.53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2.97 ± 0.04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1.69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+ 5.22 %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1.69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 ± 0.06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1.87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+ 4.41 %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 ± 0.00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1.82 ± 0.00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3.47 ± 0.17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2.12 ± 0.15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+ 7.16 %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3.32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1.95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3.67 ± 0.11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 ± 0.09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+ 9.37 %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  <p:graphicFrame>
        <p:nvGraphicFramePr>
          <p:cNvPr id="9" name="표 2">
            <a:extLst>
              <a:ext uri="{FF2B5EF4-FFF2-40B4-BE49-F238E27FC236}">
                <a16:creationId xmlns:a16="http://schemas.microsoft.com/office/drawing/2014/main" id="{C658D7B9-1DFB-4168-AE5F-08236522A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01623"/>
              </p:ext>
            </p:extLst>
          </p:nvPr>
        </p:nvGraphicFramePr>
        <p:xfrm>
          <a:off x="1438598" y="4341684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ETTh1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3.05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1.80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4.38 ± 0.06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2.81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+ 30.28 %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1.93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4.47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2.88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+ 28.94 %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 ± 0.01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 ± 0.01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4.64 ± 0.07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+ 28.96 %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3.15 ± 0.03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 ± 0.02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4.60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3.07 ± 0.02</a:t>
                      </a:r>
                      <a:endParaRPr lang="ko-KR" alt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+ 31.47 %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1471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H6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실험에 대해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Weather / ETT Datasets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에 따른 실험 결과는 다음과 같음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34258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Experiment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530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Data-Level Analysis: H6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88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BFB41DA2-3C94-4300-91E3-0E45B3126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647603"/>
              </p:ext>
            </p:extLst>
          </p:nvPr>
        </p:nvGraphicFramePr>
        <p:xfrm>
          <a:off x="1438599" y="1886295"/>
          <a:ext cx="6266801" cy="2346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97273">
                  <a:extLst>
                    <a:ext uri="{9D8B030D-6E8A-4147-A177-3AD203B41FA5}">
                      <a16:colId xmlns:a16="http://schemas.microsoft.com/office/drawing/2014/main" val="10625328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18927650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3925748367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63910772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2642283391"/>
                    </a:ext>
                  </a:extLst>
                </a:gridCol>
                <a:gridCol w="1146464">
                  <a:extLst>
                    <a:ext uri="{9D8B030D-6E8A-4147-A177-3AD203B41FA5}">
                      <a16:colId xmlns:a16="http://schemas.microsoft.com/office/drawing/2014/main" val="4129370707"/>
                    </a:ext>
                  </a:extLst>
                </a:gridCol>
              </a:tblGrid>
              <a:tr h="2640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RMSE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MAE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(mean ±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 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pPr algn="l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(Improvements)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896192"/>
                  </a:ext>
                </a:extLst>
              </a:tr>
              <a:tr h="160327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39.59 ± 0.08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13.13 ± 0.03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2821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51.12 ± 0.42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20.19 ± 0.22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+ 22.55 %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5873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40.64 ± 0.17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 ± 0.05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77001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52.38 ± 1.26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20.89 ± 0.49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+ 22.40 %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34620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41.93 ± 0.25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14.46 ± 0.08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36724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54.02 ± 1.98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21.78 ± 0.54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+ 22.37 %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6688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(Baseline)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41.56 ± 0.19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14.73 ± 0.06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22926"/>
                  </a:ext>
                </a:extLst>
              </a:tr>
              <a:tr h="16032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RevIN</a:t>
                      </a: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56.09 ± 1.78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22.55 ± 0.58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+ 25.91 %</a:t>
                      </a:r>
                      <a:endParaRPr lang="ko-KR" altLang="en-US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2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3575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CF88212-9485-4C83-B023-FA7A7540FF70}"/>
              </a:ext>
            </a:extLst>
          </p:cNvPr>
          <p:cNvSpPr txBox="1"/>
          <p:nvPr/>
        </p:nvSpPr>
        <p:spPr>
          <a:xfrm>
            <a:off x="472999" y="1467711"/>
            <a:ext cx="8531853" cy="24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본 연구에서는 채널 혼합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Embedding + Cross Connection Dynamic Depth-Wise Convolution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경량 교차학습 구조를  제안하였음</a:t>
            </a:r>
            <a:endParaRPr lang="en-US" altLang="ko-KR" sz="1400" dirty="0">
              <a:latin typeface="Times New Roman" panose="02020603050405020304" pitchFamily="18" charset="0"/>
              <a:ea typeface="KoPub바탕체 Light" panose="00000300000000000000" pitchFamily="2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채널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혼합의 발생지가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Embedding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이라는 것을 실험적으로 증명하고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Cross Connection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의 최적화 이점과 정확도 이득을 실험적으로 입증함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1, 3)</a:t>
            </a: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Patch Embedding + Dynamic Depth-Wise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구조로도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Point-Wise /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Group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Convolution 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없이 충분히 채널 간 상관을 모델에 반영할 수 있으며 추가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Point-Wise / Group Conv</a:t>
            </a:r>
            <a:r>
              <a:rPr lang="ko-KR" altLang="en-US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는 비용 대비 유의 이득이 관측되지 않음 </a:t>
            </a:r>
            <a:r>
              <a:rPr lang="en-US" altLang="ko-KR" sz="1400" dirty="0"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(Ablation 2, 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3193695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4. Discussion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20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Contributions</a:t>
            </a: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89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9B8130-ECBC-4DE6-B6A8-1559884415BA}"/>
                  </a:ext>
                </a:extLst>
              </p:cNvPr>
              <p:cNvSpPr txBox="1"/>
              <p:nvPr/>
            </p:nvSpPr>
            <p:spPr>
              <a:xfrm>
                <a:off x="472999" y="4517592"/>
                <a:ext cx="8531853" cy="2151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본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실험은 벤치마크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Datasets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실험하여 특히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ETTm2, ETTh2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우수한 성능을 거두었으나 산업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·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의료 등 특수한 도메인에서의 타당성은 후속 연구로 남음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Bridge Test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로 </a:t>
                </a:r>
                <a:r>
                  <a:rPr lang="en-US" altLang="ko-KR" sz="1400" dirty="0" err="1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Hyperparmeter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1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2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간의 방향성 정합은 확인하였으나 효과 크기는 달라질 수 있어 본 연구에서의 모든 메시지는 방향성 중심으로 해석하여야 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Ablation Study 1-3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oPub바탕체 Light" panose="00000300000000000000" pitchFamily="2" charset="-127"/>
                            <a:cs typeface="Times New Roman" panose="020206030504050203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변화에 따라 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Patch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엔트로피가 변하지 않았음</a:t>
                </a:r>
                <a:r>
                  <a:rPr lang="en-US" altLang="ko-KR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400" dirty="0">
                    <a:latin typeface="Times New Roman" panose="02020603050405020304" pitchFamily="18" charset="0"/>
                    <a:ea typeface="KoPub바탕체 Light" panose="00000300000000000000" pitchFamily="2" charset="-127"/>
                    <a:cs typeface="Times New Roman" panose="02020603050405020304" pitchFamily="18" charset="0"/>
                  </a:rPr>
                  <a:t>이에 더 직접적인 패치 혼합 제어에 대한 후속 연구가 필요함</a:t>
                </a:r>
                <a:endParaRPr lang="en-US" altLang="ko-KR" sz="1400" dirty="0">
                  <a:latin typeface="Times New Roman" panose="02020603050405020304" pitchFamily="18" charset="0"/>
                  <a:ea typeface="KoPub바탕체 Light" panose="00000300000000000000" pitchFamily="2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9B8130-ECBC-4DE6-B6A8-155988441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99" y="4517592"/>
                <a:ext cx="8531853" cy="2151871"/>
              </a:xfrm>
              <a:prstGeom prst="rect">
                <a:avLst/>
              </a:prstGeom>
              <a:blipFill>
                <a:blip r:embed="rId3"/>
                <a:stretch>
                  <a:fillRect l="-143" b="-2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B622B7D-CE03-4692-AE14-204937D7FFEE}"/>
              </a:ext>
            </a:extLst>
          </p:cNvPr>
          <p:cNvSpPr txBox="1"/>
          <p:nvPr/>
        </p:nvSpPr>
        <p:spPr>
          <a:xfrm>
            <a:off x="344488" y="4008327"/>
            <a:ext cx="1706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8389728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F8494B-3D19-8BAB-5786-DA187A2DF6E7}"/>
              </a:ext>
            </a:extLst>
          </p:cNvPr>
          <p:cNvSpPr/>
          <p:nvPr/>
        </p:nvSpPr>
        <p:spPr>
          <a:xfrm>
            <a:off x="3137152" y="2187877"/>
            <a:ext cx="28696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223F7B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감사합니다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42D417-E98A-B0C2-9B56-1ABF10B26D6A}"/>
              </a:ext>
            </a:extLst>
          </p:cNvPr>
          <p:cNvSpPr txBox="1">
            <a:spLocks/>
          </p:cNvSpPr>
          <p:nvPr/>
        </p:nvSpPr>
        <p:spPr>
          <a:xfrm>
            <a:off x="2377403" y="3389269"/>
            <a:ext cx="4389194" cy="12208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844078" rtl="0" eaLnBrk="1" latinLnBrk="0" hangingPunct="1">
              <a:spcBef>
                <a:spcPct val="20000"/>
              </a:spcBef>
              <a:buFont typeface="맑은 고딕" pitchFamily="50" charset="-127"/>
              <a:buNone/>
              <a:defRPr sz="1477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2039" indent="0" algn="ctr" defTabSz="844078" rtl="0" eaLnBrk="1" latinLnBrk="0" hangingPunct="1">
              <a:spcBef>
                <a:spcPct val="20000"/>
              </a:spcBef>
              <a:buFont typeface="맑은 고딕" pitchFamily="50" charset="-127"/>
              <a:buNone/>
              <a:defRPr sz="110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78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22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117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155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195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233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272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311" indent="0" algn="ctr" defTabSz="844078" rtl="0" eaLnBrk="1" latinLnBrk="1" hangingPunct="1">
              <a:spcBef>
                <a:spcPct val="20000"/>
              </a:spcBef>
              <a:buFont typeface="Arial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연세대학교 지능형데이터</a:t>
            </a:r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최적화학과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System Intelligence Lab</a:t>
            </a: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 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1600" b="0" dirty="0">
                <a:solidFill>
                  <a:schemeClr val="tx1"/>
                </a:solidFill>
                <a:latin typeface="Times New Roman" panose="02020603050405020304" pitchFamily="18" charset="0"/>
                <a:ea typeface="KoPub바탕체 Medium" panose="00000600000000000000" pitchFamily="2" charset="-127"/>
                <a:cs typeface="Times New Roman" panose="02020603050405020304" pitchFamily="18" charset="0"/>
              </a:rPr>
              <a:t>박힘찬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ea typeface="KoPub바탕체 Medium" panose="000006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0824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2864887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5. Appendix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498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Hyperparameter Setting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91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A05141B2-B222-4530-96DC-83D360C858DF}"/>
              </a:ext>
            </a:extLst>
          </p:cNvPr>
          <p:cNvGraphicFramePr>
            <a:graphicFrameLocks noGrp="1"/>
          </p:cNvGraphicFramePr>
          <p:nvPr/>
        </p:nvGraphicFramePr>
        <p:xfrm>
          <a:off x="903214" y="2021742"/>
          <a:ext cx="7351553" cy="4658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470">
                  <a:extLst>
                    <a:ext uri="{9D8B030D-6E8A-4147-A177-3AD203B41FA5}">
                      <a16:colId xmlns:a16="http://schemas.microsoft.com/office/drawing/2014/main" val="2758367825"/>
                    </a:ext>
                  </a:extLst>
                </a:gridCol>
                <a:gridCol w="2701255">
                  <a:extLst>
                    <a:ext uri="{9D8B030D-6E8A-4147-A177-3AD203B41FA5}">
                      <a16:colId xmlns:a16="http://schemas.microsoft.com/office/drawing/2014/main" val="388432465"/>
                    </a:ext>
                  </a:extLst>
                </a:gridCol>
                <a:gridCol w="4093828">
                  <a:extLst>
                    <a:ext uri="{9D8B030D-6E8A-4147-A177-3AD203B41FA5}">
                      <a16:colId xmlns:a16="http://schemas.microsoft.com/office/drawing/2014/main" val="1064197477"/>
                    </a:ext>
                  </a:extLst>
                </a:gridCol>
              </a:tblGrid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38014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Train / Validation / Test ratio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6:2:2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04294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Lookback window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081875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 Length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3648629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18173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D_embed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105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# of Multi-head Attentions 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9743433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Learning rate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4e-4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111975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Depth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67202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Weight Decay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1e-3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127187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Learning Rate Warmup Epochs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708086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Gradient Clipping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441923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Dropout Rate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129105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Patch-Stat Weight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83538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(HP1) Hyperparameters; Ablation Study 1, 2, 3, 4</a:t>
            </a:r>
          </a:p>
        </p:txBody>
      </p:sp>
    </p:spTree>
    <p:extLst>
      <p:ext uri="{BB962C8B-B14F-4D97-AF65-F5344CB8AC3E}">
        <p14:creationId xmlns:p14="http://schemas.microsoft.com/office/powerpoint/2010/main" val="31977148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4F441-6FC6-4A77-85FB-112BB347434E}"/>
              </a:ext>
            </a:extLst>
          </p:cNvPr>
          <p:cNvSpPr txBox="1"/>
          <p:nvPr/>
        </p:nvSpPr>
        <p:spPr>
          <a:xfrm>
            <a:off x="187517" y="169356"/>
            <a:ext cx="2864887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5. Appendix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488" y="958446"/>
            <a:ext cx="3498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Hyperparameter Setting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8520500" y="6525642"/>
            <a:ext cx="703302" cy="287734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3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43C41AA-8327-499D-B887-48FC07B937BA}" type="slidenum">
              <a:rPr lang="ko-KR" altLang="en-US" b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pPr algn="ctr"/>
              <a:t>92</a:t>
            </a:fld>
            <a:r>
              <a:rPr lang="ko-KR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KoPubWorld바탕체 Medium" panose="00000600000000000000" pitchFamily="2" charset="-127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A05141B2-B222-4530-96DC-83D360C85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74150"/>
              </p:ext>
            </p:extLst>
          </p:nvPr>
        </p:nvGraphicFramePr>
        <p:xfrm>
          <a:off x="903214" y="2021742"/>
          <a:ext cx="7351553" cy="4658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470">
                  <a:extLst>
                    <a:ext uri="{9D8B030D-6E8A-4147-A177-3AD203B41FA5}">
                      <a16:colId xmlns:a16="http://schemas.microsoft.com/office/drawing/2014/main" val="2758367825"/>
                    </a:ext>
                  </a:extLst>
                </a:gridCol>
                <a:gridCol w="2701255">
                  <a:extLst>
                    <a:ext uri="{9D8B030D-6E8A-4147-A177-3AD203B41FA5}">
                      <a16:colId xmlns:a16="http://schemas.microsoft.com/office/drawing/2014/main" val="388432465"/>
                    </a:ext>
                  </a:extLst>
                </a:gridCol>
                <a:gridCol w="4093828">
                  <a:extLst>
                    <a:ext uri="{9D8B030D-6E8A-4147-A177-3AD203B41FA5}">
                      <a16:colId xmlns:a16="http://schemas.microsoft.com/office/drawing/2014/main" val="1064197477"/>
                    </a:ext>
                  </a:extLst>
                </a:gridCol>
              </a:tblGrid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38014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Train / Validation / Test ratio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6:2:2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04294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Lookback window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081875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 Length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3648629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18173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D_embed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105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# of Multi-head Attentions 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9743433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Learning rate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1e-4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111975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Depth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7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67202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Weight Decay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1e-3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1271878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Learning Rate Warmup Epochs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708086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Gradient Clipping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441923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Dropout Rate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1291051"/>
                  </a:ext>
                </a:extLst>
              </a:tr>
              <a:tr h="332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KoPub바탕체 Light" panose="00000300000000000000" pitchFamily="2" charset="-127"/>
                          <a:cs typeface="Times New Roman" panose="02020603050405020304" pitchFamily="18" charset="0"/>
                        </a:rPr>
                        <a:t>Patch-Stat Weight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83538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71C9AB-1A2D-4CB0-991B-7132F1A4EEA0}"/>
              </a:ext>
            </a:extLst>
          </p:cNvPr>
          <p:cNvSpPr txBox="1"/>
          <p:nvPr/>
        </p:nvSpPr>
        <p:spPr>
          <a:xfrm>
            <a:off x="472999" y="1467711"/>
            <a:ext cx="8381567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(HP2) Hyperparameters; Comparison, Data-Level Analysis H1~H6</a:t>
            </a:r>
          </a:p>
        </p:txBody>
      </p:sp>
    </p:spTree>
    <p:extLst>
      <p:ext uri="{BB962C8B-B14F-4D97-AF65-F5344CB8AC3E}">
        <p14:creationId xmlns:p14="http://schemas.microsoft.com/office/powerpoint/2010/main" val="1485144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96CC3-C1CB-4068-B114-A0189762366E}"/>
              </a:ext>
            </a:extLst>
          </p:cNvPr>
          <p:cNvSpPr txBox="1"/>
          <p:nvPr/>
        </p:nvSpPr>
        <p:spPr>
          <a:xfrm>
            <a:off x="187517" y="169356"/>
            <a:ext cx="3046796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3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6. Reference</a:t>
            </a:r>
            <a:endParaRPr kumimoji="0" lang="ko-KR" altLang="en-US" sz="3900" b="1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66F56-D8E4-4197-9F62-508DE66F7BE4}"/>
              </a:ext>
            </a:extLst>
          </p:cNvPr>
          <p:cNvSpPr txBox="1"/>
          <p:nvPr/>
        </p:nvSpPr>
        <p:spPr>
          <a:xfrm>
            <a:off x="344488" y="958446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참고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문헌</a:t>
            </a:r>
            <a:endParaRPr kumimoji="0" lang="en-US" altLang="ko-KR" sz="240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B4DB4-7D5A-4884-8481-A49A34F90490}"/>
              </a:ext>
            </a:extLst>
          </p:cNvPr>
          <p:cNvSpPr txBox="1"/>
          <p:nvPr/>
        </p:nvSpPr>
        <p:spPr>
          <a:xfrm>
            <a:off x="472999" y="1467711"/>
            <a:ext cx="838156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Nie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Y., Nguyen, N. H.,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Sinthong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P., &amp;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Kalagnanam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J. (2023). A time series is worth 64 words: Long-term forecasting with transformers. Proceedings of ICLR 2023. [https://doi.org/10.48550/arXiv.2211.14730]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Wu, H., Xu, J., Wang, J., &amp; Long, M. (2021).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Autoformer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 Decomposition transformers with auto-correlation for long-term series forecasting. Advances in Neural Information Processing Systems (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NeurIPS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2021). [https://doi.org/10.48550/arXiv.2106.13008]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Chen, S.-A., Li, C.-L., Yoder, N., Arik, S. O., &amp; Pfister, T. (2023).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TSMixer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: An all-MLP architecture for time series forecasting. Transactions on Machine Learning Research. [https://doi.org/10.48550/arXiv.2303.06053]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Yi, K., Zhang, Q., Fan, W., Wang, S., Wang, P., He, H., Lian, D., An, N., Cao, L., &amp;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Niu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, Z. (2023). Frequency-domain MLPs are more effective learners in time series forecasting. Proceedings of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NeurIPS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 2023. [https://doi.org/10.48550/arXiv.2311.06184]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Li, Z., Li, H., Wang, H., Fang, J., Li, D., &amp; Qin, Y. (2024). FSMLP: Modelling channel dependencies with simplex theory based multi-layer perceptions in frequency domain. arXiv:2412.01654. [https://doi.org/10.48550/arXiv.2412.01654]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Zeng, A., Chen, M., Zhang, L., &amp; Xu, Q. (2022). Are transformers effective for time series forecasting? arXiv:2205.13504. [https://doi.org/10.48550/arXiv.2205.13504]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Chiu, M.-C., Hsu, H.-W., Chen, K.-S., &amp; Wen, C.-Y. (2023). A hybrid CNN-GRU based probabilistic model for load forecasting from individual household to commercial building. Energy Reports, 9, 94–105. [https://doi.org/10.1016/j.egyr.2023.05.090]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Hua, Q., Fan, Z., Mu, W., Cui, J., Xing, R., Liu, H., &amp; Gao, J. (2025). A short-term power load forecasting method using CNN-GRU with an attention mechanism. *Energies, 18*(1), 106. [https://doi.org/10.3390/en18010106]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laiguokun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. (n.d.). Multivariate time series data (Exchange-Rate, Solar-Energy, Electricity, Traffic) [Data set]. GitHub repository. Accessed 2025-09-05. [https://github.com/laiguokun/multivariate-time-series-data]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zhouhaoyi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. (n.d.). Electricity Transformer Dataset (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ETDataset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KoPub바탕체 Light" panose="00000300000000000000" pitchFamily="2" charset="-127"/>
                <a:cs typeface="Times New Roman" panose="02020603050405020304" pitchFamily="18" charset="0"/>
              </a:rPr>
              <a:t>) [Data set]. GitHub repository. Accessed 2025-09-05. [https://github.com/zhouhaoyi/ETDataset/tree/main]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Nie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Nguyen, N. H., </a:t>
            </a:r>
            <a:r>
              <a:rPr lang="en-US" altLang="ko-K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Sinthong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&amp; </a:t>
            </a:r>
            <a:r>
              <a:rPr lang="en-US" altLang="ko-K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Kalagnanam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(2023). A time series is worth 64 words: Long-term forecasting with transformers. Proceedings of ICLR 2023. 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https://doi.org/10.48550/arXiv.2211.14730</a:t>
            </a:r>
            <a:endParaRPr lang="en-US" altLang="ko-K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Tang, P., &amp; Zhang, W. (2024). Unlocking the power of patch: Patch-based MLP for long-term time series forecasting. </a:t>
            </a:r>
            <a:r>
              <a:rPr lang="en-US" altLang="ko-K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arXiv:2405.13575.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S., Lin, W., Wu, W., Zhao, F., Mo, R., &amp; Zhang, H. (2023). </a:t>
            </a:r>
            <a:r>
              <a:rPr lang="en-US" altLang="ko-K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SegRNN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Segment recurrent neural network for long-term time series forecasting. </a:t>
            </a:r>
            <a:r>
              <a:rPr lang="en-US" altLang="ko-K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arXiv:2308.11200.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Patch-wise Structural Loss for Time Series Forecasting, </a:t>
            </a: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https://arxiv.org/pdf/2503.00877</a:t>
            </a:r>
            <a:endParaRPr lang="en-US" altLang="ko-KR" sz="9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Godahewa</a:t>
            </a: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</a:t>
            </a:r>
            <a:r>
              <a:rPr lang="en-US" altLang="ko-KR" sz="9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Bergmeir</a:t>
            </a: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C., &amp; Webb, G. I. (2020). Electricity Hourly Dataset (Version 2) [Data set]. </a:t>
            </a:r>
            <a:r>
              <a:rPr lang="en-US" altLang="ko-KR" sz="9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https://doi.org/10.5281/zenodo.3898439</a:t>
            </a:r>
            <a:endParaRPr lang="en-US" altLang="ko-KR" sz="9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 Planck Institute for Biogeochemistry (MPI‑BGC). (2020). Weather station (Jena, Germany): 10‑minute meteorological observations, 01 Jan 2020–31 Dec 2020 [Data set]. MPI‑BGC Weather Station data portal. Accessed 2025‑09‑03.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9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Kim, T., Kim, J., Tae, Y., Park, C., Choi, J.-H., &amp; Choo, J. (2022). Reversible instance normalization for accurate time-series forecasting against distribution shift. In International Conference on Learning Representations (ICLR). https://openreview.net/forum?id=cGDAkQo1C0p</a:t>
            </a:r>
          </a:p>
        </p:txBody>
      </p:sp>
    </p:spTree>
    <p:extLst>
      <p:ext uri="{BB962C8B-B14F-4D97-AF65-F5344CB8AC3E}">
        <p14:creationId xmlns:p14="http://schemas.microsoft.com/office/powerpoint/2010/main" val="258791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93544</TotalTime>
  <Words>18385</Words>
  <Application>Microsoft Office PowerPoint</Application>
  <PresentationFormat>화면 슬라이드 쇼(4:3)</PresentationFormat>
  <Paragraphs>4405</Paragraphs>
  <Slides>93</Slides>
  <Notes>92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93</vt:i4>
      </vt:variant>
    </vt:vector>
  </HeadingPairs>
  <TitlesOfParts>
    <vt:vector size="106" baseType="lpstr">
      <vt:lpstr>KoPubWorld돋움체 Medium</vt:lpstr>
      <vt:lpstr>KoPub돋움체 Bold</vt:lpstr>
      <vt:lpstr>KoPub바탕체 Light</vt:lpstr>
      <vt:lpstr>Noto Sans KR</vt:lpstr>
      <vt:lpstr>맑은 고딕</vt:lpstr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jinisang</dc:creator>
  <cp:lastModifiedBy>박힘찬</cp:lastModifiedBy>
  <cp:revision>1887</cp:revision>
  <dcterms:created xsi:type="dcterms:W3CDTF">2022-01-11T04:20:21Z</dcterms:created>
  <dcterms:modified xsi:type="dcterms:W3CDTF">2025-09-22T08:14:57Z</dcterms:modified>
</cp:coreProperties>
</file>