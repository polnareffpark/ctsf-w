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440" r:id="rId2"/>
    <p:sldId id="513" r:id="rId3"/>
    <p:sldId id="514" r:id="rId4"/>
    <p:sldId id="443" r:id="rId5"/>
    <p:sldId id="444" r:id="rId6"/>
    <p:sldId id="445" r:id="rId7"/>
    <p:sldId id="486" r:id="rId8"/>
    <p:sldId id="446" r:id="rId9"/>
    <p:sldId id="476" r:id="rId10"/>
    <p:sldId id="480" r:id="rId11"/>
    <p:sldId id="512" r:id="rId12"/>
    <p:sldId id="485" r:id="rId13"/>
    <p:sldId id="482" r:id="rId14"/>
    <p:sldId id="487" r:id="rId15"/>
    <p:sldId id="495" r:id="rId16"/>
    <p:sldId id="483" r:id="rId17"/>
    <p:sldId id="484" r:id="rId18"/>
    <p:sldId id="506" r:id="rId19"/>
    <p:sldId id="507" r:id="rId20"/>
    <p:sldId id="508" r:id="rId21"/>
    <p:sldId id="509" r:id="rId22"/>
    <p:sldId id="475" r:id="rId23"/>
    <p:sldId id="491" r:id="rId24"/>
    <p:sldId id="502" r:id="rId25"/>
    <p:sldId id="503" r:id="rId26"/>
    <p:sldId id="504" r:id="rId27"/>
    <p:sldId id="505" r:id="rId28"/>
    <p:sldId id="479" r:id="rId29"/>
    <p:sldId id="477" r:id="rId30"/>
    <p:sldId id="478" r:id="rId31"/>
    <p:sldId id="510" r:id="rId32"/>
    <p:sldId id="488" r:id="rId33"/>
    <p:sldId id="492" r:id="rId34"/>
    <p:sldId id="496" r:id="rId35"/>
    <p:sldId id="497" r:id="rId36"/>
    <p:sldId id="498" r:id="rId37"/>
    <p:sldId id="499" r:id="rId38"/>
    <p:sldId id="500" r:id="rId39"/>
    <p:sldId id="474" r:id="rId40"/>
    <p:sldId id="494" r:id="rId41"/>
    <p:sldId id="493" r:id="rId42"/>
    <p:sldId id="489" r:id="rId43"/>
    <p:sldId id="490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1CD"/>
    <a:srgbClr val="E2F0D9"/>
    <a:srgbClr val="FFDF8D"/>
    <a:srgbClr val="006600"/>
    <a:srgbClr val="FFE699"/>
    <a:srgbClr val="FFDC83"/>
    <a:srgbClr val="75B963"/>
    <a:srgbClr val="AFD497"/>
    <a:srgbClr val="C2C61C"/>
    <a:srgbClr val="8FD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7" autoAdjust="0"/>
    <p:restoredTop sz="88212" autoAdjust="0"/>
  </p:normalViewPr>
  <p:slideViewPr>
    <p:cSldViewPr snapToGrid="0">
      <p:cViewPr varScale="1">
        <p:scale>
          <a:sx n="111" d="100"/>
          <a:sy n="111" d="100"/>
        </p:scale>
        <p:origin x="10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ADA4F-EFE9-4814-98F7-C31CE999BAD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9AC37-6A07-47AF-9D63-A624E6B30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280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 err="1"/>
              <a:t>신호대잡음비</a:t>
            </a:r>
            <a:r>
              <a:rPr lang="en-US" altLang="ko-KR" dirty="0"/>
              <a:t>(SNR): </a:t>
            </a:r>
            <a:r>
              <a:rPr lang="ko-KR" altLang="en-US" dirty="0"/>
              <a:t>신호</a:t>
            </a:r>
            <a:r>
              <a:rPr lang="en-US" altLang="ko-KR" dirty="0"/>
              <a:t>(</a:t>
            </a:r>
            <a:r>
              <a:rPr lang="ko-KR" altLang="en-US" dirty="0"/>
              <a:t>설명 가능한 구조</a:t>
            </a:r>
            <a:r>
              <a:rPr lang="en-US" altLang="ko-KR" dirty="0"/>
              <a:t>)</a:t>
            </a:r>
            <a:r>
              <a:rPr lang="ko-KR" altLang="en-US" dirty="0"/>
              <a:t>대비 잡음</a:t>
            </a:r>
            <a:r>
              <a:rPr lang="en-US" altLang="ko-KR" dirty="0"/>
              <a:t>(</a:t>
            </a:r>
            <a:r>
              <a:rPr lang="ko-KR" altLang="en-US" dirty="0"/>
              <a:t>설명 안되는 </a:t>
            </a:r>
            <a:r>
              <a:rPr lang="ko-KR" altLang="en-US" dirty="0" err="1"/>
              <a:t>잔차</a:t>
            </a:r>
            <a:r>
              <a:rPr lang="en-US" altLang="ko-KR" dirty="0"/>
              <a:t>)</a:t>
            </a:r>
            <a:r>
              <a:rPr lang="ko-KR" altLang="en-US" dirty="0"/>
              <a:t>의 세기 비율</a:t>
            </a:r>
            <a:r>
              <a:rPr lang="en-US" altLang="ko-KR" dirty="0"/>
              <a:t>, x = </a:t>
            </a:r>
            <a:r>
              <a:rPr lang="ko-KR" altLang="en-US" dirty="0"/>
              <a:t>추세 </a:t>
            </a:r>
            <a:r>
              <a:rPr lang="en-US" altLang="ko-KR" dirty="0"/>
              <a:t>+ </a:t>
            </a:r>
            <a:r>
              <a:rPr lang="ko-KR" altLang="en-US" dirty="0"/>
              <a:t>계절</a:t>
            </a:r>
            <a:r>
              <a:rPr lang="en-US" altLang="ko-KR" dirty="0"/>
              <a:t>(</a:t>
            </a:r>
            <a:r>
              <a:rPr lang="ko-KR" altLang="en-US" dirty="0"/>
              <a:t>신호</a:t>
            </a:r>
            <a:r>
              <a:rPr lang="en-US" altLang="ko-KR" dirty="0"/>
              <a:t>) + </a:t>
            </a:r>
            <a:r>
              <a:rPr lang="ko-KR" altLang="en-US" dirty="0" err="1"/>
              <a:t>잔차</a:t>
            </a:r>
            <a:r>
              <a:rPr lang="en-US" altLang="ko-KR" dirty="0"/>
              <a:t>(</a:t>
            </a:r>
            <a:r>
              <a:rPr lang="ko-KR" altLang="en-US" dirty="0"/>
              <a:t>잡음</a:t>
            </a:r>
            <a:r>
              <a:rPr lang="en-US" altLang="ko-KR" dirty="0"/>
              <a:t>) </a:t>
            </a:r>
            <a:r>
              <a:rPr lang="ko-KR" altLang="en-US" dirty="0"/>
              <a:t>으로 둠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주파수 기반</a:t>
            </a:r>
            <a:r>
              <a:rPr lang="en-US" altLang="ko-KR" dirty="0"/>
              <a:t>: </a:t>
            </a:r>
            <a:r>
              <a:rPr lang="ko-KR" altLang="en-US" dirty="0"/>
              <a:t>신호 </a:t>
            </a:r>
            <a:r>
              <a:rPr lang="en-US" altLang="ko-KR" dirty="0"/>
              <a:t>/ </a:t>
            </a:r>
            <a:r>
              <a:rPr lang="ko-KR" altLang="en-US" dirty="0"/>
              <a:t>잡음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주기 정합</a:t>
            </a:r>
            <a:r>
              <a:rPr lang="en-US" altLang="ko-KR" dirty="0"/>
              <a:t>: </a:t>
            </a:r>
            <a:r>
              <a:rPr lang="ko-KR" altLang="en-US" dirty="0"/>
              <a:t>예측의 리듬이 실제의 리듬</a:t>
            </a:r>
            <a:r>
              <a:rPr lang="en-US" altLang="ko-KR" dirty="0"/>
              <a:t>(</a:t>
            </a:r>
            <a:r>
              <a:rPr lang="ko-KR" altLang="en-US" dirty="0"/>
              <a:t>하루</a:t>
            </a:r>
            <a:r>
              <a:rPr lang="en-US" altLang="ko-KR" dirty="0"/>
              <a:t>/</a:t>
            </a:r>
            <a:r>
              <a:rPr lang="ko-KR" altLang="en-US" dirty="0"/>
              <a:t>일주</a:t>
            </a:r>
            <a:r>
              <a:rPr lang="en-US" altLang="ko-KR" dirty="0"/>
              <a:t>) </a:t>
            </a:r>
            <a:r>
              <a:rPr lang="ko-KR" altLang="en-US" dirty="0"/>
              <a:t>과 같은 타이밍으로 반복되는가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144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38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489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272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727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분포 </a:t>
            </a:r>
            <a:r>
              <a:rPr lang="ko-KR" altLang="en-US" dirty="0" err="1"/>
              <a:t>드리프트</a:t>
            </a:r>
            <a:r>
              <a:rPr lang="en-US" altLang="ko-KR" dirty="0"/>
              <a:t>: </a:t>
            </a:r>
            <a:r>
              <a:rPr lang="ko-KR" altLang="en-US" dirty="0"/>
              <a:t>시간에 따라 평균</a:t>
            </a:r>
            <a:r>
              <a:rPr lang="en-US" altLang="ko-KR" dirty="0"/>
              <a:t>, </a:t>
            </a:r>
            <a:r>
              <a:rPr lang="ko-KR" altLang="en-US" dirty="0"/>
              <a:t>분산과 같은 분포 특성이 움직이는 현상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403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위상</a:t>
            </a:r>
            <a:r>
              <a:rPr lang="en-US" altLang="ko-KR" dirty="0"/>
              <a:t>/</a:t>
            </a:r>
            <a:r>
              <a:rPr lang="ko-KR" altLang="en-US" dirty="0"/>
              <a:t>진폭 시간 변화</a:t>
            </a:r>
            <a:r>
              <a:rPr lang="en-US" altLang="ko-KR" dirty="0"/>
              <a:t>: </a:t>
            </a:r>
            <a:r>
              <a:rPr lang="ko-KR" altLang="en-US" dirty="0"/>
              <a:t>위상</a:t>
            </a:r>
            <a:r>
              <a:rPr lang="en-US" altLang="ko-KR" dirty="0"/>
              <a:t>(</a:t>
            </a:r>
            <a:r>
              <a:rPr lang="ko-KR" altLang="en-US" dirty="0"/>
              <a:t>피크 시점</a:t>
            </a:r>
            <a:r>
              <a:rPr lang="en-US" altLang="ko-KR" dirty="0"/>
              <a:t>)</a:t>
            </a:r>
            <a:r>
              <a:rPr lang="ko-KR" altLang="en-US" dirty="0"/>
              <a:t>과 진폭</a:t>
            </a:r>
            <a:r>
              <a:rPr lang="en-US" altLang="ko-KR" dirty="0"/>
              <a:t>(</a:t>
            </a:r>
            <a:r>
              <a:rPr lang="ko-KR" altLang="en-US" dirty="0"/>
              <a:t>크기</a:t>
            </a:r>
            <a:r>
              <a:rPr lang="en-US" altLang="ko-KR" dirty="0"/>
              <a:t>)</a:t>
            </a:r>
            <a:r>
              <a:rPr lang="ko-KR" altLang="en-US" dirty="0"/>
              <a:t>이 시간에 따라 더 흔들리는 구간이 많다는 의미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형태</a:t>
            </a:r>
            <a:r>
              <a:rPr lang="en-US" altLang="ko-KR" dirty="0"/>
              <a:t>/</a:t>
            </a:r>
            <a:r>
              <a:rPr lang="ko-KR" altLang="en-US" dirty="0"/>
              <a:t>위상 정합</a:t>
            </a:r>
            <a:r>
              <a:rPr lang="en-US" altLang="ko-KR" dirty="0"/>
              <a:t>: </a:t>
            </a:r>
            <a:r>
              <a:rPr lang="ko-KR" altLang="en-US" dirty="0"/>
              <a:t>형태 </a:t>
            </a:r>
            <a:r>
              <a:rPr lang="en-US" altLang="ko-KR" dirty="0"/>
              <a:t>– </a:t>
            </a:r>
            <a:r>
              <a:rPr lang="ko-KR" altLang="en-US" dirty="0"/>
              <a:t>예측과 실제의 증감</a:t>
            </a:r>
            <a:r>
              <a:rPr lang="en-US" altLang="ko-KR" dirty="0"/>
              <a:t>, </a:t>
            </a:r>
            <a:r>
              <a:rPr lang="ko-KR" altLang="en-US" dirty="0"/>
              <a:t>기울기</a:t>
            </a:r>
            <a:r>
              <a:rPr lang="en-US" altLang="ko-KR" dirty="0"/>
              <a:t>, </a:t>
            </a:r>
            <a:r>
              <a:rPr lang="ko-KR" altLang="en-US" dirty="0"/>
              <a:t>곡률이 </a:t>
            </a:r>
            <a:r>
              <a:rPr lang="ko-KR" altLang="en-US" dirty="0" err="1"/>
              <a:t>비슷한가</a:t>
            </a:r>
            <a:r>
              <a:rPr lang="en-US" altLang="ko-KR" dirty="0"/>
              <a:t>? /</a:t>
            </a:r>
            <a:r>
              <a:rPr lang="ko-KR" altLang="en-US" dirty="0"/>
              <a:t> 위상 </a:t>
            </a:r>
            <a:r>
              <a:rPr lang="en-US" altLang="ko-KR" dirty="0"/>
              <a:t>– </a:t>
            </a:r>
            <a:r>
              <a:rPr lang="ko-KR" altLang="en-US" dirty="0"/>
              <a:t>피크</a:t>
            </a:r>
            <a:r>
              <a:rPr lang="en-US" altLang="ko-KR" dirty="0"/>
              <a:t>/</a:t>
            </a:r>
            <a:r>
              <a:rPr lang="ko-KR" altLang="en-US" dirty="0"/>
              <a:t>계곡이 같은 시점에 나타나는가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분포 </a:t>
            </a:r>
            <a:r>
              <a:rPr lang="ko-KR" altLang="en-US" dirty="0" err="1"/>
              <a:t>드리프트</a:t>
            </a:r>
            <a:r>
              <a:rPr lang="en-US" altLang="ko-KR" dirty="0"/>
              <a:t>: </a:t>
            </a:r>
            <a:r>
              <a:rPr lang="ko-KR" altLang="en-US" dirty="0"/>
              <a:t>시간에 따라 평균</a:t>
            </a:r>
            <a:r>
              <a:rPr lang="en-US" altLang="ko-KR" dirty="0"/>
              <a:t>, </a:t>
            </a:r>
            <a:r>
              <a:rPr lang="ko-KR" altLang="en-US" dirty="0"/>
              <a:t>분산 같은 분포 특성이 움직이는 현상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시간</a:t>
            </a:r>
            <a:r>
              <a:rPr lang="en-US" altLang="ko-KR" dirty="0"/>
              <a:t> </a:t>
            </a:r>
            <a:r>
              <a:rPr lang="ko-KR" altLang="en-US" dirty="0"/>
              <a:t>정합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40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 err="1"/>
              <a:t>Sdiff_day</a:t>
            </a:r>
            <a:r>
              <a:rPr lang="en-US" altLang="ko-KR" dirty="0"/>
              <a:t> </a:t>
            </a:r>
            <a:r>
              <a:rPr lang="ko-KR" altLang="en-US" dirty="0"/>
              <a:t>는 입력 </a:t>
            </a:r>
            <a:r>
              <a:rPr lang="en-US" altLang="ko-KR" dirty="0"/>
              <a:t>X</a:t>
            </a:r>
            <a:r>
              <a:rPr lang="ko-KR" altLang="en-US" dirty="0"/>
              <a:t>만 차분으로 다시 실행하고 라벨의 원본을 그대로 두어서 입력의 주기 성분을 빼면 성능이 얼마나 떨어지는가를 볼 수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 err="1"/>
              <a:t>Sdiff_week</a:t>
            </a:r>
            <a:r>
              <a:rPr lang="en-US" altLang="ko-KR" dirty="0"/>
              <a:t> </a:t>
            </a:r>
            <a:r>
              <a:rPr lang="ko-KR" altLang="en-US" dirty="0"/>
              <a:t>는 라벨을 포함한 </a:t>
            </a:r>
            <a:r>
              <a:rPr lang="en-US" altLang="ko-KR" dirty="0"/>
              <a:t>csv </a:t>
            </a:r>
            <a:r>
              <a:rPr lang="ko-KR" altLang="en-US" dirty="0"/>
              <a:t>전체 차분을 수행하여</a:t>
            </a:r>
            <a:r>
              <a:rPr lang="en-US" altLang="ko-KR" dirty="0"/>
              <a:t>, </a:t>
            </a:r>
            <a:r>
              <a:rPr lang="ko-KR" altLang="en-US" dirty="0"/>
              <a:t>하락폭에는 라벨 스케일 변화 영향도 일부 섞임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주기</a:t>
            </a:r>
            <a:r>
              <a:rPr lang="en-US" altLang="ko-KR" dirty="0"/>
              <a:t> </a:t>
            </a:r>
            <a:r>
              <a:rPr lang="ko-KR" altLang="en-US" dirty="0"/>
              <a:t>정합성이 강하다</a:t>
            </a:r>
            <a:r>
              <a:rPr lang="en-US" altLang="ko-KR" dirty="0"/>
              <a:t>: ACF (</a:t>
            </a:r>
            <a:r>
              <a:rPr lang="ko-KR" altLang="en-US" dirty="0"/>
              <a:t>자기상관</a:t>
            </a:r>
            <a:r>
              <a:rPr lang="en-US" altLang="ko-KR" dirty="0"/>
              <a:t>) </a:t>
            </a:r>
            <a:r>
              <a:rPr lang="ko-KR" altLang="en-US" dirty="0"/>
              <a:t>값과 </a:t>
            </a:r>
            <a:r>
              <a:rPr lang="ko-KR" altLang="en-US" dirty="0" err="1"/>
              <a:t>피어슨</a:t>
            </a:r>
            <a:r>
              <a:rPr lang="ko-KR" altLang="en-US" dirty="0"/>
              <a:t> 상관계수 값이 데이터 분석에서 </a:t>
            </a:r>
            <a:r>
              <a:rPr lang="en-US" altLang="ko-KR" dirty="0"/>
              <a:t>ETTm2, h2 </a:t>
            </a:r>
            <a:r>
              <a:rPr lang="ko-KR" altLang="en-US" dirty="0"/>
              <a:t>가 높았었기 때문에 그렇게 설명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주기 정합</a:t>
            </a:r>
            <a:r>
              <a:rPr lang="en-US" altLang="ko-KR" dirty="0"/>
              <a:t>: </a:t>
            </a:r>
            <a:r>
              <a:rPr lang="ko-KR" altLang="en-US" dirty="0"/>
              <a:t>예측의 리듬이 실제의 리듬</a:t>
            </a:r>
            <a:r>
              <a:rPr lang="en-US" altLang="ko-KR" dirty="0"/>
              <a:t>(</a:t>
            </a:r>
            <a:r>
              <a:rPr lang="ko-KR" altLang="en-US" dirty="0"/>
              <a:t>하루</a:t>
            </a:r>
            <a:r>
              <a:rPr lang="en-US" altLang="ko-KR" dirty="0"/>
              <a:t>/</a:t>
            </a:r>
            <a:r>
              <a:rPr lang="ko-KR" altLang="en-US" dirty="0"/>
              <a:t>일주</a:t>
            </a:r>
            <a:r>
              <a:rPr lang="en-US" altLang="ko-KR" dirty="0"/>
              <a:t>)</a:t>
            </a:r>
            <a:r>
              <a:rPr lang="ko-KR" altLang="en-US" dirty="0"/>
              <a:t>과 같은 타이밍으로 반복되는가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57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 err="1"/>
              <a:t>Sdiff_day</a:t>
            </a:r>
            <a:r>
              <a:rPr lang="en-US" altLang="ko-KR" dirty="0"/>
              <a:t> </a:t>
            </a:r>
            <a:r>
              <a:rPr lang="ko-KR" altLang="en-US" dirty="0"/>
              <a:t>는 입력 </a:t>
            </a:r>
            <a:r>
              <a:rPr lang="en-US" altLang="ko-KR" dirty="0"/>
              <a:t>X</a:t>
            </a:r>
            <a:r>
              <a:rPr lang="ko-KR" altLang="en-US" dirty="0"/>
              <a:t>만 차분으로 다시 실행하고 라벨의 원본을 그대로 두어서 입력의 주기 성분을 빼면 성능이 얼마나 떨어지는가를 볼 수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 err="1"/>
              <a:t>Sdiff_week</a:t>
            </a:r>
            <a:r>
              <a:rPr lang="en-US" altLang="ko-KR" dirty="0"/>
              <a:t> </a:t>
            </a:r>
            <a:r>
              <a:rPr lang="ko-KR" altLang="en-US" dirty="0"/>
              <a:t>는 라벨을 포함한 </a:t>
            </a:r>
            <a:r>
              <a:rPr lang="en-US" altLang="ko-KR" dirty="0"/>
              <a:t>csv </a:t>
            </a:r>
            <a:r>
              <a:rPr lang="ko-KR" altLang="en-US" dirty="0"/>
              <a:t>전체 차분을 수행하여</a:t>
            </a:r>
            <a:r>
              <a:rPr lang="en-US" altLang="ko-KR" dirty="0"/>
              <a:t>, </a:t>
            </a:r>
            <a:r>
              <a:rPr lang="ko-KR" altLang="en-US" dirty="0"/>
              <a:t>하락폭에는 라벨 스케일 변화 영향도 일부 섞임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주기</a:t>
            </a:r>
            <a:r>
              <a:rPr lang="en-US" altLang="ko-KR" dirty="0"/>
              <a:t> </a:t>
            </a:r>
            <a:r>
              <a:rPr lang="ko-KR" altLang="en-US" dirty="0"/>
              <a:t>정합성이 강하다</a:t>
            </a:r>
            <a:r>
              <a:rPr lang="en-US" altLang="ko-KR" dirty="0"/>
              <a:t>: ACF (</a:t>
            </a:r>
            <a:r>
              <a:rPr lang="ko-KR" altLang="en-US" dirty="0"/>
              <a:t>자기상관</a:t>
            </a:r>
            <a:r>
              <a:rPr lang="en-US" altLang="ko-KR" dirty="0"/>
              <a:t>) </a:t>
            </a:r>
            <a:r>
              <a:rPr lang="ko-KR" altLang="en-US" dirty="0"/>
              <a:t>값과 </a:t>
            </a:r>
            <a:r>
              <a:rPr lang="ko-KR" altLang="en-US" dirty="0" err="1"/>
              <a:t>피어슨</a:t>
            </a:r>
            <a:r>
              <a:rPr lang="ko-KR" altLang="en-US" dirty="0"/>
              <a:t> 상관계수 값이 데이터 분석에서 </a:t>
            </a:r>
            <a:r>
              <a:rPr lang="en-US" altLang="ko-KR" dirty="0"/>
              <a:t>ETTm2, h2 </a:t>
            </a:r>
            <a:r>
              <a:rPr lang="ko-KR" altLang="en-US" dirty="0"/>
              <a:t>가 높았었기 때문에 그렇게 설명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619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 err="1"/>
              <a:t>Sdiff_day</a:t>
            </a:r>
            <a:r>
              <a:rPr lang="en-US" altLang="ko-KR" dirty="0"/>
              <a:t> </a:t>
            </a:r>
            <a:r>
              <a:rPr lang="ko-KR" altLang="en-US" dirty="0"/>
              <a:t>는 입력 </a:t>
            </a:r>
            <a:r>
              <a:rPr lang="en-US" altLang="ko-KR" dirty="0"/>
              <a:t>X</a:t>
            </a:r>
            <a:r>
              <a:rPr lang="ko-KR" altLang="en-US" dirty="0"/>
              <a:t>만 차분으로 다시 실행하고 라벨의 원본을 그대로 두어서 입력의 주기 성분을 빼면 성능이 얼마나 떨어지는가를 볼 수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 err="1"/>
              <a:t>Sdiff_week</a:t>
            </a:r>
            <a:r>
              <a:rPr lang="en-US" altLang="ko-KR" dirty="0"/>
              <a:t> </a:t>
            </a:r>
            <a:r>
              <a:rPr lang="ko-KR" altLang="en-US" dirty="0"/>
              <a:t>는 라벨을 포함한 </a:t>
            </a:r>
            <a:r>
              <a:rPr lang="en-US" altLang="ko-KR" dirty="0"/>
              <a:t>csv </a:t>
            </a:r>
            <a:r>
              <a:rPr lang="ko-KR" altLang="en-US" dirty="0"/>
              <a:t>전체 차분을 수행하여</a:t>
            </a:r>
            <a:r>
              <a:rPr lang="en-US" altLang="ko-KR" dirty="0"/>
              <a:t>, </a:t>
            </a:r>
            <a:r>
              <a:rPr lang="ko-KR" altLang="en-US" dirty="0"/>
              <a:t>하락폭에는 라벨 스케일 변화 영향도 일부 섞임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주기</a:t>
            </a:r>
            <a:r>
              <a:rPr lang="en-US" altLang="ko-KR" dirty="0"/>
              <a:t> </a:t>
            </a:r>
            <a:r>
              <a:rPr lang="ko-KR" altLang="en-US" dirty="0"/>
              <a:t>정합성이 강하다</a:t>
            </a:r>
            <a:r>
              <a:rPr lang="en-US" altLang="ko-KR" dirty="0"/>
              <a:t>: ACF (</a:t>
            </a:r>
            <a:r>
              <a:rPr lang="ko-KR" altLang="en-US" dirty="0"/>
              <a:t>자기상관</a:t>
            </a:r>
            <a:r>
              <a:rPr lang="en-US" altLang="ko-KR" dirty="0"/>
              <a:t>) </a:t>
            </a:r>
            <a:r>
              <a:rPr lang="ko-KR" altLang="en-US" dirty="0"/>
              <a:t>값과 </a:t>
            </a:r>
            <a:r>
              <a:rPr lang="ko-KR" altLang="en-US" dirty="0" err="1"/>
              <a:t>피어슨</a:t>
            </a:r>
            <a:r>
              <a:rPr lang="ko-KR" altLang="en-US" dirty="0"/>
              <a:t> 상관계수 값이 데이터 분석에서 </a:t>
            </a:r>
            <a:r>
              <a:rPr lang="en-US" altLang="ko-KR" dirty="0"/>
              <a:t>ETTm2, h2 </a:t>
            </a:r>
            <a:r>
              <a:rPr lang="ko-KR" altLang="en-US" dirty="0"/>
              <a:t>가 높았었기 때문에 그렇게 설명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489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82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534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dirty="0"/>
              <a:t>EMA(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조건 벡터 생성 시 새 정보에 대한 반영 비율을 줄여 변동성을 낮춤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): </a:t>
            </a:r>
            <a:r>
              <a:rPr lang="ko-KR" altLang="en-US" sz="12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최근값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10%, </a:t>
            </a:r>
            <a:r>
              <a:rPr lang="ko-KR" altLang="en-US" sz="12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과거값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90%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조건 벡터를 생성</a:t>
            </a:r>
            <a:endParaRPr lang="en-US" altLang="ko-KR" sz="12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예를 들어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주식 차트의 지수이동평균과 같이 값이 갑자기 꺾여도 완만하게만 따라가도록 만듦 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그에 따라 커널도 느리게 바뀜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377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H3 </a:t>
            </a:r>
            <a:r>
              <a:rPr lang="ko-KR" altLang="en-US" dirty="0"/>
              <a:t>에 있는 표의 값은 일별 </a:t>
            </a:r>
            <a:r>
              <a:rPr lang="en-US" altLang="ko-KR" dirty="0"/>
              <a:t>PD</a:t>
            </a:r>
            <a:r>
              <a:rPr lang="ko-KR" altLang="en-US" dirty="0"/>
              <a:t>를 채널별로 구한 뒤 </a:t>
            </a:r>
            <a:r>
              <a:rPr lang="en-US" altLang="ko-KR" dirty="0"/>
              <a:t>-&gt; </a:t>
            </a:r>
            <a:r>
              <a:rPr lang="ko-KR" altLang="en-US" dirty="0"/>
              <a:t>일 방향 중앙값</a:t>
            </a:r>
            <a:r>
              <a:rPr lang="en-US" altLang="ko-KR" dirty="0"/>
              <a:t>(outlier day </a:t>
            </a:r>
            <a:r>
              <a:rPr lang="ko-KR" altLang="en-US" dirty="0"/>
              <a:t>완충</a:t>
            </a:r>
            <a:r>
              <a:rPr lang="en-US" altLang="ko-KR" dirty="0"/>
              <a:t>) </a:t>
            </a:r>
            <a:r>
              <a:rPr lang="ko-KR" altLang="en-US" dirty="0"/>
              <a:t>과 채널 방향 중앙값</a:t>
            </a:r>
            <a:r>
              <a:rPr lang="en-US" altLang="ko-KR" dirty="0"/>
              <a:t>(</a:t>
            </a:r>
            <a:r>
              <a:rPr lang="ko-KR" altLang="en-US" dirty="0"/>
              <a:t>채널 간 </a:t>
            </a:r>
            <a:r>
              <a:rPr lang="en-US" altLang="ko-KR" dirty="0"/>
              <a:t>outlier </a:t>
            </a:r>
            <a:r>
              <a:rPr lang="ko-KR" altLang="en-US" dirty="0"/>
              <a:t>완충</a:t>
            </a:r>
            <a:r>
              <a:rPr lang="en-US" altLang="ko-KR" dirty="0"/>
              <a:t>) </a:t>
            </a:r>
            <a:r>
              <a:rPr lang="ko-KR" altLang="en-US" dirty="0"/>
              <a:t>의 </a:t>
            </a:r>
            <a:r>
              <a:rPr lang="en-US" altLang="ko-KR" dirty="0"/>
              <a:t>median </a:t>
            </a:r>
            <a:r>
              <a:rPr lang="ko-KR" altLang="en-US" dirty="0"/>
              <a:t>값 사용</a:t>
            </a:r>
            <a:endParaRPr lang="en-US" altLang="ko-KR" dirty="0"/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861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H3 </a:t>
            </a:r>
            <a:r>
              <a:rPr lang="ko-KR" altLang="en-US" dirty="0"/>
              <a:t>에 있는 표의 값은 일 방향 평균과 채널 방향 평균을 합쳐 </a:t>
            </a:r>
            <a:r>
              <a:rPr lang="en-US" altLang="ko-KR" dirty="0"/>
              <a:t>mean </a:t>
            </a:r>
            <a:r>
              <a:rPr lang="ko-KR" altLang="en-US" dirty="0"/>
              <a:t>값을 사용함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069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1655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121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Elasticity: SNR </a:t>
            </a:r>
            <a:r>
              <a:rPr lang="ko-KR" altLang="en-US" dirty="0"/>
              <a:t>이 </a:t>
            </a:r>
            <a:r>
              <a:rPr lang="en-US" altLang="ko-KR" dirty="0"/>
              <a:t>1% </a:t>
            </a:r>
            <a:r>
              <a:rPr lang="ko-KR" altLang="en-US" dirty="0"/>
              <a:t>감소할 때 </a:t>
            </a:r>
            <a:r>
              <a:rPr lang="en-US" altLang="ko-KR" dirty="0"/>
              <a:t>RMSE </a:t>
            </a:r>
            <a:r>
              <a:rPr lang="ko-KR" altLang="en-US" dirty="0"/>
              <a:t>가 몇 </a:t>
            </a:r>
            <a:r>
              <a:rPr lang="en-US" altLang="ko-KR" dirty="0"/>
              <a:t>% </a:t>
            </a:r>
            <a:r>
              <a:rPr lang="ko-KR" altLang="en-US" dirty="0"/>
              <a:t>증가하는가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3333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Elasticity: SNR </a:t>
            </a:r>
            <a:r>
              <a:rPr lang="ko-KR" altLang="en-US" dirty="0"/>
              <a:t>이 </a:t>
            </a:r>
            <a:r>
              <a:rPr lang="en-US" altLang="ko-KR" dirty="0"/>
              <a:t>1% </a:t>
            </a:r>
            <a:r>
              <a:rPr lang="ko-KR" altLang="en-US" dirty="0"/>
              <a:t>감소할 때 </a:t>
            </a:r>
            <a:r>
              <a:rPr lang="en-US" altLang="ko-KR" dirty="0"/>
              <a:t>RMSE </a:t>
            </a:r>
            <a:r>
              <a:rPr lang="ko-KR" altLang="en-US" dirty="0"/>
              <a:t>가 몇 </a:t>
            </a:r>
            <a:r>
              <a:rPr lang="en-US" altLang="ko-KR" dirty="0"/>
              <a:t>% </a:t>
            </a:r>
            <a:r>
              <a:rPr lang="ko-KR" altLang="en-US" dirty="0"/>
              <a:t>증가하는가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029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7975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225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Lag: </a:t>
            </a:r>
            <a:r>
              <a:rPr lang="ko-KR" altLang="en-US" dirty="0"/>
              <a:t>몇 스텝 전의 값을 </a:t>
            </a:r>
            <a:r>
              <a:rPr lang="ko-KR" altLang="en-US" dirty="0" err="1"/>
              <a:t>참고하느냐에</a:t>
            </a:r>
            <a:r>
              <a:rPr lang="ko-KR" altLang="en-US" dirty="0"/>
              <a:t> 대한 시간 간격</a:t>
            </a:r>
            <a:r>
              <a:rPr lang="en-US" altLang="ko-KR" dirty="0"/>
              <a:t>. (</a:t>
            </a:r>
            <a:r>
              <a:rPr lang="ko-KR" altLang="en-US" dirty="0"/>
              <a:t>얼마나 과거를 </a:t>
            </a:r>
            <a:r>
              <a:rPr lang="ko-KR" altLang="en-US" dirty="0" err="1"/>
              <a:t>참고하느냐에</a:t>
            </a:r>
            <a:r>
              <a:rPr lang="ko-KR" altLang="en-US" dirty="0"/>
              <a:t> 대한 시간 간격</a:t>
            </a:r>
            <a:r>
              <a:rPr lang="en-US" altLang="ko-KR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ETTh</a:t>
            </a:r>
            <a:r>
              <a:rPr lang="ko-KR" altLang="en-US" dirty="0"/>
              <a:t>는 하루 전 </a:t>
            </a:r>
            <a:r>
              <a:rPr lang="en-US" altLang="ko-KR" dirty="0"/>
              <a:t>– 24 lag, </a:t>
            </a:r>
            <a:r>
              <a:rPr lang="ko-KR" altLang="en-US" dirty="0"/>
              <a:t>일주일 전 </a:t>
            </a:r>
            <a:r>
              <a:rPr lang="en-US" altLang="ko-KR" dirty="0"/>
              <a:t>– 168 lag / </a:t>
            </a:r>
            <a:r>
              <a:rPr lang="en-US" altLang="ko-KR" dirty="0" err="1"/>
              <a:t>ETTm</a:t>
            </a:r>
            <a:r>
              <a:rPr lang="ko-KR" altLang="en-US" dirty="0"/>
              <a:t>은 하루 전 </a:t>
            </a:r>
            <a:r>
              <a:rPr lang="en-US" altLang="ko-KR" dirty="0"/>
              <a:t>– 96 lag, </a:t>
            </a:r>
            <a:r>
              <a:rPr lang="ko-KR" altLang="en-US" dirty="0"/>
              <a:t>일주일 전</a:t>
            </a:r>
            <a:r>
              <a:rPr lang="en-US" altLang="ko-KR" dirty="0"/>
              <a:t> – 672 lag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7792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 err="1"/>
              <a:t>라그</a:t>
            </a:r>
            <a:r>
              <a:rPr lang="ko-KR" altLang="en-US" dirty="0"/>
              <a:t> </a:t>
            </a:r>
            <a:r>
              <a:rPr lang="en-US" altLang="ko-KR" dirty="0"/>
              <a:t>P: </a:t>
            </a:r>
            <a:r>
              <a:rPr lang="ko-KR" altLang="en-US" dirty="0"/>
              <a:t>얼마나 과거를</a:t>
            </a:r>
            <a:r>
              <a:rPr lang="en-US" altLang="ko-KR" dirty="0"/>
              <a:t> </a:t>
            </a:r>
            <a:r>
              <a:rPr lang="ko-KR" altLang="en-US" dirty="0"/>
              <a:t>참고하느냐 라는 시간 간격 </a:t>
            </a:r>
            <a:r>
              <a:rPr lang="en-US" altLang="ko-KR" dirty="0"/>
              <a:t>/ </a:t>
            </a:r>
            <a:r>
              <a:rPr lang="en-US" altLang="ko-KR" dirty="0" err="1"/>
              <a:t>ETTh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:24, </a:t>
            </a:r>
            <a:r>
              <a:rPr lang="ko-KR" altLang="en-US" dirty="0"/>
              <a:t>일주</a:t>
            </a:r>
            <a:r>
              <a:rPr lang="en-US" altLang="ko-KR" dirty="0"/>
              <a:t>: 168 / </a:t>
            </a:r>
            <a:r>
              <a:rPr lang="en-US" altLang="ko-KR" dirty="0" err="1"/>
              <a:t>ETTm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:96, </a:t>
            </a:r>
            <a:r>
              <a:rPr lang="ko-KR" altLang="en-US" dirty="0"/>
              <a:t>일주</a:t>
            </a:r>
            <a:r>
              <a:rPr lang="en-US" altLang="ko-KR" dirty="0"/>
              <a:t>:672</a:t>
            </a:r>
          </a:p>
          <a:p>
            <a:pPr marL="0" indent="0">
              <a:buFontTx/>
              <a:buNone/>
            </a:pPr>
            <a:r>
              <a:rPr lang="ko-KR" altLang="en-US" dirty="0"/>
              <a:t>밴드 평균</a:t>
            </a:r>
            <a:r>
              <a:rPr lang="en-US" altLang="ko-KR" dirty="0"/>
              <a:t>: </a:t>
            </a:r>
            <a:r>
              <a:rPr lang="ko-KR" altLang="en-US" dirty="0"/>
              <a:t>정수 </a:t>
            </a:r>
            <a:r>
              <a:rPr lang="ko-KR" altLang="en-US" dirty="0" err="1"/>
              <a:t>라그</a:t>
            </a:r>
            <a:r>
              <a:rPr lang="ko-KR" altLang="en-US" dirty="0"/>
              <a:t> 하나만 보지 않고 </a:t>
            </a:r>
            <a:r>
              <a:rPr lang="en-US" altLang="ko-KR" dirty="0"/>
              <a:t>[P-b, </a:t>
            </a:r>
            <a:r>
              <a:rPr lang="en-US" altLang="ko-KR" dirty="0" err="1"/>
              <a:t>P+b</a:t>
            </a:r>
            <a:r>
              <a:rPr lang="en-US" altLang="ko-KR" dirty="0"/>
              <a:t>] </a:t>
            </a:r>
            <a:r>
              <a:rPr lang="ko-KR" altLang="en-US" dirty="0"/>
              <a:t>범위에서 평균을 내어 노이즈에 둔감하게 만듦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7081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 err="1"/>
              <a:t>라그</a:t>
            </a:r>
            <a:r>
              <a:rPr lang="ko-KR" altLang="en-US" dirty="0"/>
              <a:t> </a:t>
            </a:r>
            <a:r>
              <a:rPr lang="en-US" altLang="ko-KR" dirty="0"/>
              <a:t>P: </a:t>
            </a:r>
            <a:r>
              <a:rPr lang="ko-KR" altLang="en-US" dirty="0"/>
              <a:t>얼마나 과거를</a:t>
            </a:r>
            <a:r>
              <a:rPr lang="en-US" altLang="ko-KR" dirty="0"/>
              <a:t> </a:t>
            </a:r>
            <a:r>
              <a:rPr lang="ko-KR" altLang="en-US" dirty="0"/>
              <a:t>참고하느냐 라는 시간 간격 </a:t>
            </a:r>
            <a:r>
              <a:rPr lang="en-US" altLang="ko-KR" dirty="0"/>
              <a:t>/ </a:t>
            </a:r>
            <a:r>
              <a:rPr lang="en-US" altLang="ko-KR" dirty="0" err="1"/>
              <a:t>ETTh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:24, </a:t>
            </a:r>
            <a:r>
              <a:rPr lang="ko-KR" altLang="en-US" dirty="0"/>
              <a:t>일주</a:t>
            </a:r>
            <a:r>
              <a:rPr lang="en-US" altLang="ko-KR" dirty="0"/>
              <a:t>: 168 / </a:t>
            </a:r>
            <a:r>
              <a:rPr lang="en-US" altLang="ko-KR" dirty="0" err="1"/>
              <a:t>ETTm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:96, </a:t>
            </a:r>
            <a:r>
              <a:rPr lang="ko-KR" altLang="en-US" dirty="0"/>
              <a:t>일주</a:t>
            </a:r>
            <a:r>
              <a:rPr lang="en-US" altLang="ko-KR" dirty="0"/>
              <a:t>:672</a:t>
            </a:r>
          </a:p>
          <a:p>
            <a:pPr marL="0" indent="0">
              <a:buFontTx/>
              <a:buNone/>
            </a:pPr>
            <a:r>
              <a:rPr lang="ko-KR" altLang="en-US" dirty="0"/>
              <a:t>밴드 평균</a:t>
            </a:r>
            <a:r>
              <a:rPr lang="en-US" altLang="ko-KR" dirty="0"/>
              <a:t>: </a:t>
            </a:r>
            <a:r>
              <a:rPr lang="ko-KR" altLang="en-US" dirty="0"/>
              <a:t>정수 </a:t>
            </a:r>
            <a:r>
              <a:rPr lang="ko-KR" altLang="en-US" dirty="0" err="1"/>
              <a:t>라그</a:t>
            </a:r>
            <a:r>
              <a:rPr lang="ko-KR" altLang="en-US" dirty="0"/>
              <a:t> 하나만 보지 않고 </a:t>
            </a:r>
            <a:r>
              <a:rPr lang="en-US" altLang="ko-KR" dirty="0"/>
              <a:t>[P-b, </a:t>
            </a:r>
            <a:r>
              <a:rPr lang="en-US" altLang="ko-KR" dirty="0" err="1"/>
              <a:t>P+b</a:t>
            </a:r>
            <a:r>
              <a:rPr lang="en-US" altLang="ko-KR" dirty="0"/>
              <a:t>] </a:t>
            </a:r>
            <a:r>
              <a:rPr lang="ko-KR" altLang="en-US" dirty="0"/>
              <a:t>범위에서 평균을 내어 노이즈에 둔감하게 만듦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2974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 err="1"/>
              <a:t>라그</a:t>
            </a:r>
            <a:r>
              <a:rPr lang="ko-KR" altLang="en-US" dirty="0"/>
              <a:t> </a:t>
            </a:r>
            <a:r>
              <a:rPr lang="en-US" altLang="ko-KR" dirty="0"/>
              <a:t>P: </a:t>
            </a:r>
            <a:r>
              <a:rPr lang="ko-KR" altLang="en-US" dirty="0"/>
              <a:t>얼마나 과거를</a:t>
            </a:r>
            <a:r>
              <a:rPr lang="en-US" altLang="ko-KR" dirty="0"/>
              <a:t> </a:t>
            </a:r>
            <a:r>
              <a:rPr lang="ko-KR" altLang="en-US" dirty="0"/>
              <a:t>참고하느냐 라는 시간 간격 </a:t>
            </a:r>
            <a:r>
              <a:rPr lang="en-US" altLang="ko-KR" dirty="0"/>
              <a:t>/ </a:t>
            </a:r>
            <a:r>
              <a:rPr lang="en-US" altLang="ko-KR" dirty="0" err="1"/>
              <a:t>ETTh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:24, </a:t>
            </a:r>
            <a:r>
              <a:rPr lang="ko-KR" altLang="en-US" dirty="0"/>
              <a:t>일주</a:t>
            </a:r>
            <a:r>
              <a:rPr lang="en-US" altLang="ko-KR" dirty="0"/>
              <a:t>: 168 / </a:t>
            </a:r>
            <a:r>
              <a:rPr lang="en-US" altLang="ko-KR" dirty="0" err="1"/>
              <a:t>ETTm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:96, </a:t>
            </a:r>
            <a:r>
              <a:rPr lang="ko-KR" altLang="en-US" dirty="0"/>
              <a:t>일주</a:t>
            </a:r>
            <a:r>
              <a:rPr lang="en-US" altLang="ko-KR" dirty="0"/>
              <a:t>:672</a:t>
            </a:r>
          </a:p>
          <a:p>
            <a:pPr marL="0" indent="0">
              <a:buFontTx/>
              <a:buNone/>
            </a:pPr>
            <a:r>
              <a:rPr lang="ko-KR" altLang="en-US" dirty="0"/>
              <a:t>밴드 평균</a:t>
            </a:r>
            <a:r>
              <a:rPr lang="en-US" altLang="ko-KR" dirty="0"/>
              <a:t>: </a:t>
            </a:r>
            <a:r>
              <a:rPr lang="ko-KR" altLang="en-US" dirty="0"/>
              <a:t>정수 </a:t>
            </a:r>
            <a:r>
              <a:rPr lang="ko-KR" altLang="en-US" dirty="0" err="1"/>
              <a:t>라그</a:t>
            </a:r>
            <a:r>
              <a:rPr lang="ko-KR" altLang="en-US" dirty="0"/>
              <a:t> 하나만 보지 않고 </a:t>
            </a:r>
            <a:r>
              <a:rPr lang="en-US" altLang="ko-KR" dirty="0"/>
              <a:t>[P-b, </a:t>
            </a:r>
            <a:r>
              <a:rPr lang="en-US" altLang="ko-KR" dirty="0" err="1"/>
              <a:t>P+b</a:t>
            </a:r>
            <a:r>
              <a:rPr lang="en-US" altLang="ko-KR" dirty="0"/>
              <a:t>] </a:t>
            </a:r>
            <a:r>
              <a:rPr lang="ko-KR" altLang="en-US" dirty="0"/>
              <a:t>범위에서 평균을 내어 노이즈에 둔감하게 만듦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017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 err="1"/>
              <a:t>라그</a:t>
            </a:r>
            <a:r>
              <a:rPr lang="ko-KR" altLang="en-US" dirty="0"/>
              <a:t> </a:t>
            </a:r>
            <a:r>
              <a:rPr lang="en-US" altLang="ko-KR" dirty="0"/>
              <a:t>P: </a:t>
            </a:r>
            <a:r>
              <a:rPr lang="ko-KR" altLang="en-US" dirty="0"/>
              <a:t>얼마나 과거를</a:t>
            </a:r>
            <a:r>
              <a:rPr lang="en-US" altLang="ko-KR" dirty="0"/>
              <a:t> </a:t>
            </a:r>
            <a:r>
              <a:rPr lang="ko-KR" altLang="en-US" dirty="0"/>
              <a:t>참고하느냐 라는 시간 간격 </a:t>
            </a:r>
            <a:r>
              <a:rPr lang="en-US" altLang="ko-KR" dirty="0"/>
              <a:t>/ </a:t>
            </a:r>
            <a:r>
              <a:rPr lang="en-US" altLang="ko-KR" dirty="0" err="1"/>
              <a:t>ETTh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:24, </a:t>
            </a:r>
            <a:r>
              <a:rPr lang="ko-KR" altLang="en-US" dirty="0"/>
              <a:t>일주</a:t>
            </a:r>
            <a:r>
              <a:rPr lang="en-US" altLang="ko-KR" dirty="0"/>
              <a:t>: 168 / </a:t>
            </a:r>
            <a:r>
              <a:rPr lang="en-US" altLang="ko-KR" dirty="0" err="1"/>
              <a:t>ETTm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:96, </a:t>
            </a:r>
            <a:r>
              <a:rPr lang="ko-KR" altLang="en-US" dirty="0"/>
              <a:t>일주</a:t>
            </a:r>
            <a:r>
              <a:rPr lang="en-US" altLang="ko-KR" dirty="0"/>
              <a:t>:672</a:t>
            </a:r>
          </a:p>
          <a:p>
            <a:pPr marL="0" indent="0">
              <a:buFontTx/>
              <a:buNone/>
            </a:pPr>
            <a:r>
              <a:rPr lang="ko-KR" altLang="en-US" dirty="0"/>
              <a:t>밴드 평균</a:t>
            </a:r>
            <a:r>
              <a:rPr lang="en-US" altLang="ko-KR" dirty="0"/>
              <a:t>: </a:t>
            </a:r>
            <a:r>
              <a:rPr lang="ko-KR" altLang="en-US" dirty="0"/>
              <a:t>정수 </a:t>
            </a:r>
            <a:r>
              <a:rPr lang="ko-KR" altLang="en-US" dirty="0" err="1"/>
              <a:t>라그</a:t>
            </a:r>
            <a:r>
              <a:rPr lang="ko-KR" altLang="en-US" dirty="0"/>
              <a:t> 하나만 보지 않고 </a:t>
            </a:r>
            <a:r>
              <a:rPr lang="en-US" altLang="ko-KR" dirty="0"/>
              <a:t>[P-b, </a:t>
            </a:r>
            <a:r>
              <a:rPr lang="en-US" altLang="ko-KR" dirty="0" err="1"/>
              <a:t>P+b</a:t>
            </a:r>
            <a:r>
              <a:rPr lang="en-US" altLang="ko-KR" dirty="0"/>
              <a:t>] </a:t>
            </a:r>
            <a:r>
              <a:rPr lang="ko-KR" altLang="en-US" dirty="0"/>
              <a:t>범위에서 평균을 내어 노이즈에 둔감하게 만듦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2977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 err="1"/>
              <a:t>라그</a:t>
            </a:r>
            <a:r>
              <a:rPr lang="ko-KR" altLang="en-US" dirty="0"/>
              <a:t> </a:t>
            </a:r>
            <a:r>
              <a:rPr lang="en-US" altLang="ko-KR" dirty="0"/>
              <a:t>P: </a:t>
            </a:r>
            <a:r>
              <a:rPr lang="ko-KR" altLang="en-US" dirty="0"/>
              <a:t>얼마나 과거를</a:t>
            </a:r>
            <a:r>
              <a:rPr lang="en-US" altLang="ko-KR" dirty="0"/>
              <a:t> </a:t>
            </a:r>
            <a:r>
              <a:rPr lang="ko-KR" altLang="en-US" dirty="0"/>
              <a:t>참고하느냐 라는 시간 간격 </a:t>
            </a:r>
            <a:r>
              <a:rPr lang="en-US" altLang="ko-KR" dirty="0"/>
              <a:t>/ </a:t>
            </a:r>
            <a:r>
              <a:rPr lang="en-US" altLang="ko-KR" dirty="0" err="1"/>
              <a:t>ETTh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:24, </a:t>
            </a:r>
            <a:r>
              <a:rPr lang="ko-KR" altLang="en-US" dirty="0"/>
              <a:t>일주</a:t>
            </a:r>
            <a:r>
              <a:rPr lang="en-US" altLang="ko-KR" dirty="0"/>
              <a:t>: 168 / </a:t>
            </a:r>
            <a:r>
              <a:rPr lang="en-US" altLang="ko-KR" dirty="0" err="1"/>
              <a:t>ETTm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:96, </a:t>
            </a:r>
            <a:r>
              <a:rPr lang="ko-KR" altLang="en-US" dirty="0"/>
              <a:t>일주</a:t>
            </a:r>
            <a:r>
              <a:rPr lang="en-US" altLang="ko-KR" dirty="0"/>
              <a:t>:672</a:t>
            </a:r>
          </a:p>
          <a:p>
            <a:pPr marL="0" indent="0">
              <a:buFontTx/>
              <a:buNone/>
            </a:pPr>
            <a:r>
              <a:rPr lang="ko-KR" altLang="en-US" dirty="0"/>
              <a:t>밴드 평균</a:t>
            </a:r>
            <a:r>
              <a:rPr lang="en-US" altLang="ko-KR" dirty="0"/>
              <a:t>: </a:t>
            </a:r>
            <a:r>
              <a:rPr lang="ko-KR" altLang="en-US" dirty="0"/>
              <a:t>정수 </a:t>
            </a:r>
            <a:r>
              <a:rPr lang="ko-KR" altLang="en-US" dirty="0" err="1"/>
              <a:t>라그</a:t>
            </a:r>
            <a:r>
              <a:rPr lang="ko-KR" altLang="en-US" dirty="0"/>
              <a:t> 하나만 보지 않고 </a:t>
            </a:r>
            <a:r>
              <a:rPr lang="en-US" altLang="ko-KR" dirty="0"/>
              <a:t>[P-b, </a:t>
            </a:r>
            <a:r>
              <a:rPr lang="en-US" altLang="ko-KR" dirty="0" err="1"/>
              <a:t>P+b</a:t>
            </a:r>
            <a:r>
              <a:rPr lang="en-US" altLang="ko-KR" dirty="0"/>
              <a:t>] </a:t>
            </a:r>
            <a:r>
              <a:rPr lang="ko-KR" altLang="en-US" dirty="0"/>
              <a:t>범위에서 평균을 내어 노이즈에 둔감하게 만듦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1259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7889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10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8790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정규화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역정규화가 누적 스케일 변동과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Regime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변화를 완충하는 것을 보임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ETTh2, ETTm1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(Mean) 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(Variance)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일관되게 감소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  <m:r>
                      <m:rPr>
                        <m:nor/>
                      </m:rPr>
                      <a:rPr lang="en-US" altLang="ko-KR" sz="1200" dirty="0"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· </m:t>
                    </m:r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모두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증가했으나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감소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b="0" i="0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는</m:t>
                    </m:r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증가했으나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dirty="0"/>
              </a:p>
              <a:p>
                <a:pPr marL="171450" indent="-171450">
                  <a:buFontTx/>
                  <a:buChar char="-"/>
                </a:pPr>
                <a:r>
                  <a:rPr lang="ko-KR" altLang="en-US" dirty="0"/>
                  <a:t>분포 </a:t>
                </a:r>
                <a:r>
                  <a:rPr lang="ko-KR" altLang="en-US" dirty="0" err="1"/>
                  <a:t>드리프트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시간에 따라 데이터 분포가 달라지는 현상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정규화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역정규화가 누적 스케일 변동과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Regime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변화를 완충하는 것을 보임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ETTh2, ETTm1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(Mean) ·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</a:t>
                </a:r>
                <a:r>
                  <a:rPr lang="en-US" altLang="ko-KR" sz="1200" b="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(Variance)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일관되게 감소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i="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"</a:t>
                </a:r>
                <a:r>
                  <a:rPr lang="en-US" altLang="ko-KR" sz="1200" i="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"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^2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모두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증가했으나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감소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^2</a:t>
                </a:r>
                <a:r>
                  <a:rPr lang="en-US" altLang="ko-KR" sz="1200" b="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증가했으나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dirty="0"/>
              </a:p>
              <a:p>
                <a:pPr marL="171450" indent="-171450">
                  <a:buFontTx/>
                  <a:buChar char="-"/>
                </a:pPr>
                <a:r>
                  <a:rPr lang="ko-KR" altLang="en-US" dirty="0"/>
                  <a:t>분포 </a:t>
                </a:r>
                <a:r>
                  <a:rPr lang="ko-KR" altLang="en-US" dirty="0" err="1"/>
                  <a:t>드리프트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시간에 따라 데이터 분포가 달라지는 현상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6093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정규화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역정규화가 누적 스케일 변동과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Regime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변화를 완충하는 것을 보임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ETTh2, ETTm1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(Mean) ·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</a:t>
                </a:r>
                <a:r>
                  <a:rPr lang="en-US" altLang="ko-KR" sz="1200" b="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(Variance)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일관되게 감소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i="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"</a:t>
                </a:r>
                <a:r>
                  <a:rPr lang="en-US" altLang="ko-KR" sz="1200" i="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"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^2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모두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증가했으나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감소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^2</a:t>
                </a:r>
                <a:r>
                  <a:rPr lang="en-US" altLang="ko-KR" sz="1200" b="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증가했으나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dirty="0"/>
              </a:p>
              <a:p>
                <a:pPr marL="171450" indent="-171450">
                  <a:buFontTx/>
                  <a:buChar char="-"/>
                </a:pPr>
                <a:r>
                  <a:rPr lang="ko-KR" altLang="en-US" dirty="0"/>
                  <a:t>분포 </a:t>
                </a:r>
                <a:r>
                  <a:rPr lang="ko-KR" altLang="en-US" dirty="0" err="1"/>
                  <a:t>드리프트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시간에 따라 데이터 분포가 달라지는 현상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5555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7870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3693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5978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3295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9412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5356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Seed 10</a:t>
            </a:r>
            <a:r>
              <a:rPr lang="ko-KR" altLang="en-US" dirty="0"/>
              <a:t>개 실험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1629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Seed 10</a:t>
            </a:r>
            <a:r>
              <a:rPr lang="ko-KR" altLang="en-US" dirty="0"/>
              <a:t>개 실험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2947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Seed 10</a:t>
            </a:r>
            <a:r>
              <a:rPr lang="ko-KR" altLang="en-US" dirty="0"/>
              <a:t>개 실험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9693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Seed 10</a:t>
            </a:r>
            <a:r>
              <a:rPr lang="ko-KR" altLang="en-US" dirty="0"/>
              <a:t>개 실험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1163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Seed 10</a:t>
            </a:r>
            <a:r>
              <a:rPr lang="ko-KR" altLang="en-US" dirty="0"/>
              <a:t>개 실험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041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D72A1FB-089C-DFA1-A65C-E2653D557EB5}"/>
              </a:ext>
            </a:extLst>
          </p:cNvPr>
          <p:cNvSpPr/>
          <p:nvPr userDrawn="1"/>
        </p:nvSpPr>
        <p:spPr>
          <a:xfrm>
            <a:off x="6519833" y="287529"/>
            <a:ext cx="2333221" cy="548993"/>
          </a:xfrm>
          <a:prstGeom prst="roundRect">
            <a:avLst/>
          </a:prstGeom>
          <a:blipFill dpi="0" rotWithShape="1">
            <a:blip r:embed="rId2">
              <a:alphaModFix amt="5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62286FF-1126-DDB2-C6AE-C06427DE605D}"/>
              </a:ext>
            </a:extLst>
          </p:cNvPr>
          <p:cNvSpPr/>
          <p:nvPr userDrawn="1"/>
        </p:nvSpPr>
        <p:spPr>
          <a:xfrm>
            <a:off x="290946" y="293842"/>
            <a:ext cx="2133907" cy="367455"/>
          </a:xfrm>
          <a:prstGeom prst="roundRect">
            <a:avLst/>
          </a:prstGeom>
          <a:blipFill dpi="0" rotWithShape="1">
            <a:blip r:embed="rId3"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E802DB1-B80B-BD86-36AF-9A99C57C06F3}"/>
              </a:ext>
            </a:extLst>
          </p:cNvPr>
          <p:cNvSpPr/>
          <p:nvPr userDrawn="1"/>
        </p:nvSpPr>
        <p:spPr>
          <a:xfrm>
            <a:off x="1167938" y="2011377"/>
            <a:ext cx="6808123" cy="2377161"/>
          </a:xfrm>
          <a:prstGeom prst="roundRect">
            <a:avLst/>
          </a:prstGeom>
          <a:blipFill dpi="0" rotWithShape="1">
            <a:blip r:embed="rId4">
              <a:alphaModFix amt="1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342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974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5400000">
            <a:off x="-3366891" y="3367283"/>
            <a:ext cx="6858000" cy="12343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1000">
                <a:srgbClr val="7ACCC8"/>
              </a:gs>
              <a:gs pos="7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97263" y="6467199"/>
            <a:ext cx="1497620" cy="29830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80C817E-B0C8-4E74-88BC-BBD488D1FF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 flipV="1">
            <a:off x="290052" y="841634"/>
            <a:ext cx="8640000" cy="422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EEBD5D5-C0F0-1C9D-F1EB-FE40E9C868A7}"/>
              </a:ext>
            </a:extLst>
          </p:cNvPr>
          <p:cNvSpPr/>
          <p:nvPr userDrawn="1"/>
        </p:nvSpPr>
        <p:spPr>
          <a:xfrm>
            <a:off x="7380410" y="400826"/>
            <a:ext cx="1549642" cy="360443"/>
          </a:xfrm>
          <a:prstGeom prst="roundRect">
            <a:avLst/>
          </a:prstGeom>
          <a:blipFill dpi="0" rotWithShape="1">
            <a:blip r:embed="rId2" cstate="print">
              <a:alphaModFix amt="5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70210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5400000">
            <a:off x="-3366891" y="3367283"/>
            <a:ext cx="6858000" cy="12343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1000">
                <a:srgbClr val="7ACCC8"/>
              </a:gs>
              <a:gs pos="7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97263" y="6467199"/>
            <a:ext cx="1497620" cy="29830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80C817E-B0C8-4E74-88BC-BBD488D1FF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102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0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00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30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275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69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50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91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750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DD7CC-5483-4E4A-8941-BA93B7392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3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4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0.png"/><Relationship Id="rId4" Type="http://schemas.openxmlformats.org/officeDocument/2006/relationships/image" Target="../media/image5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Relationship Id="rId5" Type="http://schemas.openxmlformats.org/officeDocument/2006/relationships/image" Target="../media/image481.png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526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모델과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비교했을 때 성능이 유의하게 높았던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데이터셋에 대해서 왜 제안 모델의 성능이 더 좋았는지를 데이터 단계에서 분석을 수행하였음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사용한 지표는 </a:t>
                </a:r>
                <a:r>
                  <a:rPr lang="ko-KR" altLang="en-US" sz="1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상관계수 평균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(Pearson Correlation, </a:t>
                </a: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𝝆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자기상관함수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(Autocorrelation Function,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상관행렬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고유값의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정규화된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Shannon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엔트로피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신호대잡음비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(Signal-to-Noise Ratio,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스파이크율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(Spike Rate)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종임</a:t>
                </a:r>
                <a:endParaRPr lang="en-US" altLang="ko-KR" sz="14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 간 선형 결합 강도를 측정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한 시계열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2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en-US" sz="12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가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자기 자신을 시차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만큼 이동한 것과 얼마나 닮았는지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클수록 일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패턴 </a:t>
                </a:r>
                <a:r>
                  <a:rPr lang="ko-KR" altLang="en-US" sz="12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뚜렷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Shannon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엔트로피는 높을 수록 채널 간 중복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결합성이 높고 낮을 수록 채널 간 중복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결합성이 낮음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이동평균을 신호로 보고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잔차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원 시계열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-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이동평균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잡음으로 설정하였음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Spike Rate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채널 별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Z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스코어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&gt;3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비율의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전체 관측 중 각 채널의 평균적인 극단 값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(|z|&gt;3)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비중을 의미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526286"/>
              </a:xfrm>
              <a:prstGeom prst="rect">
                <a:avLst/>
              </a:prstGeom>
              <a:blipFill>
                <a:blip r:embed="rId3"/>
                <a:stretch>
                  <a:fillRect l="-145" b="-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56B4A9-3AB0-4CDA-AFEB-59BF50673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17" y="5281714"/>
            <a:ext cx="1422826" cy="5976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F63D16-C490-4E97-A185-EB869229B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649" y="5283920"/>
            <a:ext cx="2802028" cy="59543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6B6F8A-172E-448C-8CA3-8310E1B72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782" y="5281714"/>
            <a:ext cx="1934677" cy="59889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D8E1F89-4071-4CB4-9A83-D30997718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009" y="5351225"/>
            <a:ext cx="2355477" cy="4573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C1B9CB-9043-4164-91AD-0603ACBE3F8B}"/>
                  </a:ext>
                </a:extLst>
              </p:cNvPr>
              <p:cNvSpPr txBox="1"/>
              <p:nvPr/>
            </p:nvSpPr>
            <p:spPr>
              <a:xfrm>
                <a:off x="533240" y="5930147"/>
                <a:ext cx="80775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왼쪽부터 </a:t>
                </a:r>
                <a:r>
                  <a:rPr lang="ko-KR" altLang="en-US" sz="1400" dirty="0" err="1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피어슨</a:t>
                </a:r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 상관계수 </a:t>
                </a:r>
                <a:r>
                  <a:rPr lang="en-US" altLang="ko-KR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US" altLang="ko-KR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), </a:t>
                </a:r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자기상관함수 </a:t>
                </a:r>
                <a:r>
                  <a:rPr lang="en-US" altLang="ko-KR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(ACF), Shannon </a:t>
                </a:r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엔트로피</a:t>
                </a:r>
                <a:r>
                  <a:rPr lang="en-US" altLang="ko-KR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, </a:t>
                </a:r>
                <a:r>
                  <a:rPr lang="ko-KR" altLang="en-US" sz="1400" dirty="0" err="1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신호대잡음비</a:t>
                </a:r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(SNR)</a:t>
                </a:r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수식</a:t>
                </a:r>
                <a:endParaRPr lang="en-US" altLang="ko-KR" sz="1400" dirty="0"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C1B9CB-9043-4164-91AD-0603ACBE3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40" y="5930147"/>
                <a:ext cx="8077520" cy="307777"/>
              </a:xfrm>
              <a:prstGeom prst="rect">
                <a:avLst/>
              </a:prstGeom>
              <a:blipFill>
                <a:blip r:embed="rId8"/>
                <a:stretch>
                  <a:fillRect t="-6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349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2878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구체적인 지표 계산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ko-KR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𝑚𝑒𝑎𝑛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𝑆𝑁𝑅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𝑡𝑖𝑚𝑒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다음과 같이 진행됨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ko-KR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𝑚𝑒𝑎𝑛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변수쌍에 대한 </a:t>
                </a:r>
                <a:r>
                  <a:rPr lang="ko-KR" alt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상관계수의 절대값 평균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ko-KR" alt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  <m:r>
                            <a:rPr lang="en-US" altLang="ko-K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𝑚𝑒𝑎𝑛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ko-KR" alt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)|</m:t>
                          </m:r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어제 같은 시각과 오늘 값이 얼마나 닮았는지를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간격 지연에서 측정하여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주기성의 안정도를 요약한 값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ACF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@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day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{</m:t>
                          </m:r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𝑑𝑎𝑦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𝑑𝑎𝑦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)(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altLang="ko-KR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(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altLang="ko-KR" sz="1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KoPub바탕체 Light" panose="00000300000000000000" pitchFamily="2" charset="-127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ko-KR" sz="1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KoPub바탕체 Light" panose="00000300000000000000" pitchFamily="2" charset="-127"/>
                                                      <a:cs typeface="Times New Roman" panose="02020603050405020304" pitchFamily="18" charset="0"/>
                                                    </a:rPr>
                                                    <m:t>𝑐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r>
                                            <a:rPr lang="en-US" altLang="ko-KR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altLang="ko-KR" sz="1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KoPub바탕체 Light" panose="00000300000000000000" pitchFamily="2" charset="-127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ko-KR" sz="1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KoPub바탕체 Light" panose="00000300000000000000" pitchFamily="2" charset="-127"/>
                                                      <a:cs typeface="Times New Roman" panose="020206030504050203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𝑐</m:t>
                                              </m:r>
                                              <m: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ko-KR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ko-KR" alt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𝜀</m:t>
                                      </m:r>
                                    </m:e>
                                  </m:nary>
                                </m:den>
                              </m:f>
                            </m:e>
                          </m:nary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2878417"/>
              </a:xfrm>
              <a:prstGeom prst="rect">
                <a:avLst/>
              </a:prstGeom>
              <a:blipFill>
                <a:blip r:embed="rId3"/>
                <a:stretch>
                  <a:fillRect l="-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00F113-4C0D-4E42-82DF-F90CD6A8EBDB}"/>
                  </a:ext>
                </a:extLst>
              </p:cNvPr>
              <p:cNvSpPr txBox="1"/>
              <p:nvPr/>
            </p:nvSpPr>
            <p:spPr>
              <a:xfrm>
                <a:off x="187517" y="4345240"/>
                <a:ext cx="5463983" cy="2491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C: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시계열의 채널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 = 7, Weather = 21</a:t>
                </a: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ko-KR" altLang="en-US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)|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상관계수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합의 범위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서로 다른 모든 채널 쌍 평균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에서의 시계열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관측값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의 표본 평균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상관을 계산하는 시계열 길이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데이터셋의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구간 길이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𝑑𝑎𝑦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하루에 해당하는 지연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스텝 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(Weather: 144,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96,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24)</a:t>
                </a: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b: 1,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주변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±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b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 지연을 평균하여 주변 분산을 완화함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굴림체" panose="020B0609000101010101" pitchFamily="49" charset="-127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: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수치 안정화를 위한 상수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−9</m:t>
                        </m:r>
                      </m:sup>
                    </m:sSup>
                  </m:oMath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굴림체" panose="020B0609000101010101" pitchFamily="49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00F113-4C0D-4E42-82DF-F90CD6A8E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4345240"/>
                <a:ext cx="5463983" cy="24918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925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2773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구체적인 지표 계산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ko-KR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𝑚𝑒𝑎𝑛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𝑆𝑁𝑅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𝑡𝑖𝑚𝑒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다음과 같이 진행됨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SNR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𝑡𝑖𝑚𝑒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단위로 변하는 추세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주기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신호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세기가 그 주변의 빠른 흔들림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잡음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보다 얼마나 큰지를 시간 영역 분산 비율로 측정한 값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𝑑𝑎𝑦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=−(</m:t>
                          </m:r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𝑑𝑎𝑦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  <m:sup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𝑑𝑎𝑦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ko-KR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SNR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𝑡𝑖𝑚𝑒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Var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Var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r>
                            <a:rPr lang="ko-KR" alt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  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SNR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𝑡𝑖𝑚𝑒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ko-KR" sz="140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SNR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𝑡𝑖𝑚𝑒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2773003"/>
              </a:xfrm>
              <a:prstGeom prst="rect">
                <a:avLst/>
              </a:prstGeom>
              <a:blipFill>
                <a:blip r:embed="rId3"/>
                <a:stretch>
                  <a:fillRect l="-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00F113-4C0D-4E42-82DF-F90CD6A8EBDB}"/>
                  </a:ext>
                </a:extLst>
              </p:cNvPr>
              <p:cNvSpPr txBox="1"/>
              <p:nvPr/>
            </p:nvSpPr>
            <p:spPr>
              <a:xfrm>
                <a:off x="187517" y="4220282"/>
                <a:ext cx="5463983" cy="1947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C: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시계열의 채널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 = 7, Weather = 21</a:t>
                </a: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에서의 시계열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관측값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저주파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느린 변화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성분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잔차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고주파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불규칙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성분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Var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∙)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표본 분산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𝑑𝑎𝑦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하루에 해당하는 지연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스텝 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(Weather: 144,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96,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24)</a:t>
                </a: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굴림체" panose="020B0609000101010101" pitchFamily="49" charset="-127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: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수치 안정화를 위한 상수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−9</m:t>
                        </m:r>
                      </m:sup>
                    </m:sSup>
                  </m:oMath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굴림체" panose="020B0609000101010101" pitchFamily="49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00F113-4C0D-4E42-82DF-F90CD6A8E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4220282"/>
                <a:ext cx="5463983" cy="1947713"/>
              </a:xfrm>
              <a:prstGeom prst="rect">
                <a:avLst/>
              </a:prstGeom>
              <a:blipFill>
                <a:blip r:embed="rId4"/>
                <a:stretch>
                  <a:fillRect b="-9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44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2305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ETTm2, h2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≈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0.324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다른 데이터셋보다 채널들이 서로 더 촘촘히 연결되어 있음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Shannon Entropy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보았을 때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ETTm1, h1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보다 상대적으로 소수의 채널이 데이터를 주도함을 확인할 수 있음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높아 일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단위 주기성이 매우 선명하다고 생각할 수 있음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스파이크율을 보았을 때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h2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1.70%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이상치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·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급변 이벤트가 조금 더 많이 관측됨을 알 수 있었음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ETTm1, h1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보다 약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 높은데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SNR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높다는 것은 데이터의 저주파 성분이 잔차보다 우세하다는 의미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평탄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주기적인 특성을 갖는다는 의미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2305759"/>
              </a:xfrm>
              <a:prstGeom prst="rect">
                <a:avLst/>
              </a:prstGeom>
              <a:blipFill>
                <a:blip r:embed="rId3"/>
                <a:stretch>
                  <a:fillRect l="-143"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7232EF1-E3E4-4CD3-8371-5CBD2184F0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512913"/>
                  </p:ext>
                </p:extLst>
              </p:nvPr>
            </p:nvGraphicFramePr>
            <p:xfrm>
              <a:off x="1054200" y="4506999"/>
              <a:ext cx="7035600" cy="1392555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879450">
                      <a:extLst>
                        <a:ext uri="{9D8B030D-6E8A-4147-A177-3AD203B41FA5}">
                          <a16:colId xmlns:a16="http://schemas.microsoft.com/office/drawing/2014/main" val="2760307467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263727856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2732431405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1703663071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3404396846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1060654022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901293939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980197723"/>
                        </a:ext>
                      </a:extLst>
                    </a:gridCol>
                  </a:tblGrid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Datasets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Resolutions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The number of variances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  <m:r>
                                      <a:rPr lang="ko-KR" alt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𝜌</m:t>
                                    </m:r>
                                    <m: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</m:e>
                                  <m:sub>
                                    <m: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𝑚𝑒𝑎𝑛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Shannon</a:t>
                          </a:r>
                        </a:p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Entropy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Spike Rate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𝑆𝑁𝑅</m:t>
                                    </m:r>
                                  </m:e>
                                  <m:sub>
                                    <m: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𝑡𝑖𝑚𝑒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8921029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hourly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0.2221 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0.7799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0.8021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0.0120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6.5134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371729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15min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0.2243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0.7787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0.7991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0.0119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6.4908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4985461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hourly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0.3246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0.8231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0.0170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22.8323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2219248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15min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0.3245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0.7537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0.8243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0.0170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22.7629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3266702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10min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0.2956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0.6275 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0.0083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7.9551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332737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7232EF1-E3E4-4CD3-8371-5CBD2184F0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512913"/>
                  </p:ext>
                </p:extLst>
              </p:nvPr>
            </p:nvGraphicFramePr>
            <p:xfrm>
              <a:off x="1054200" y="4506999"/>
              <a:ext cx="7035600" cy="1392555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879450">
                      <a:extLst>
                        <a:ext uri="{9D8B030D-6E8A-4147-A177-3AD203B41FA5}">
                          <a16:colId xmlns:a16="http://schemas.microsoft.com/office/drawing/2014/main" val="2760307467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263727856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2732431405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1703663071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3404396846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1060654022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901293939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980197723"/>
                        </a:ext>
                      </a:extLst>
                    </a:gridCol>
                  </a:tblGrid>
                  <a:tr h="344805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Datasets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Resolutions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The number of variances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301389" t="-12281" r="-402778" b="-3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Shannon</a:t>
                          </a:r>
                        </a:p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Entropy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Spike Rate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702778" t="-12281" r="-1389" b="-3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8921029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hourly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0.2221 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0.7799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0.8021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0.0120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6.5134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371729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15min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0.2243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0.7787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0.7991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0.0119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6.4908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4985461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hourly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0.3246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0.8231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0.0170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22.8323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2219248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15min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0.3245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0.7537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0.8243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0.0170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22.7629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3266702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10min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0.2956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0.6275 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0.0083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7.9551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33273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D691B9E-DBF0-4BCE-AA94-D4406C4271ED}"/>
              </a:ext>
            </a:extLst>
          </p:cNvPr>
          <p:cNvSpPr txBox="1"/>
          <p:nvPr/>
        </p:nvSpPr>
        <p:spPr>
          <a:xfrm>
            <a:off x="1158261" y="6002422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데이터 단위 분석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868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429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이에 다음과 같은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6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가설을 세워 데이터 특성에 따른 모델 이득을 검증해보고자 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H1: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ACF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를 약화시키면 제안 모델의 성능 하락이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ETTh2, m2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더 클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H2: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임의 채널을 섞거나 일부를 제거하는 등 채널 간 상관구조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공변구조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약화시키면 성능 하락이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ETTh2, m2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더 크게 나타날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H3: Dynamic Depth-Wise Conv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생성 시 이를 고정하거나 정적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교체하면 성능 하락이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ETTm2, h2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가장 클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H4: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고주파를 증폭해서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SNR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낮추면 성능 하락이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ETTh2, m2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크게 나타날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H5: Co-Attention Block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단순 결합으로 교체하면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ETTh2, ETTm2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성능 하락이 뚜렷할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H6: 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(Reversible Instance Normalization)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OFF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하면 장기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성능 하락이 나타날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CA551-8190-4A6A-8165-9DCE1FEC1022}"/>
              </a:ext>
            </a:extLst>
          </p:cNvPr>
          <p:cNvSpPr txBox="1"/>
          <p:nvPr/>
        </p:nvSpPr>
        <p:spPr>
          <a:xfrm>
            <a:off x="187517" y="6493352"/>
            <a:ext cx="5463983" cy="320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공변구조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다변량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 시계열에서 채널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변수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 들 사이의 동시 변동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상관 관계를 의미함</a:t>
            </a:r>
            <a:endParaRPr lang="ko-KR" altLang="en-US" sz="11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2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10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각 가설을 통해 검증해보고자 하는 것은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H1: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모델이 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단위 주기와 정렬되어 작동할 때 성능 이득이 큰가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H2: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상관구조의 강도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집중도가 커질수록 채널 혼합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스트림 공유의 이득이 커지는가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H3: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조건 벡터로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생성하는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Dynamic Depth-Wise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메커니즘이 주기 위상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진폭 변조에 실제로 기여하는가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H4: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저주파 골격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평탄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주기적인 특성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모델 예측의 주요한 단서인가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H5: Conv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토큰과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GRU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문맥을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Attention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결합하는 것이 단순 결합보다 실제 이득인가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H6: 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장기 예측에서 분포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(Distribution Drift)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를 실제로 줄여 성능에 기여하는가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3765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4721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실험에 대하여 가설 검증 및 데이터 특성에 따른 모델 이득을 검증한 바는 다음과 같음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H1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주기의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ACF, SNR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더 선명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제안 모델은 이런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주기의 정합을 강하게 활용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하여 성능 이득을 만들어 내고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주기성이 약한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ETTm1, ETTh1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에서는 상대적으로 이득이 작았음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H2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채널 간 상관관계보다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같은 시점에서 함께 등장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 정합에서 제안 모델로 인한 이득이 발생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것으로 확인되고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Cross Stitch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인한 이득은 미약한 것으로 확인됨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H3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주기의 정합이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Datasets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중 가장 강해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작은 위상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진폭 차이를 시점 별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Kernel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즉시 보정하는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Dynamic Depth-Wise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성능을 개선하는 것으로 해석됨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H4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𝑆𝑁𝑅</m:t>
                        </m:r>
                      </m:e>
                      <m:sub>
                        <m:r>
                          <a:rPr lang="en-US" altLang="ko-KR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𝑡𝑖𝑚𝑒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낮추면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선형적으로 증가하여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제안 모델이 저주파 골격 에 의존함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확인되었고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민감도는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 &gt; ETTm1, ETTh1 &gt; ETTh2, Weather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채널 이질성으로 둔감하게 나타남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H5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Day / Week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정합 지수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(DAI / WAI) &gt; 0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어제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지난주 같은 시간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정보가 유용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안정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조건에서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Co-Attention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선택 결합이 </a:t>
                </a:r>
                <a:r>
                  <a:rPr lang="en-US" altLang="ko-KR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Concat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대비 일관된 성능 이득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나타남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H6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고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高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데이터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예측에서 확실한 이득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줌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ETTm2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완충이 주효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ETTh2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정렬과 학습 안정화 효과가 주효함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4721485"/>
              </a:xfrm>
              <a:prstGeom prst="rect">
                <a:avLst/>
              </a:prstGeom>
              <a:blipFill>
                <a:blip r:embed="rId3"/>
                <a:stretch>
                  <a:fillRect l="-143" r="-286" b="-3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74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총론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6629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274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H1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실험에서는 다음의 두 조건으로 실험을 수행함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i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주기  길이만큼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나눈 뒤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각 구간의 일부 시점을 섞어 같은 시간대의 반복 패턴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위상 정렬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깨고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ACF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크게 줄이는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Shuffle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실험을 수행함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(ii) 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해당 주기의 저주파 성분을 제거하는 차분 실험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(Seasonal Differencing, 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Sdiff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수행함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H1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실험 결과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(ii)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ACF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를 약화시키면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ETTm2, h2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성능이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ETTm1, h1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에서보다 더 크게 하락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하는 것이 관찰되어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주기 정합이 모델의 핵심 이득원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이라고 해석됨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i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ETTm1, h1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하락폭이 더 큰 경우가 많았는데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i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ETTm1, h1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	|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∆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ACF|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감소폭이 더 컸기 때문이라고 생각됨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(Shuffle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 일 주기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주기와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RMSE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간의 상관이 매우 높게 관측됨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주기와의 상관 </a:t>
            </a:r>
            <a:r>
              <a:rPr lang="ko-KR" altLang="en-US" sz="1400" dirty="0">
                <a:latin typeface="Cambria Math" panose="020405030504060302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≈ </a:t>
            </a:r>
            <a:r>
              <a:rPr lang="en-US" altLang="ko-KR" sz="1400" dirty="0">
                <a:latin typeface="Cambria Math" panose="020405030504060302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0.970, </a:t>
            </a:r>
            <a:r>
              <a:rPr lang="ko-KR" altLang="en-US" sz="1400" dirty="0">
                <a:latin typeface="Cambria Math" panose="020405030504060302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주기와의 상관 ≈ </a:t>
            </a:r>
            <a:r>
              <a:rPr lang="en-US" altLang="ko-KR" sz="1400" dirty="0">
                <a:latin typeface="Cambria Math" panose="020405030504060302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0.917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620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H1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F49B3-9C2E-4A7E-8AEE-22B83F0565C6}"/>
              </a:ext>
            </a:extLst>
          </p:cNvPr>
          <p:cNvSpPr txBox="1"/>
          <p:nvPr/>
        </p:nvSpPr>
        <p:spPr>
          <a:xfrm>
            <a:off x="187517" y="6493352"/>
            <a:ext cx="8147888" cy="320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ACF day|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,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ACF week|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는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Train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구간에서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ACF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감소의 평균 절댓값 크기로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값이 클수록 해당 주기 구조를 더 많이 망가뜨렸다는 의미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888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H1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458549D5-F417-48C7-A1A1-15B7D9CC1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383924"/>
              </p:ext>
            </p:extLst>
          </p:nvPr>
        </p:nvGraphicFramePr>
        <p:xfrm>
          <a:off x="187517" y="1420111"/>
          <a:ext cx="8949366" cy="1767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47027">
                  <a:extLst>
                    <a:ext uri="{9D8B030D-6E8A-4147-A177-3AD203B41FA5}">
                      <a16:colId xmlns:a16="http://schemas.microsoft.com/office/drawing/2014/main" val="375725298"/>
                    </a:ext>
                  </a:extLst>
                </a:gridCol>
                <a:gridCol w="1007919">
                  <a:extLst>
                    <a:ext uri="{9D8B030D-6E8A-4147-A177-3AD203B41FA5}">
                      <a16:colId xmlns:a16="http://schemas.microsoft.com/office/drawing/2014/main" val="2928841366"/>
                    </a:ext>
                  </a:extLst>
                </a:gridCol>
                <a:gridCol w="875434">
                  <a:extLst>
                    <a:ext uri="{9D8B030D-6E8A-4147-A177-3AD203B41FA5}">
                      <a16:colId xmlns:a16="http://schemas.microsoft.com/office/drawing/2014/main" val="164285563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469345603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457326412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218926646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878031251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30253525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99049052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431097955"/>
                    </a:ext>
                  </a:extLst>
                </a:gridCol>
              </a:tblGrid>
              <a:tr h="4511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</a:t>
                      </a:r>
                    </a:p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505532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3.055 ± 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+ 49.8 %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+ 49.0 %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+ 98.1 %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0.456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+ 27.7 %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27382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3.597 ± 0.013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+ 118.5 %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0.618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+ 42.0 %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0.343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25589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2.818 ± 0.007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+ 56.8 %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+ 58.2 %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+ 62.5 %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+ 24.4 %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55567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2.958 ± 0.006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+ 10.3 %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+ 17.1 %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+ 223.6 %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0.614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+ 29.1 %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0.343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662209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39.672 ± 0.131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+ 34.5 %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+ 34.8 %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+ 342.9 %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0.290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+ 38.0 %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88883"/>
                  </a:ext>
                </a:extLst>
              </a:tr>
            </a:tbl>
          </a:graphicData>
        </a:graphic>
      </p:graphicFrame>
      <p:graphicFrame>
        <p:nvGraphicFramePr>
          <p:cNvPr id="10" name="표 3">
            <a:extLst>
              <a:ext uri="{FF2B5EF4-FFF2-40B4-BE49-F238E27FC236}">
                <a16:creationId xmlns:a16="http://schemas.microsoft.com/office/drawing/2014/main" id="{C19F90ED-AA69-4779-B038-DCEA4CF71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16554"/>
              </p:ext>
            </p:extLst>
          </p:nvPr>
        </p:nvGraphicFramePr>
        <p:xfrm>
          <a:off x="187517" y="3670050"/>
          <a:ext cx="8949366" cy="1767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47027">
                  <a:extLst>
                    <a:ext uri="{9D8B030D-6E8A-4147-A177-3AD203B41FA5}">
                      <a16:colId xmlns:a16="http://schemas.microsoft.com/office/drawing/2014/main" val="375725298"/>
                    </a:ext>
                  </a:extLst>
                </a:gridCol>
                <a:gridCol w="1007919">
                  <a:extLst>
                    <a:ext uri="{9D8B030D-6E8A-4147-A177-3AD203B41FA5}">
                      <a16:colId xmlns:a16="http://schemas.microsoft.com/office/drawing/2014/main" val="2928841366"/>
                    </a:ext>
                  </a:extLst>
                </a:gridCol>
                <a:gridCol w="875434">
                  <a:extLst>
                    <a:ext uri="{9D8B030D-6E8A-4147-A177-3AD203B41FA5}">
                      <a16:colId xmlns:a16="http://schemas.microsoft.com/office/drawing/2014/main" val="164285563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469345603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457326412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218926646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878031251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30253525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99049052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431097955"/>
                    </a:ext>
                  </a:extLst>
                </a:gridCol>
              </a:tblGrid>
              <a:tr h="4511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</a:t>
                      </a:r>
                    </a:p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505532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3.185 ± 0.015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+ 45.1 %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+ 45.1 %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+ 86.5 %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+ 29.4 %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27382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3.655 ± 0.012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+ 7.2 %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+ 161.9 %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+ 35.8 %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25589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3.079 ± 0.006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+ 48.1 %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+ 47.3 %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+ 53.3 %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+ 24.6 %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55567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3.343 ± 0.022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+ 184.1 %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+ 29.3 %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662209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40.824 ± 0.176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+ 33.0 %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+ 31.6 %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+ 323.1 %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+ 35.6 %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8888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FD6EB11-1BB2-4CD1-83E4-1588F168C5E2}"/>
              </a:ext>
            </a:extLst>
          </p:cNvPr>
          <p:cNvSpPr txBox="1"/>
          <p:nvPr/>
        </p:nvSpPr>
        <p:spPr>
          <a:xfrm>
            <a:off x="1158261" y="3187950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= 96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5A66B-4EFC-4337-B82A-560450EB9681}"/>
              </a:ext>
            </a:extLst>
          </p:cNvPr>
          <p:cNvSpPr txBox="1"/>
          <p:nvPr/>
        </p:nvSpPr>
        <p:spPr>
          <a:xfrm>
            <a:off x="1158261" y="5437889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= 192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/>
              <p:nvPr/>
            </p:nvSpPr>
            <p:spPr>
              <a:xfrm>
                <a:off x="144058" y="5824900"/>
                <a:ext cx="8147888" cy="988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</a:p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ACF day|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ACF week|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구간에서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감소의 평균 절댓값 크기로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값이 클수록 해당 주기 구조를 더 많이 망가뜨렸다는 의미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58" y="5824900"/>
                <a:ext cx="8147888" cy="988476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27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H1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458549D5-F417-48C7-A1A1-15B7D9CC1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586271"/>
              </p:ext>
            </p:extLst>
          </p:nvPr>
        </p:nvGraphicFramePr>
        <p:xfrm>
          <a:off x="187517" y="1420111"/>
          <a:ext cx="8949366" cy="1767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47027">
                  <a:extLst>
                    <a:ext uri="{9D8B030D-6E8A-4147-A177-3AD203B41FA5}">
                      <a16:colId xmlns:a16="http://schemas.microsoft.com/office/drawing/2014/main" val="375725298"/>
                    </a:ext>
                  </a:extLst>
                </a:gridCol>
                <a:gridCol w="1007919">
                  <a:extLst>
                    <a:ext uri="{9D8B030D-6E8A-4147-A177-3AD203B41FA5}">
                      <a16:colId xmlns:a16="http://schemas.microsoft.com/office/drawing/2014/main" val="2928841366"/>
                    </a:ext>
                  </a:extLst>
                </a:gridCol>
                <a:gridCol w="875434">
                  <a:extLst>
                    <a:ext uri="{9D8B030D-6E8A-4147-A177-3AD203B41FA5}">
                      <a16:colId xmlns:a16="http://schemas.microsoft.com/office/drawing/2014/main" val="164285563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469345603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457326412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218926646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878031251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30253525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99049052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431097955"/>
                    </a:ext>
                  </a:extLst>
                </a:gridCol>
              </a:tblGrid>
              <a:tr h="4511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</a:t>
                      </a:r>
                    </a:p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505532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3.311 ± 0.014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+ 40.2 %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+ 39.6 %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+ 78.0 %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+ 28.5 %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27382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3.728 ± 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+ 169.2 %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+ 33.4 %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25589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3.230 ± 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+ 44.1 %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+ 42.8 %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+ 49.0 %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+ 24.4 %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55567"/>
                  </a:ext>
                </a:extLst>
              </a:tr>
              <a:tr h="208546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3.675 ± 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+ 162.1 %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+ 32.2 %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662209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42.097 ± 0.318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+ 29.8 %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+ 27.2 %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+ 307.7 %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+ 31.8 %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88883"/>
                  </a:ext>
                </a:extLst>
              </a:tr>
            </a:tbl>
          </a:graphicData>
        </a:graphic>
      </p:graphicFrame>
      <p:graphicFrame>
        <p:nvGraphicFramePr>
          <p:cNvPr id="10" name="표 3">
            <a:extLst>
              <a:ext uri="{FF2B5EF4-FFF2-40B4-BE49-F238E27FC236}">
                <a16:creationId xmlns:a16="http://schemas.microsoft.com/office/drawing/2014/main" id="{C19F90ED-AA69-4779-B038-DCEA4CF71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420338"/>
              </p:ext>
            </p:extLst>
          </p:nvPr>
        </p:nvGraphicFramePr>
        <p:xfrm>
          <a:off x="187517" y="3670050"/>
          <a:ext cx="8949366" cy="1767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47027">
                  <a:extLst>
                    <a:ext uri="{9D8B030D-6E8A-4147-A177-3AD203B41FA5}">
                      <a16:colId xmlns:a16="http://schemas.microsoft.com/office/drawing/2014/main" val="375725298"/>
                    </a:ext>
                  </a:extLst>
                </a:gridCol>
                <a:gridCol w="1007919">
                  <a:extLst>
                    <a:ext uri="{9D8B030D-6E8A-4147-A177-3AD203B41FA5}">
                      <a16:colId xmlns:a16="http://schemas.microsoft.com/office/drawing/2014/main" val="2928841366"/>
                    </a:ext>
                  </a:extLst>
                </a:gridCol>
                <a:gridCol w="875434">
                  <a:extLst>
                    <a:ext uri="{9D8B030D-6E8A-4147-A177-3AD203B41FA5}">
                      <a16:colId xmlns:a16="http://schemas.microsoft.com/office/drawing/2014/main" val="164285563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469345603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457326412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218926646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878031251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30253525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99049052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431097955"/>
                    </a:ext>
                  </a:extLst>
                </a:gridCol>
              </a:tblGrid>
              <a:tr h="4511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</a:t>
                      </a:r>
                    </a:p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505532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3.168 ±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+ 40.8 %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+ 40.3 %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+ 69.4 %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+ 20.7 %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27382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3.649 ± 0.010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+ 213.1 %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+ 34.3 %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25589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3.355 ± 0.014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+ 43.3 %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+ 42.5 %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+ 47.5 %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+ 26.0 %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55567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4.100 ± 0.016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+ 5.9 %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+ 149.9 %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+ 38.1 %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662209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41.685 ± 0.169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+ 27.0 %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+ 23.9 %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+ 310.7 %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+ 31.3 %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8888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FD6EB11-1BB2-4CD1-83E4-1588F168C5E2}"/>
              </a:ext>
            </a:extLst>
          </p:cNvPr>
          <p:cNvSpPr txBox="1"/>
          <p:nvPr/>
        </p:nvSpPr>
        <p:spPr>
          <a:xfrm>
            <a:off x="1158261" y="3187950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= 336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5A66B-4EFC-4337-B82A-560450EB9681}"/>
              </a:ext>
            </a:extLst>
          </p:cNvPr>
          <p:cNvSpPr txBox="1"/>
          <p:nvPr/>
        </p:nvSpPr>
        <p:spPr>
          <a:xfrm>
            <a:off x="1158261" y="5437889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= 720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/>
              <p:nvPr/>
            </p:nvSpPr>
            <p:spPr>
              <a:xfrm>
                <a:off x="144058" y="5824900"/>
                <a:ext cx="8147888" cy="988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</a:p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ACF day|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ACF week|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구간에서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감소의 평균 절댓값 크기로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값이 클수록 해당 주기 구조를 더 많이 망가뜨렸다는 의미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58" y="5824900"/>
                <a:ext cx="8147888" cy="988476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348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1505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결과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채널 간 상관관계보다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같은 시점에서 함께 등장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시간 정합에서 제안 모델로 인한 이득이 발생하는 것으로 확인됨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Cross Stitch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인한 이득은 미약한 것으로 확인되어 미세 조정 수준에 그치는 것으로 보임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이때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 RMSE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 RMSE(Test) - RMSE(Baseline)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대한 결과값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(+: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악화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이득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1505540"/>
              </a:xfrm>
              <a:prstGeom prst="rect">
                <a:avLst/>
              </a:prstGeom>
              <a:blipFill>
                <a:blip r:embed="rId3"/>
                <a:stretch>
                  <a:fillRect l="-143" b="-32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H2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9CCF210B-DA07-47C6-982D-8983947C4E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9276043"/>
                  </p:ext>
                </p:extLst>
              </p:nvPr>
            </p:nvGraphicFramePr>
            <p:xfrm>
              <a:off x="1794932" y="3429000"/>
              <a:ext cx="55541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88622">
                      <a:extLst>
                        <a:ext uri="{9D8B030D-6E8A-4147-A177-3AD203B41FA5}">
                          <a16:colId xmlns:a16="http://schemas.microsoft.com/office/drawing/2014/main" val="2187102352"/>
                        </a:ext>
                      </a:extLst>
                    </a:gridCol>
                    <a:gridCol w="688622">
                      <a:extLst>
                        <a:ext uri="{9D8B030D-6E8A-4147-A177-3AD203B41FA5}">
                          <a16:colId xmlns:a16="http://schemas.microsoft.com/office/drawing/2014/main" val="356410035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911616071"/>
                        </a:ext>
                      </a:extLst>
                    </a:gridCol>
                    <a:gridCol w="948267">
                      <a:extLst>
                        <a:ext uri="{9D8B030D-6E8A-4147-A177-3AD203B41FA5}">
                          <a16:colId xmlns:a16="http://schemas.microsoft.com/office/drawing/2014/main" val="2994770029"/>
                        </a:ext>
                      </a:extLst>
                    </a:gridCol>
                    <a:gridCol w="1140178">
                      <a:extLst>
                        <a:ext uri="{9D8B030D-6E8A-4147-A177-3AD203B41FA5}">
                          <a16:colId xmlns:a16="http://schemas.microsoft.com/office/drawing/2014/main" val="482046284"/>
                        </a:ext>
                      </a:extLst>
                    </a:gridCol>
                    <a:gridCol w="598311">
                      <a:extLst>
                        <a:ext uri="{9D8B030D-6E8A-4147-A177-3AD203B41FA5}">
                          <a16:colId xmlns:a16="http://schemas.microsoft.com/office/drawing/2014/main" val="3578695310"/>
                        </a:ext>
                      </a:extLst>
                    </a:gridCol>
                    <a:gridCol w="677335">
                      <a:extLst>
                        <a:ext uri="{9D8B030D-6E8A-4147-A177-3AD203B41FA5}">
                          <a16:colId xmlns:a16="http://schemas.microsoft.com/office/drawing/2014/main" val="3384004947"/>
                        </a:ext>
                      </a:extLst>
                    </a:gridCol>
                  </a:tblGrid>
                  <a:tr h="11720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0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𝝆</m:t>
                              </m:r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|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ci-entropy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roll-week 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drop-corr-25%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gain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96358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+ 0.576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+ 0.111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+ 0.465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911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+ 0.228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+ 0.280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881524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0.7787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–0.132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83404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+ 0.081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+ 0.347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–0.266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31135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9CCF210B-DA07-47C6-982D-8983947C4E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9276043"/>
                  </p:ext>
                </p:extLst>
              </p:nvPr>
            </p:nvGraphicFramePr>
            <p:xfrm>
              <a:off x="1794932" y="3429000"/>
              <a:ext cx="55541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88622">
                      <a:extLst>
                        <a:ext uri="{9D8B030D-6E8A-4147-A177-3AD203B41FA5}">
                          <a16:colId xmlns:a16="http://schemas.microsoft.com/office/drawing/2014/main" val="2187102352"/>
                        </a:ext>
                      </a:extLst>
                    </a:gridCol>
                    <a:gridCol w="688622">
                      <a:extLst>
                        <a:ext uri="{9D8B030D-6E8A-4147-A177-3AD203B41FA5}">
                          <a16:colId xmlns:a16="http://schemas.microsoft.com/office/drawing/2014/main" val="356410035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911616071"/>
                        </a:ext>
                      </a:extLst>
                    </a:gridCol>
                    <a:gridCol w="948267">
                      <a:extLst>
                        <a:ext uri="{9D8B030D-6E8A-4147-A177-3AD203B41FA5}">
                          <a16:colId xmlns:a16="http://schemas.microsoft.com/office/drawing/2014/main" val="2994770029"/>
                        </a:ext>
                      </a:extLst>
                    </a:gridCol>
                    <a:gridCol w="1140178">
                      <a:extLst>
                        <a:ext uri="{9D8B030D-6E8A-4147-A177-3AD203B41FA5}">
                          <a16:colId xmlns:a16="http://schemas.microsoft.com/office/drawing/2014/main" val="482046284"/>
                        </a:ext>
                      </a:extLst>
                    </a:gridCol>
                    <a:gridCol w="598311">
                      <a:extLst>
                        <a:ext uri="{9D8B030D-6E8A-4147-A177-3AD203B41FA5}">
                          <a16:colId xmlns:a16="http://schemas.microsoft.com/office/drawing/2014/main" val="3578695310"/>
                        </a:ext>
                      </a:extLst>
                    </a:gridCol>
                    <a:gridCol w="677335">
                      <a:extLst>
                        <a:ext uri="{9D8B030D-6E8A-4147-A177-3AD203B41FA5}">
                          <a16:colId xmlns:a16="http://schemas.microsoft.com/office/drawing/2014/main" val="338400494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077" r="-608850" b="-2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ci-entropy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roll-week 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drop-corr-25%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721622" t="-3077" r="-180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963588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+ 0.576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+ 0.111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+ 0.465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91192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+ 0.228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+ 0.280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881524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0.7787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–0.132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83404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+ 0.081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+ 0.347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–0.266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31135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9FE52F-73C9-4C96-8E9A-353F7D2112FF}"/>
                  </a:ext>
                </a:extLst>
              </p:cNvPr>
              <p:cNvSpPr txBox="1"/>
              <p:nvPr/>
            </p:nvSpPr>
            <p:spPr>
              <a:xfrm>
                <a:off x="187516" y="5750004"/>
                <a:ext cx="8332983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</a:t>
                </a:r>
                <a14:m>
                  <m:oMath xmlns:m="http://schemas.openxmlformats.org/officeDocument/2006/math">
                    <m:r>
                      <a:rPr lang="en-US" altLang="ko-KR" sz="11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𝝆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|: “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채널들이 동시에 얼마나 같이 움직이는가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?”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~ 1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사이로 평균 낸 값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ci-entropy (correlation-informed entropy): “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변동이 소수의 공통 성분에 얼마나 모여 있는가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?”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낮을 수록 한두 개 공통 패턴에 변동이 집중됨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roll-week RMSE: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채널을 서로 다른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최대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시간만큼 엇갈리게 만들어 동시성을 깨뜨린 뒤의 오차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drop-corr-25% RMSE: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다른 채널들과 상관이 높은 상위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25%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채널을 삭제하고 학습했을 때의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</a:t>
                </a:r>
              </a:p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TAR (Time-Alignment Reliance):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동시성 의존도 지표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(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roll-week ∆ RMSE) – (drop-corr-25% ∆ RMSE)</a:t>
                </a:r>
              </a:p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gain: </a:t>
                </a:r>
                <a14:m>
                  <m:oMath xmlns:m="http://schemas.openxmlformats.org/officeDocument/2006/math"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공유로 인한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순이득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 Stitch OFF) – (</a:t>
                </a:r>
                <a14:m>
                  <m:oMath xmlns:m="http://schemas.openxmlformats.org/officeDocument/2006/math"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 Stitch ON)</a:t>
                </a:r>
                <a:endParaRPr lang="ko-KR" altLang="en-US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9FE52F-73C9-4C96-8E9A-353F7D211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6" y="5750004"/>
                <a:ext cx="8332983" cy="1107996"/>
              </a:xfrm>
              <a:prstGeom prst="rect">
                <a:avLst/>
              </a:prstGeom>
              <a:blipFill>
                <a:blip r:embed="rId5"/>
                <a:stretch>
                  <a:fillRect t="-549" b="-27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455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A945E16-A30C-4018-85A0-AC621A922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256" y="3967924"/>
            <a:ext cx="5838738" cy="25653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90584" y="1516704"/>
                <a:ext cx="8653416" cy="2444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제안 모델의 연산을 수식으로 표현하면 다음과 같이 진행됨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Input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Patch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dC</m:t>
                    </m:r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𝑜𝑛𝑣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Input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Patch</m:t>
                        </m:r>
                      </m:e>
                    </m:d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Dynamic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Depth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Wise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Conv</m:t>
                    </m:r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2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ko-KR" sz="12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𝒐𝒖𝒕</m:t>
                        </m:r>
                        <m:r>
                          <a:rPr lang="en-US" altLang="ko-KR" sz="12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ko-KR" sz="12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sz="12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</m:t>
                    </m:r>
                    <m:r>
                      <a:rPr lang="en-US" altLang="ko-KR" sz="12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2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]</m:t>
                    </m:r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Input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Patch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GRU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Input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Patch</m:t>
                        </m:r>
                      </m:e>
                    </m:d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Dynamic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Depth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Wise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Conv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𝑜𝑢𝑡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𝒐𝒖𝒕</m:t>
                            </m:r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v"/>
                </a:pP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[−1]</m:t>
                    </m:r>
                  </m:oMath>
                </a14:m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은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Block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마지막 시점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조건 벡터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배치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시점별로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Kernel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변화하기 위해 필요한 정보</a:t>
                </a:r>
                <a:endPara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H3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𝒐𝒖𝒕</m:t>
                        </m:r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  <m:r>
                      <a:rPr lang="en-US" altLang="ko-KR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𝒐𝒖𝒕</m:t>
                        </m:r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sz="14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</m:t>
                    </m:r>
                    <m:r>
                      <a:rPr lang="en-US" altLang="ko-KR" sz="14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4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조작함으로써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Dynamic Depth-Wise Conv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h2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성능 이득에 기여하였는지 판단하는 실험임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84" y="1516704"/>
                <a:ext cx="8653416" cy="2444259"/>
              </a:xfrm>
              <a:prstGeom prst="rect">
                <a:avLst/>
              </a:prstGeom>
              <a:blipFill>
                <a:blip r:embed="rId4"/>
                <a:stretch>
                  <a:fillRect l="-70" b="-14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0F945FB-14BC-4B9F-B023-FBCE5DD590B0}"/>
              </a:ext>
            </a:extLst>
          </p:cNvPr>
          <p:cNvCxnSpPr/>
          <p:nvPr/>
        </p:nvCxnSpPr>
        <p:spPr>
          <a:xfrm>
            <a:off x="4772025" y="5181600"/>
            <a:ext cx="423333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840E1ED-EF66-494E-9239-5E57A43342A4}"/>
              </a:ext>
            </a:extLst>
          </p:cNvPr>
          <p:cNvCxnSpPr/>
          <p:nvPr/>
        </p:nvCxnSpPr>
        <p:spPr>
          <a:xfrm>
            <a:off x="4374356" y="5181600"/>
            <a:ext cx="423333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0CA2A36-0CC5-4CD5-856D-05FE95A0E51B}"/>
              </a:ext>
            </a:extLst>
          </p:cNvPr>
          <p:cNvCxnSpPr/>
          <p:nvPr/>
        </p:nvCxnSpPr>
        <p:spPr>
          <a:xfrm>
            <a:off x="3963855" y="5181600"/>
            <a:ext cx="423333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5F9D2C6-936C-4206-A1A2-0249D1004E78}"/>
              </a:ext>
            </a:extLst>
          </p:cNvPr>
          <p:cNvCxnSpPr/>
          <p:nvPr/>
        </p:nvCxnSpPr>
        <p:spPr>
          <a:xfrm>
            <a:off x="3553354" y="5181600"/>
            <a:ext cx="423333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5A167E4-CFC4-40EE-9837-D53A7616609C}"/>
              </a:ext>
            </a:extLst>
          </p:cNvPr>
          <p:cNvCxnSpPr>
            <a:cxnSpLocks/>
          </p:cNvCxnSpPr>
          <p:nvPr/>
        </p:nvCxnSpPr>
        <p:spPr>
          <a:xfrm flipV="1">
            <a:off x="3579018" y="5181600"/>
            <a:ext cx="400877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2DF28E9-3A84-4677-B269-346F7C95B2A3}"/>
              </a:ext>
            </a:extLst>
          </p:cNvPr>
          <p:cNvCxnSpPr>
            <a:cxnSpLocks/>
          </p:cNvCxnSpPr>
          <p:nvPr/>
        </p:nvCxnSpPr>
        <p:spPr>
          <a:xfrm flipV="1">
            <a:off x="3968766" y="5181599"/>
            <a:ext cx="400877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8305D4D-A3EB-492B-968D-E3501C5061EF}"/>
              </a:ext>
            </a:extLst>
          </p:cNvPr>
          <p:cNvCxnSpPr>
            <a:cxnSpLocks/>
          </p:cNvCxnSpPr>
          <p:nvPr/>
        </p:nvCxnSpPr>
        <p:spPr>
          <a:xfrm flipV="1">
            <a:off x="4393604" y="5181599"/>
            <a:ext cx="400877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6A29F67-72C9-4587-A083-A922691DA8BF}"/>
              </a:ext>
            </a:extLst>
          </p:cNvPr>
          <p:cNvCxnSpPr>
            <a:cxnSpLocks/>
          </p:cNvCxnSpPr>
          <p:nvPr/>
        </p:nvCxnSpPr>
        <p:spPr>
          <a:xfrm flipV="1">
            <a:off x="4798694" y="5181599"/>
            <a:ext cx="400877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5E8C95-F8E8-41E7-8327-C76A46342F0B}"/>
                  </a:ext>
                </a:extLst>
              </p:cNvPr>
              <p:cNvSpPr txBox="1"/>
              <p:nvPr/>
            </p:nvSpPr>
            <p:spPr>
              <a:xfrm>
                <a:off x="76455" y="5250594"/>
                <a:ext cx="2583613" cy="1765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CNN 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1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번째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Block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출력 값</a:t>
                </a:r>
                <a:endParaRPr lang="en-US" altLang="ko-KR" sz="1050" dirty="0"/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GRU 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1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번째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Block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출력 값</a:t>
                </a: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CNN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결과를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ko-KR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[−1</m:t>
                    </m:r>
                    <m:r>
                      <a:rPr lang="en-US" altLang="ko-KR" sz="105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]</m:t>
                    </m:r>
                    <m:r>
                      <a:rPr lang="ko-KR" altLang="en-US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으</m:t>
                    </m:r>
                  </m:oMath>
                </a14:m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만든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Filter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Depth-Wise Conv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한 결과</a:t>
                </a: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CNN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결과를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ko-KR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[−1</m:t>
                    </m:r>
                    <m:r>
                      <a:rPr lang="en-US" altLang="ko-KR" sz="105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]</m:t>
                    </m:r>
                    <m:r>
                      <a:rPr lang="ko-KR" altLang="en-US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으</m:t>
                    </m:r>
                  </m:oMath>
                </a14:m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만든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Filter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Depth-Wise Conv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한 결과</a:t>
                </a: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5E8C95-F8E8-41E7-8327-C76A46342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5" y="5250594"/>
                <a:ext cx="2583613" cy="1765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D7C365-74DF-4053-85AA-1645510CACE4}"/>
              </a:ext>
            </a:extLst>
          </p:cNvPr>
          <p:cNvSpPr/>
          <p:nvPr/>
        </p:nvSpPr>
        <p:spPr>
          <a:xfrm>
            <a:off x="3149517" y="4152452"/>
            <a:ext cx="2465975" cy="20224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858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429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H3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실험에서는 가설 검증을 위하여 다음의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4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조작을 수행함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Freeze-First: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첫 배치에서 추출한 조건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벡터를 이후 전체에 고정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EMA: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조건 벡터 생성 시 새 정보에 대한 반영 비율을 줄여 변동성을 낮춤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Zero: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조건 벡터를 영벡터로 교체하여 조건성을 제거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Static Depth-Wise: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정적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채널별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고정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대체하여 조건 벡터를 사용하지 않음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 결과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조건성을 강하게 약화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(EMA/Zero)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하거나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완전히 제거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(Static DW)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하면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ETTm2, h2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성능이 크게 감소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하였고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긴 주기와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길수록 악화 폭이 더 커지는 것을 확인할 수 있었음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ETTm2,  h2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일 주기 정합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중 가장 강한 것으로 확인됨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이러한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는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작은 위상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진폭 차이로 예측 오차가 달라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질 수 있어 즉시 위상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진폭차를 보정하는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Dynamic Depth-Wise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 큰 이득을 만듦으로 보임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8EA8080E-A62F-4B79-BE0D-8943FAA54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784789"/>
              </p:ext>
            </p:extLst>
          </p:nvPr>
        </p:nvGraphicFramePr>
        <p:xfrm>
          <a:off x="2219842" y="4892051"/>
          <a:ext cx="5038165" cy="1889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56621">
                  <a:extLst>
                    <a:ext uri="{9D8B030D-6E8A-4147-A177-3AD203B41FA5}">
                      <a16:colId xmlns:a16="http://schemas.microsoft.com/office/drawing/2014/main" val="3982333537"/>
                    </a:ext>
                  </a:extLst>
                </a:gridCol>
                <a:gridCol w="1070386">
                  <a:extLst>
                    <a:ext uri="{9D8B030D-6E8A-4147-A177-3AD203B41FA5}">
                      <a16:colId xmlns:a16="http://schemas.microsoft.com/office/drawing/2014/main" val="1601575091"/>
                    </a:ext>
                  </a:extLst>
                </a:gridCol>
                <a:gridCol w="1070386">
                  <a:extLst>
                    <a:ext uri="{9D8B030D-6E8A-4147-A177-3AD203B41FA5}">
                      <a16:colId xmlns:a16="http://schemas.microsoft.com/office/drawing/2014/main" val="1400825439"/>
                    </a:ext>
                  </a:extLst>
                </a:gridCol>
                <a:gridCol w="1070386">
                  <a:extLst>
                    <a:ext uri="{9D8B030D-6E8A-4147-A177-3AD203B41FA5}">
                      <a16:colId xmlns:a16="http://schemas.microsoft.com/office/drawing/2014/main" val="1471015528"/>
                    </a:ext>
                  </a:extLst>
                </a:gridCol>
                <a:gridCol w="1070386">
                  <a:extLst>
                    <a:ext uri="{9D8B030D-6E8A-4147-A177-3AD203B41FA5}">
                      <a16:colId xmlns:a16="http://schemas.microsoft.com/office/drawing/2014/main" val="4145865203"/>
                    </a:ext>
                  </a:extLst>
                </a:gridCol>
              </a:tblGrid>
              <a:tr h="2956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Phase-Drift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(↓= </a:t>
                      </a:r>
                      <a:r>
                        <a:rPr lang="ko-KR" altLang="en-US" sz="110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정합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↑)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SPAI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(↑= </a:t>
                      </a:r>
                      <a:r>
                        <a:rPr lang="ko-KR" altLang="en-US" sz="110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정합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↑)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 H = 720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(EMA)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 H = 720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(Static-DW)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600349"/>
                  </a:ext>
                </a:extLst>
              </a:tr>
              <a:tr h="12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0.0417</a:t>
                      </a:r>
                      <a:endParaRPr lang="ko-KR" alt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0.8193</a:t>
                      </a:r>
                      <a:endParaRPr lang="ko-KR" alt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+ 18.5 %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+ 17.5 %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097215"/>
                  </a:ext>
                </a:extLst>
              </a:tr>
              <a:tr h="12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0.0208</a:t>
                      </a:r>
                      <a:endParaRPr lang="ko-KR" alt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0.8221</a:t>
                      </a:r>
                      <a:endParaRPr lang="ko-KR" alt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+ 8.8 %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+ 8.2 %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42301"/>
                  </a:ext>
                </a:extLst>
              </a:tr>
              <a:tr h="12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0.0833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0.6530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+ 3.3 %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298215"/>
                  </a:ext>
                </a:extLst>
              </a:tr>
              <a:tr h="12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0.0885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+ 1.8 %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931569"/>
                  </a:ext>
                </a:extLst>
              </a:tr>
              <a:tr h="12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0.0486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0.7675</a:t>
                      </a:r>
                      <a:endParaRPr lang="ko-KR" altLang="en-US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+ 4.3 %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+ 1.4 %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26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413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5342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H3: Phase-D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rift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5337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Phase-Drift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작을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수록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정합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↑):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오늘 파형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어제 파형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비해 얼마나 시계열 상 밀려 있는지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(Shift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되어 있는지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정수 샘플 단위로 측정하는 도구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계산 순서는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파형을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표준화하여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스케일 영향을 제거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2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정수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∈{0, 1, …, 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−1}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전일 파형을 원형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roll</m:t>
                    </m:r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sz="140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상관을 계산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corr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roll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3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최적 시프트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acc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ko-KR" altLang="en-US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상관이 최대가 되는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선택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그 절대 크기를 하루 길이로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정규화함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Phase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Drift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|</m:t>
                          </m:r>
                          <m:acc>
                            <m:accPr>
                              <m:chr m:val="̃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"/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ko-KR" sz="1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d>
                      <m:d>
                        <m:dPr>
                          <m:begChr m:val=""/>
                          <m:endChr m:val="]"/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</m:oMath>
                  </m:oMathPara>
                </a14:m>
                <a:endParaRPr lang="en-US" altLang="ko-KR" sz="14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예를 들어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(1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 간격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T=24) = Phase-Drift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 0.0417;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간 어긋남이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시간이라는 의미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원형 </a:t>
                </a:r>
                <a:r>
                  <a:rPr lang="en-US" altLang="ko-KR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roll: </a:t>
                </a: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벡터를 원형으로 회전시켜 하루의 시작</a:t>
                </a:r>
                <a:r>
                  <a:rPr lang="en-US" altLang="ko-KR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끝을 넘어가도 자연스럽게 맞추도록 만듦</a:t>
                </a:r>
                <a:endPara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5337808"/>
              </a:xfrm>
              <a:prstGeom prst="rect">
                <a:avLst/>
              </a:prstGeom>
              <a:blipFill>
                <a:blip r:embed="rId3"/>
                <a:stretch>
                  <a:fillRect l="-145" b="-4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839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436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H3: SPAI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5287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SPAI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(Shape / Phase Alignment Index,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수록 정합 ↑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): Shift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를 보정 후 오늘 파형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과 어제 파형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유사도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측정하는 도구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계산 순서는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파형을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표준화하여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스케일 영향을 제거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2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정수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∈{0, 1, …, 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−1}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전일 파형을 원형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roll</m:t>
                    </m:r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sz="140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상관을 계산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corr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roll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3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최적 시프트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acc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ko-KR" altLang="en-US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상관이 최대가 되는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선택하여 다음과 같은 계산을 취함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SPAI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corr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roll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̃"/>
                          <m:ctrlP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))</m:t>
                      </m:r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"/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1, </m:t>
                          </m:r>
                        </m:e>
                      </m:d>
                      <m:d>
                        <m:dPr>
                          <m:begChr m:val=""/>
                          <m:endChr m:val="]"/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ko-KR" sz="14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원형 </a:t>
                </a:r>
                <a:r>
                  <a:rPr lang="en-US" altLang="ko-KR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roll: </a:t>
                </a: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벡터를 원형으로 회전시켜 하루의 시작</a:t>
                </a:r>
                <a:r>
                  <a:rPr lang="en-US" altLang="ko-KR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끝을 넘어가도 자연스럽게 맞추도록 만듦</a:t>
                </a:r>
                <a:endPara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5287025"/>
              </a:xfrm>
              <a:prstGeom prst="rect">
                <a:avLst/>
              </a:prstGeom>
              <a:blipFill>
                <a:blip r:embed="rId3"/>
                <a:stretch>
                  <a:fillRect l="-145" b="-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564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5A66B-4EFC-4337-B82A-560450EB9681}"/>
              </a:ext>
            </a:extLst>
          </p:cNvPr>
          <p:cNvSpPr txBox="1"/>
          <p:nvPr/>
        </p:nvSpPr>
        <p:spPr>
          <a:xfrm>
            <a:off x="1158260" y="2810537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/>
              <p:nvPr/>
            </p:nvSpPr>
            <p:spPr>
              <a:xfrm>
                <a:off x="187517" y="6077597"/>
                <a:ext cx="8147888" cy="735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</a:p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077597"/>
                <a:ext cx="8147888" cy="735779"/>
              </a:xfrm>
              <a:prstGeom prst="rect">
                <a:avLst/>
              </a:prstGeom>
              <a:blipFill>
                <a:blip r:embed="rId3"/>
                <a:stretch>
                  <a:fillRect b="-41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1680461F-81F5-4910-9394-272C1D97F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992708"/>
              </p:ext>
            </p:extLst>
          </p:nvPr>
        </p:nvGraphicFramePr>
        <p:xfrm>
          <a:off x="1541949" y="1438937"/>
          <a:ext cx="6060100" cy="1371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365">
                  <a:extLst>
                    <a:ext uri="{9D8B030D-6E8A-4147-A177-3AD203B41FA5}">
                      <a16:colId xmlns:a16="http://schemas.microsoft.com/office/drawing/2014/main" val="239244332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3844717013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66370984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4153041164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1309038776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2764440534"/>
                    </a:ext>
                  </a:extLst>
                </a:gridCol>
              </a:tblGrid>
              <a:tr h="1384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Freeze-First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Static-DW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1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3.601 ± 0.011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9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3.653 ± 0.011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+ 10.2 %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+ 10.0 %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9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3.728 ± 0.020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+ 8.8 %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95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3.644 ± 0.010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+ 18.5 %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+ 12.7 %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+ 17.5 %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277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0B608C7-3589-42C3-94DA-873455F51958}"/>
              </a:ext>
            </a:extLst>
          </p:cNvPr>
          <p:cNvSpPr txBox="1"/>
          <p:nvPr/>
        </p:nvSpPr>
        <p:spPr>
          <a:xfrm>
            <a:off x="1158260" y="4508740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graphicFrame>
        <p:nvGraphicFramePr>
          <p:cNvPr id="17" name="표 3">
            <a:extLst>
              <a:ext uri="{FF2B5EF4-FFF2-40B4-BE49-F238E27FC236}">
                <a16:creationId xmlns:a16="http://schemas.microsoft.com/office/drawing/2014/main" id="{696FE3E7-2C77-4E2D-B3E4-8F5DC3C31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988816"/>
              </p:ext>
            </p:extLst>
          </p:nvPr>
        </p:nvGraphicFramePr>
        <p:xfrm>
          <a:off x="1541949" y="3137140"/>
          <a:ext cx="6060100" cy="1371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365">
                  <a:extLst>
                    <a:ext uri="{9D8B030D-6E8A-4147-A177-3AD203B41FA5}">
                      <a16:colId xmlns:a16="http://schemas.microsoft.com/office/drawing/2014/main" val="239244332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3844717013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66370984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4153041164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1309038776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2764440534"/>
                    </a:ext>
                  </a:extLst>
                </a:gridCol>
              </a:tblGrid>
              <a:tr h="1384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Freeze-First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Static-DW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1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2.959 ± 0.005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9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3.338 ± 0.019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+ 6.8 %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9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3.683 ± 0.017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+ 6.0 %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95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4.098 ± 0.014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+ 8.8%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+ 8.0 %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277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0627230-95EB-4393-A452-ED4724BF2C83}"/>
              </a:ext>
            </a:extLst>
          </p:cNvPr>
          <p:cNvSpPr txBox="1"/>
          <p:nvPr/>
        </p:nvSpPr>
        <p:spPr>
          <a:xfrm>
            <a:off x="1158260" y="6165452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graphicFrame>
        <p:nvGraphicFramePr>
          <p:cNvPr id="19" name="표 3">
            <a:extLst>
              <a:ext uri="{FF2B5EF4-FFF2-40B4-BE49-F238E27FC236}">
                <a16:creationId xmlns:a16="http://schemas.microsoft.com/office/drawing/2014/main" id="{97460C3D-8132-451C-A3BD-D876D1599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116082"/>
              </p:ext>
            </p:extLst>
          </p:nvPr>
        </p:nvGraphicFramePr>
        <p:xfrm>
          <a:off x="1541949" y="4793852"/>
          <a:ext cx="6060100" cy="1371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365">
                  <a:extLst>
                    <a:ext uri="{9D8B030D-6E8A-4147-A177-3AD203B41FA5}">
                      <a16:colId xmlns:a16="http://schemas.microsoft.com/office/drawing/2014/main" val="239244332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3844717013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66370984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4153041164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1309038776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2764440534"/>
                    </a:ext>
                  </a:extLst>
                </a:gridCol>
              </a:tblGrid>
              <a:tr h="1384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Freeze-First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Static-DW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1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39.718 ± 0.135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+ 0.4 %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9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40.850 ± 0.193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9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42.127 ± 0.270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+ 4.4 %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95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41.678 ± 0.179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+ 1.4 %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2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848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5A66B-4EFC-4337-B82A-560450EB9681}"/>
              </a:ext>
            </a:extLst>
          </p:cNvPr>
          <p:cNvSpPr txBox="1"/>
          <p:nvPr/>
        </p:nvSpPr>
        <p:spPr>
          <a:xfrm>
            <a:off x="1158260" y="2810537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ETTh1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/>
              <p:nvPr/>
            </p:nvSpPr>
            <p:spPr>
              <a:xfrm>
                <a:off x="187517" y="6077597"/>
                <a:ext cx="8147888" cy="735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</a:p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077597"/>
                <a:ext cx="8147888" cy="735779"/>
              </a:xfrm>
              <a:prstGeom prst="rect">
                <a:avLst/>
              </a:prstGeom>
              <a:blipFill>
                <a:blip r:embed="rId3"/>
                <a:stretch>
                  <a:fillRect b="-41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1680461F-81F5-4910-9394-272C1D97F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208060"/>
              </p:ext>
            </p:extLst>
          </p:nvPr>
        </p:nvGraphicFramePr>
        <p:xfrm>
          <a:off x="1541949" y="1438937"/>
          <a:ext cx="6060100" cy="1371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365">
                  <a:extLst>
                    <a:ext uri="{9D8B030D-6E8A-4147-A177-3AD203B41FA5}">
                      <a16:colId xmlns:a16="http://schemas.microsoft.com/office/drawing/2014/main" val="239244332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3844717013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66370984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4153041164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1309038776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2764440534"/>
                    </a:ext>
                  </a:extLst>
                </a:gridCol>
              </a:tblGrid>
              <a:tr h="2181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Freeze-First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Static-DW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1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3.055 ± 0.008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9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3.185 ± 0.015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9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3.311 ± 0.014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95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3.168 ± 0.029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277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0B608C7-3589-42C3-94DA-873455F51958}"/>
              </a:ext>
            </a:extLst>
          </p:cNvPr>
          <p:cNvSpPr txBox="1"/>
          <p:nvPr/>
        </p:nvSpPr>
        <p:spPr>
          <a:xfrm>
            <a:off x="1158260" y="4508740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ETTm1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graphicFrame>
        <p:nvGraphicFramePr>
          <p:cNvPr id="17" name="표 3">
            <a:extLst>
              <a:ext uri="{FF2B5EF4-FFF2-40B4-BE49-F238E27FC236}">
                <a16:creationId xmlns:a16="http://schemas.microsoft.com/office/drawing/2014/main" id="{696FE3E7-2C77-4E2D-B3E4-8F5DC3C31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247680"/>
              </p:ext>
            </p:extLst>
          </p:nvPr>
        </p:nvGraphicFramePr>
        <p:xfrm>
          <a:off x="1541949" y="3137140"/>
          <a:ext cx="6060100" cy="1371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365">
                  <a:extLst>
                    <a:ext uri="{9D8B030D-6E8A-4147-A177-3AD203B41FA5}">
                      <a16:colId xmlns:a16="http://schemas.microsoft.com/office/drawing/2014/main" val="239244332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3844717013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66370984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4153041164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1309038776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2764440534"/>
                    </a:ext>
                  </a:extLst>
                </a:gridCol>
              </a:tblGrid>
              <a:tr h="1384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Freeze-First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Static-DW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1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2.818 ± 0.007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1.3 %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9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3.079 ± 0.006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+ 1.8 %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9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3.230 ± 0.008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+ 2.0 %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95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3.335 ± 0.014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+ 1.8 %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2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621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H4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08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H4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결과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</a:t>
                </a:r>
                <a:r>
                  <a:rPr lang="en-US" altLang="ko-KR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 </a:t>
                </a:r>
                <a:r>
                  <a:rPr lang="ko-KR" altLang="en-US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계열 </a:t>
                </a:r>
                <a:r>
                  <a:rPr lang="en-US" altLang="ko-KR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낮출수록 </a:t>
                </a:r>
                <a:r>
                  <a:rPr lang="en-US" altLang="ko-KR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증가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 그 관계가 높은 선형성을 보임</a:t>
                </a:r>
                <a:endParaRPr lang="en-US" altLang="ko-KR" sz="1400" dirty="0"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낮추었을 때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ETTm2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ETTm1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보다 하락이 크게 나타났으나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ETTh2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ETTh1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보다 하락폭이 작았음</a:t>
                </a:r>
                <a:endParaRPr lang="en-US" altLang="ko-KR" sz="1400" dirty="0">
                  <a:solidFill>
                    <a:schemeClr val="tx1"/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Elasticity</m:t>
                    </m:r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num>
                      <m:den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SNR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den>
                    </m:f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값이 클수록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약화에 더 민감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양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이며 선형 적합도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또한 유의미하여 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제안 모델이 </a:t>
                </a:r>
                <a:r>
                  <a:rPr lang="en-US" altLang="ko-KR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저주파 골격 </a:t>
                </a:r>
                <a:r>
                  <a:rPr lang="en-US" altLang="ko-KR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추세 </a:t>
                </a:r>
                <a:r>
                  <a:rPr lang="en-US" altLang="ko-KR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주기</a:t>
                </a:r>
                <a:r>
                  <a:rPr lang="en-US" altLang="ko-KR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실질적으로 의존한다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고 볼 수 있음</a:t>
                </a:r>
                <a:endParaRPr lang="en-US" altLang="ko-KR" sz="1400" dirty="0">
                  <a:solidFill>
                    <a:schemeClr val="tx1"/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ETTm1, ETTh1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Baseline 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상대적으로 낮고 하루 주기 위상 안정성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400" dirty="0" err="1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낮아 제안 모델로 인한 이득이 떨어지고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채널 간 이질성이 강하여 제안 모델로 인한 이득이 크게 드러나지 않는 것으로 보임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아래 표의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채널 중앙값을 사용함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endParaRPr lang="en-US" altLang="ko-KR" sz="1400" dirty="0">
                  <a:solidFill>
                    <a:schemeClr val="tx1"/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080715"/>
              </a:xfrm>
              <a:prstGeom prst="rect">
                <a:avLst/>
              </a:prstGeom>
              <a:blipFill>
                <a:blip r:embed="rId3"/>
                <a:stretch>
                  <a:fillRect l="-145" b="-1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/>
              <p:nvPr/>
            </p:nvSpPr>
            <p:spPr>
              <a:xfrm>
                <a:off x="187517" y="6077597"/>
                <a:ext cx="8147888" cy="757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주기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𝑑𝑎𝑦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96 Steps,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24 Steps, Weather: 144 Steps)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시차 자기 상관으로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주기의 위상 안정성을 반영함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077597"/>
                <a:ext cx="8147888" cy="757964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4CC3612F-FD95-440F-9FCC-1CF928D655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352102"/>
                  </p:ext>
                </p:extLst>
              </p:nvPr>
            </p:nvGraphicFramePr>
            <p:xfrm>
              <a:off x="2910829" y="4505292"/>
              <a:ext cx="3322341" cy="161544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78251">
                      <a:extLst>
                        <a:ext uri="{9D8B030D-6E8A-4147-A177-3AD203B41FA5}">
                          <a16:colId xmlns:a16="http://schemas.microsoft.com/office/drawing/2014/main" val="1499403842"/>
                        </a:ext>
                      </a:extLst>
                    </a:gridCol>
                    <a:gridCol w="509954">
                      <a:extLst>
                        <a:ext uri="{9D8B030D-6E8A-4147-A177-3AD203B41FA5}">
                          <a16:colId xmlns:a16="http://schemas.microsoft.com/office/drawing/2014/main" val="3934115781"/>
                        </a:ext>
                      </a:extLst>
                    </a:gridCol>
                    <a:gridCol w="595793">
                      <a:extLst>
                        <a:ext uri="{9D8B030D-6E8A-4147-A177-3AD203B41FA5}">
                          <a16:colId xmlns:a16="http://schemas.microsoft.com/office/drawing/2014/main" val="3893044420"/>
                        </a:ext>
                      </a:extLst>
                    </a:gridCol>
                    <a:gridCol w="718001">
                      <a:extLst>
                        <a:ext uri="{9D8B030D-6E8A-4147-A177-3AD203B41FA5}">
                          <a16:colId xmlns:a16="http://schemas.microsoft.com/office/drawing/2014/main" val="4028361254"/>
                        </a:ext>
                      </a:extLst>
                    </a:gridCol>
                    <a:gridCol w="820342">
                      <a:extLst>
                        <a:ext uri="{9D8B030D-6E8A-4147-A177-3AD203B41FA5}">
                          <a16:colId xmlns:a16="http://schemas.microsoft.com/office/drawing/2014/main" val="843687205"/>
                        </a:ext>
                      </a:extLst>
                    </a:gridCol>
                  </a:tblGrid>
                  <a:tr h="226031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0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𝑑𝑎𝑦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𝑺𝑵𝑹</m:t>
                                  </m:r>
                                </m:e>
                                <m:sub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𝒕𝒊𝒎𝒆</m:t>
                                  </m:r>
                                </m:sub>
                              </m:sSub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03838"/>
                      </a:ext>
                    </a:extLst>
                  </a:tr>
                  <a:tr h="13909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22.7629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0.8243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3240445"/>
                      </a:ext>
                    </a:extLst>
                  </a:tr>
                  <a:tr h="13909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22.8323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0.8231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2998589"/>
                      </a:ext>
                    </a:extLst>
                  </a:tr>
                  <a:tr h="13909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6.4908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0.7991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9864092"/>
                      </a:ext>
                    </a:extLst>
                  </a:tr>
                  <a:tr h="13909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6.5134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0.8021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4988742"/>
                      </a:ext>
                    </a:extLst>
                  </a:tr>
                  <a:tr h="13909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7.9551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0.5904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555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4CC3612F-FD95-440F-9FCC-1CF928D655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352102"/>
                  </p:ext>
                </p:extLst>
              </p:nvPr>
            </p:nvGraphicFramePr>
            <p:xfrm>
              <a:off x="2910829" y="4505292"/>
              <a:ext cx="3322341" cy="161544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78251">
                      <a:extLst>
                        <a:ext uri="{9D8B030D-6E8A-4147-A177-3AD203B41FA5}">
                          <a16:colId xmlns:a16="http://schemas.microsoft.com/office/drawing/2014/main" val="1499403842"/>
                        </a:ext>
                      </a:extLst>
                    </a:gridCol>
                    <a:gridCol w="509954">
                      <a:extLst>
                        <a:ext uri="{9D8B030D-6E8A-4147-A177-3AD203B41FA5}">
                          <a16:colId xmlns:a16="http://schemas.microsoft.com/office/drawing/2014/main" val="3934115781"/>
                        </a:ext>
                      </a:extLst>
                    </a:gridCol>
                    <a:gridCol w="595793">
                      <a:extLst>
                        <a:ext uri="{9D8B030D-6E8A-4147-A177-3AD203B41FA5}">
                          <a16:colId xmlns:a16="http://schemas.microsoft.com/office/drawing/2014/main" val="3893044420"/>
                        </a:ext>
                      </a:extLst>
                    </a:gridCol>
                    <a:gridCol w="718001">
                      <a:extLst>
                        <a:ext uri="{9D8B030D-6E8A-4147-A177-3AD203B41FA5}">
                          <a16:colId xmlns:a16="http://schemas.microsoft.com/office/drawing/2014/main" val="4028361254"/>
                        </a:ext>
                      </a:extLst>
                    </a:gridCol>
                    <a:gridCol w="820342">
                      <a:extLst>
                        <a:ext uri="{9D8B030D-6E8A-4147-A177-3AD203B41FA5}">
                          <a16:colId xmlns:a16="http://schemas.microsoft.com/office/drawing/2014/main" val="8436872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32143" t="-4615" r="-420238" b="-3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48305" t="-4615" r="-116102" b="-3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038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22.7629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0.8243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324044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22.8323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0.8231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299858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6.4908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0.7991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986409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6.5134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0.8021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498874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7.9551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0.5904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5550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66204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H4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2038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Dataset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상위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6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하위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6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 채널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대한 정보는 다음과 같음</a:t>
                </a:r>
                <a:endParaRPr lang="en-US" altLang="ko-KR" sz="1400" dirty="0"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저주파 지배군은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매우 크고 </a:t>
                </a:r>
                <a:r>
                  <a:rPr lang="en-US" altLang="ko-KR" sz="1400" dirty="0" err="1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도 높아 명확한 일 주기 문맥을 형성하나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고주파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불규칙 지배군은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매우 작고 </a:t>
                </a:r>
                <a:r>
                  <a:rPr lang="en-US" altLang="ko-KR" sz="1400" dirty="0" err="1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도 낮아 주기 위상 안정성이 약함</a:t>
                </a:r>
                <a:endParaRPr lang="en-US" altLang="ko-KR" sz="1400" dirty="0"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곧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간 이질성이 강하다고 할 수 있음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표의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은 단순 산술평균 수치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이때 저주파 분산 비율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(LF ratio)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𝑆𝑁𝑅</m:t>
                        </m:r>
                      </m:num>
                      <m:den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𝑆𝑁𝑅</m:t>
                        </m:r>
                      </m:den>
                    </m:f>
                    <m:r>
                      <a:rPr lang="en-US" altLang="ko-K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과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같음</a:t>
                </a:r>
                <a:endParaRPr lang="en-US" altLang="ko-KR" sz="1400" dirty="0"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2038507"/>
              </a:xfrm>
              <a:prstGeom prst="rect">
                <a:avLst/>
              </a:prstGeom>
              <a:blipFill>
                <a:blip r:embed="rId3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/>
              <p:nvPr/>
            </p:nvSpPr>
            <p:spPr>
              <a:xfrm>
                <a:off x="187517" y="6077597"/>
                <a:ext cx="8147888" cy="757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주기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𝑑𝑎𝑦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96 Steps,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24 Steps, Weather: 144 Steps)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시차 자기 상관으로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주기의 위상 안정성을 반영함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077597"/>
                <a:ext cx="8147888" cy="757964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FDBCD15-6086-4D4C-8BFF-CF5ED3D44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0756054"/>
                  </p:ext>
                </p:extLst>
              </p:nvPr>
            </p:nvGraphicFramePr>
            <p:xfrm>
              <a:off x="1152518" y="3778638"/>
              <a:ext cx="3327700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831925">
                      <a:extLst>
                        <a:ext uri="{9D8B030D-6E8A-4147-A177-3AD203B41FA5}">
                          <a16:colId xmlns:a16="http://schemas.microsoft.com/office/drawing/2014/main" val="608818574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447900919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4127918850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25704385"/>
                        </a:ext>
                      </a:extLst>
                    </a:gridCol>
                  </a:tblGrid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𝑺𝑵𝑹</m:t>
                                    </m:r>
                                  </m:e>
                                  <m:sub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𝒕𝒊𝒎𝒆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LF ratio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283925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 (mbar)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3507.32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0.9849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0508311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rho (g/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376.11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0.9973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779938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Tlog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321.42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8395829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Tpot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(K)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300.76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91037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295.45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0.8987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6126719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Tdew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285.34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0.9659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64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FDBCD15-6086-4D4C-8BFF-CF5ED3D44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0756054"/>
                  </p:ext>
                </p:extLst>
              </p:nvPr>
            </p:nvGraphicFramePr>
            <p:xfrm>
              <a:off x="1152518" y="3778638"/>
              <a:ext cx="3327700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831925">
                      <a:extLst>
                        <a:ext uri="{9D8B030D-6E8A-4147-A177-3AD203B41FA5}">
                          <a16:colId xmlns:a16="http://schemas.microsoft.com/office/drawing/2014/main" val="608818574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447900919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4127918850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25704385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735" t="-5000" r="-202941" b="-6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LF ratio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28392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 (mbar)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3507.32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0.9849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050831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205000" r="-300730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376.11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0.9973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7799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Tlog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321.42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839582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Tpot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(K)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300.76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91037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295.45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0.8987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612671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Tdew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285.34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0.9659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64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3">
                <a:extLst>
                  <a:ext uri="{FF2B5EF4-FFF2-40B4-BE49-F238E27FC236}">
                    <a16:creationId xmlns:a16="http://schemas.microsoft.com/office/drawing/2014/main" id="{4DD879FF-17F1-4EB4-918B-8027881866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9244064"/>
                  </p:ext>
                </p:extLst>
              </p:nvPr>
            </p:nvGraphicFramePr>
            <p:xfrm>
              <a:off x="4663782" y="3781327"/>
              <a:ext cx="3327700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831925">
                      <a:extLst>
                        <a:ext uri="{9D8B030D-6E8A-4147-A177-3AD203B41FA5}">
                          <a16:colId xmlns:a16="http://schemas.microsoft.com/office/drawing/2014/main" val="608818574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447900919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4127918850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25704385"/>
                        </a:ext>
                      </a:extLst>
                    </a:gridCol>
                  </a:tblGrid>
                  <a:tr h="143651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𝑺𝑵𝑹</m:t>
                                    </m:r>
                                  </m:e>
                                  <m:sub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𝒕𝒊𝒎𝒆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LF ratio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283925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wv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(m/s)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0.0446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0508311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rain (mm)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0.4361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0.3037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0.0820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779938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wd (deg)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0.3597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8395829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raining (s)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1.6069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0.2983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91037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max. PAR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2.4645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6126719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OT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4.1571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0.2019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64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3">
                <a:extLst>
                  <a:ext uri="{FF2B5EF4-FFF2-40B4-BE49-F238E27FC236}">
                    <a16:creationId xmlns:a16="http://schemas.microsoft.com/office/drawing/2014/main" id="{4DD879FF-17F1-4EB4-918B-8027881866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9244064"/>
                  </p:ext>
                </p:extLst>
              </p:nvPr>
            </p:nvGraphicFramePr>
            <p:xfrm>
              <a:off x="4663782" y="3781327"/>
              <a:ext cx="3327700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831925">
                      <a:extLst>
                        <a:ext uri="{9D8B030D-6E8A-4147-A177-3AD203B41FA5}">
                          <a16:colId xmlns:a16="http://schemas.microsoft.com/office/drawing/2014/main" val="608818574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447900919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4127918850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25704385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735" t="-5000" r="-202941" b="-6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LF ratio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28392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wv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(m/s)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0.0446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050831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rain (mm)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0.4361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0.3037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0.0820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7799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wd (deg)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0.3597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839582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raining (s)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1.6069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0.2983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91037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max. PAR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2.4645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612671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OT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4.1571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0.2019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64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FE2C238-0168-492C-AFA8-36CF2E0849FB}"/>
              </a:ext>
            </a:extLst>
          </p:cNvPr>
          <p:cNvSpPr txBox="1"/>
          <p:nvPr/>
        </p:nvSpPr>
        <p:spPr>
          <a:xfrm>
            <a:off x="1158261" y="5497400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저주파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지배군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고주파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/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불규칙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지배군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824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H4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/>
              <p:nvPr/>
            </p:nvSpPr>
            <p:spPr>
              <a:xfrm>
                <a:off x="187517" y="5706595"/>
                <a:ext cx="8147888" cy="1151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Elasticity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num>
                      <m:den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SNR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den>
                    </m:f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,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1%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감소할 때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몇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%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증가하는가를 나타내는 지표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SNR-down RMSE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모든 변조에서의 총 평균값을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5706595"/>
                <a:ext cx="8147888" cy="1151405"/>
              </a:xfrm>
              <a:prstGeom prst="rect">
                <a:avLst/>
              </a:prstGeom>
              <a:blipFill>
                <a:blip r:embed="rId3"/>
                <a:stretch>
                  <a:fillRect b="-26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10">
                <a:extLst>
                  <a:ext uri="{FF2B5EF4-FFF2-40B4-BE49-F238E27FC236}">
                    <a16:creationId xmlns:a16="http://schemas.microsoft.com/office/drawing/2014/main" id="{1A37960F-FE99-432C-9F2C-0195555ABF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5803774"/>
                  </p:ext>
                </p:extLst>
              </p:nvPr>
            </p:nvGraphicFramePr>
            <p:xfrm>
              <a:off x="1692536" y="1420111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2.959 ± 0.005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3.125 ± 0.099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3.338 ± 0.019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3.478 ± 0.089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+ 4.2 %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0.094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3.683 ± 0.017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3.786 ± 0.069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+ 2.8 %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4.098 ± 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4.159 ± 0.058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+ 1.5 %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10">
                <a:extLst>
                  <a:ext uri="{FF2B5EF4-FFF2-40B4-BE49-F238E27FC236}">
                    <a16:creationId xmlns:a16="http://schemas.microsoft.com/office/drawing/2014/main" id="{1A37960F-FE99-432C-9F2C-0195555ABF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5803774"/>
                  </p:ext>
                </p:extLst>
              </p:nvPr>
            </p:nvGraphicFramePr>
            <p:xfrm>
              <a:off x="1692536" y="1420111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951111" t="-3077" r="-222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2.959 ± 0.005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3.125 ± 0.099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3.338 ± 0.019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3.478 ± 0.089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+ 4.2 %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0.094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3.683 ± 0.017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3.786 ± 0.069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+ 2.8 %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4.098 ± 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4.159 ± 0.058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+ 1.5 %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1BC1C50-1904-43BF-814B-77EBA7A5A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7730709"/>
                  </p:ext>
                </p:extLst>
              </p:nvPr>
            </p:nvGraphicFramePr>
            <p:xfrm>
              <a:off x="1692535" y="2877553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3.601 ± 0.011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3.664 ± 0.061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+ 1.7 %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3.653 ± 0.011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3.719 ± 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+ 1.8 %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3.728 ± 0.020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3.806 ± 0.072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3.644 ± 0.010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3.730 ± 0.083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+ 2.4 %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1BC1C50-1904-43BF-814B-77EBA7A5A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7730709"/>
                  </p:ext>
                </p:extLst>
              </p:nvPr>
            </p:nvGraphicFramePr>
            <p:xfrm>
              <a:off x="1692535" y="2877553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951111" t="-4615" r="-222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3.601 ± 0.011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3.664 ± 0.061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+ 1.7 %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3.653 ± 0.011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3.719 ± 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+ 1.8 %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3.728 ± 0.020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3.806 ± 0.072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3.644 ± 0.010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3.730 ± 0.083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+ 2.4 %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0">
                <a:extLst>
                  <a:ext uri="{FF2B5EF4-FFF2-40B4-BE49-F238E27FC236}">
                    <a16:creationId xmlns:a16="http://schemas.microsoft.com/office/drawing/2014/main" id="{A3199DB8-9A88-4392-B04C-487FE4CDC4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3724013"/>
                  </p:ext>
                </p:extLst>
              </p:nvPr>
            </p:nvGraphicFramePr>
            <p:xfrm>
              <a:off x="1692534" y="4334995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39.718 ± 0.135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40.208 ± 0.307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40.850 ± 0.193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41.107 ± 0.249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42.127 ± 0.270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42.234 ± 0.261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41.678 ± 0.179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42.139 ± 0.344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0">
                <a:extLst>
                  <a:ext uri="{FF2B5EF4-FFF2-40B4-BE49-F238E27FC236}">
                    <a16:creationId xmlns:a16="http://schemas.microsoft.com/office/drawing/2014/main" id="{A3199DB8-9A88-4392-B04C-487FE4CDC4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3724013"/>
                  </p:ext>
                </p:extLst>
              </p:nvPr>
            </p:nvGraphicFramePr>
            <p:xfrm>
              <a:off x="1692534" y="4334995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951111" t="-3077" r="-222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39.718 ± 0.135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40.208 ± 0.307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40.850 ± 0.193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41.107 ± 0.249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42.127 ± 0.270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42.234 ± 0.261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41.678 ± 0.179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42.139 ± 0.344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23878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H4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/>
              <p:nvPr/>
            </p:nvSpPr>
            <p:spPr>
              <a:xfrm>
                <a:off x="187517" y="5706595"/>
                <a:ext cx="8147888" cy="1151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Elasticity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num>
                      <m:den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SNR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den>
                    </m:f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,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1%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감소할 때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몇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%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증가하는가를 나타내는 지표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SNR-down RMSE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모든 변조에서의 총 평균값을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5706595"/>
                <a:ext cx="8147888" cy="1151405"/>
              </a:xfrm>
              <a:prstGeom prst="rect">
                <a:avLst/>
              </a:prstGeom>
              <a:blipFill>
                <a:blip r:embed="rId3"/>
                <a:stretch>
                  <a:fillRect b="-26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10">
                <a:extLst>
                  <a:ext uri="{FF2B5EF4-FFF2-40B4-BE49-F238E27FC236}">
                    <a16:creationId xmlns:a16="http://schemas.microsoft.com/office/drawing/2014/main" id="{1A37960F-FE99-432C-9F2C-0195555ABF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3719390"/>
                  </p:ext>
                </p:extLst>
              </p:nvPr>
            </p:nvGraphicFramePr>
            <p:xfrm>
              <a:off x="1692536" y="1420111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2.817 ± 0.007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2.898 ± 0.049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+ 2.9 %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3.081 ± 0.006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3.157 ± 0.048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+ 2.5 %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3.230 ± 0.008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3.315 ± 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3.335 ± 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3.408 ± 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10">
                <a:extLst>
                  <a:ext uri="{FF2B5EF4-FFF2-40B4-BE49-F238E27FC236}">
                    <a16:creationId xmlns:a16="http://schemas.microsoft.com/office/drawing/2014/main" id="{1A37960F-FE99-432C-9F2C-0195555ABF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3719390"/>
                  </p:ext>
                </p:extLst>
              </p:nvPr>
            </p:nvGraphicFramePr>
            <p:xfrm>
              <a:off x="1692536" y="1420111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951111" t="-3077" r="-222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2.817 ± 0.007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2.898 ± 0.049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+ 2.9 %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3.081 ± 0.006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3.157 ± 0.048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+ 2.5 %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3.230 ± 0.008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3.315 ± 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3.335 ± 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3.408 ± 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1BC1C50-1904-43BF-814B-77EBA7A5A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5079212"/>
                  </p:ext>
                </p:extLst>
              </p:nvPr>
            </p:nvGraphicFramePr>
            <p:xfrm>
              <a:off x="1692535" y="2877553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3.056 ± 0.008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3.210 ± 0.099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3.186 ± 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3.346 ± 0.103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+ 5.0 %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3.310 ± 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3.471 ± 0.107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+ 4.9 %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3.164 ± 0.032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3.374 ± 0.151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+ 6.6 %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0.157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1BC1C50-1904-43BF-814B-77EBA7A5A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5079212"/>
                  </p:ext>
                </p:extLst>
              </p:nvPr>
            </p:nvGraphicFramePr>
            <p:xfrm>
              <a:off x="1692535" y="2877553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951111" t="-4615" r="-222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3.056 ± 0.008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3.210 ± 0.099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3.186 ± 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3.346 ± 0.103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+ 5.0 %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3.310 ± 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3.471 ± 0.107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+ 4.9 %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3.164 ± 0.032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3.374 ± 0.151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+ 6.6 %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0.157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4686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3000" y="1467711"/>
                <a:ext cx="8531152" cy="2475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H5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결과에 따르면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Co-Attention Block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</a:t>
                </a:r>
                <a:r>
                  <a:rPr lang="en-US" altLang="ko-KR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Concat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교체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하면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특히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모든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Horizon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크게 하락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CC (Correlation Coefficient)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소폭 하락함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데이터 분석에 따르면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어제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지난주 같은 시간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정보가 유용하고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↑)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데이터 흐름이 비교적 안정적으로 재현되며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ko-KR" sz="14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↓)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여러 변수가 그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함께 움직임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Cross</m:t>
                        </m:r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sync</m:t>
                        </m:r>
                      </m:e>
                      <m:sub>
                        <m:r>
                          <a:rPr lang="en-US" altLang="ko-KR" sz="14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↑)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Co-Attention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이때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Conv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토큰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(Query)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과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GRU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문맥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(Key / Value)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선택적으로 가중해 결합하여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CC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저하를 억제하고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악화를 줄이나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Weather, ETTm1, ETTh1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주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정합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(WAI) &lt; 0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혹은 전체 지수가 낮아 선택적 결합을 해도 이득이 작거나 혼재함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00" y="1467711"/>
                <a:ext cx="8531152" cy="2475037"/>
              </a:xfrm>
              <a:prstGeom prst="rect">
                <a:avLst/>
              </a:prstGeom>
              <a:blipFill>
                <a:blip r:embed="rId3"/>
                <a:stretch>
                  <a:fillRect l="-143" b="-1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H5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11">
                <a:extLst>
                  <a:ext uri="{FF2B5EF4-FFF2-40B4-BE49-F238E27FC236}">
                    <a16:creationId xmlns:a16="http://schemas.microsoft.com/office/drawing/2014/main" id="{D0421725-C542-42B2-9B10-CD5420E271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9859206"/>
                  </p:ext>
                </p:extLst>
              </p:nvPr>
            </p:nvGraphicFramePr>
            <p:xfrm>
              <a:off x="1524001" y="4419801"/>
              <a:ext cx="6095997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77333">
                      <a:extLst>
                        <a:ext uri="{9D8B030D-6E8A-4147-A177-3AD203B41FA5}">
                          <a16:colId xmlns:a16="http://schemas.microsoft.com/office/drawing/2014/main" val="115286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792522063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03890391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103868768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07550589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36041200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43703427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14819349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29043980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ACF</m:t>
                                    </m:r>
                                  </m:e>
                                  <m:sub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Align</m:t>
                                    </m:r>
                                    <m:r>
                                      <a:rPr lang="en-US" altLang="ko-KR" sz="1000" b="1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index</m:t>
                                    </m:r>
                                  </m:e>
                                  <m:sub>
                                    <m:r>
                                      <a:rPr lang="en-US" altLang="ko-KR" sz="1000" b="1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Cross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sync</m:t>
                                    </m:r>
                                  </m:e>
                                  <m:sub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Phase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var</m:t>
                                    </m:r>
                                  </m:e>
                                  <m:sub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83693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24844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0.8892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0.7349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0.6389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0.0937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0.2009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0.1673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0.4512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0.8085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3098056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0.8798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0.7271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0.6236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0.0625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0.2005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0.1673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0.4567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0.8319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383799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0.7903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0.6211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0.3743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-0.0937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0.1770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0.1530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0.5930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0.8677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4990854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0.7331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0.5699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0.3149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-0.1581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0.1514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0.8794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666238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0.6091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0.4683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0.2759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-0.2967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0.1104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0.0987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0.4436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0.8638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5876211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11">
                <a:extLst>
                  <a:ext uri="{FF2B5EF4-FFF2-40B4-BE49-F238E27FC236}">
                    <a16:creationId xmlns:a16="http://schemas.microsoft.com/office/drawing/2014/main" id="{D0421725-C542-42B2-9B10-CD5420E271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9859206"/>
                  </p:ext>
                </p:extLst>
              </p:nvPr>
            </p:nvGraphicFramePr>
            <p:xfrm>
              <a:off x="1524001" y="4419801"/>
              <a:ext cx="6095997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77333">
                      <a:extLst>
                        <a:ext uri="{9D8B030D-6E8A-4147-A177-3AD203B41FA5}">
                          <a16:colId xmlns:a16="http://schemas.microsoft.com/office/drawing/2014/main" val="115286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792522063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03890391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103868768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07550589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36041200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43703427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14819349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290439809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50000" t="-7500" r="-301802" b="-6175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49327" t="-7500" r="-200448" b="-6175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50450" t="-7500" r="-101351" b="-6175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50450" t="-7500" r="-1351" b="-6175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8369306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248442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0.8892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0.7349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0.6389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0.0937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0.2009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0.1673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0.4512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0.8085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3098056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0.8798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0.7271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0.6236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0.0625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0.2005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0.1673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0.4567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0.8319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3837995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0.7903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0.6211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0.3743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-0.0937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0.1770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0.1530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0.5930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0.8677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4990854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0.7331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0.5699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0.3149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-0.1581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0.1514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0.8794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66623897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0.6091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0.4683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0.2759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-0.2967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0.1104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0.0987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0.4436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0.8638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5876211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1869A9B-29DE-43D7-A11B-E6A9D22909B3}"/>
              </a:ext>
            </a:extLst>
          </p:cNvPr>
          <p:cNvSpPr txBox="1"/>
          <p:nvPr/>
        </p:nvSpPr>
        <p:spPr>
          <a:xfrm>
            <a:off x="1158261" y="6180054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각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Datasets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대한 데이터 분석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303D1F-3D5F-4503-8ED4-8C02AF0DCDA4}"/>
              </a:ext>
            </a:extLst>
          </p:cNvPr>
          <p:cNvSpPr txBox="1"/>
          <p:nvPr/>
        </p:nvSpPr>
        <p:spPr>
          <a:xfrm>
            <a:off x="107409" y="6567155"/>
            <a:ext cx="58200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Lag: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몇 스텝 전의 값을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참고하느냐에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 대한 시간 간격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. (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얼마나 과거를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참고하느냐에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 대한 시간 간격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5631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4593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24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 </a:t>
                </a:r>
                <a:endParaRPr kumimoji="0" lang="en-US" altLang="ko-KR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4593565" cy="461665"/>
              </a:xfrm>
              <a:prstGeom prst="rect">
                <a:avLst/>
              </a:prstGeom>
              <a:blipFill>
                <a:blip r:embed="rId3"/>
                <a:stretch>
                  <a:fillRect l="-2125" t="-9211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4947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“Lag P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일주일 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과거와 현재가 얼마나 닮았는가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수치화하는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지표로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값이 클수록 해당 주기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패턴이 반복된다는 의미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클 수록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유용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과거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시점의 정보가 현재와 잘 맞닿음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높다는 것은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어제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지난주 같은 시간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패턴이 잘 반복된다는 의미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본 실험에서는 채널 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구하여 밴드 평균값을 낸 뒤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다시 채널 평균값을 구함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ACF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)(</m:t>
                              </m:r>
                              <m:sSubSup>
                                <m:sSubSup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</m:nary>
                        </m:den>
                      </m:f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</m:sup>
                      </m:sSup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ACF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ACF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ACF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ACF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4947445"/>
              </a:xfrm>
              <a:prstGeom prst="rect">
                <a:avLst/>
              </a:prstGeom>
              <a:blipFill>
                <a:blip r:embed="rId4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BCBC8E-3756-4C0F-AC21-DF264717CB18}"/>
                  </a:ext>
                </a:extLst>
              </p:cNvPr>
              <p:cNvSpPr txBox="1"/>
              <p:nvPr/>
            </p:nvSpPr>
            <p:spPr>
              <a:xfrm>
                <a:off x="187517" y="6028927"/>
                <a:ext cx="6202525" cy="899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시계열의 총 길이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t: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 인덱스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c: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인덱스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P: Lag,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얼마나 과거를 참고하느냐 라는 시간 간격</a:t>
                </a:r>
                <a:b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시간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에서의 관측 값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에서의 시간에 따른 관측 값 평균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BCBC8E-3756-4C0F-AC21-DF264717C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028927"/>
                <a:ext cx="6202525" cy="899670"/>
              </a:xfrm>
              <a:prstGeom prst="rect">
                <a:avLst/>
              </a:prstGeom>
              <a:blipFill>
                <a:blip r:embed="rId5"/>
                <a:stretch>
                  <a:fillRect b="-6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297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52636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240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_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var</m:t>
                        </m:r>
                      </m:e>
                      <m:sub>
                        <m:r>
                          <a:rPr kumimoji="0" lang="en-US" altLang="ko-KR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  <m:t>𝑃</m:t>
                        </m:r>
                      </m:sub>
                    </m:sSub>
                  </m:oMath>
                </a14:m>
                <a:endParaRPr kumimoji="0" lang="en-US" altLang="ko-KR" sz="2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5263620" cy="461665"/>
              </a:xfrm>
              <a:prstGeom prst="rect">
                <a:avLst/>
              </a:prstGeom>
              <a:blipFill>
                <a:blip r:embed="rId3"/>
                <a:stretch>
                  <a:fillRect l="-1854" t="-9211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445090" cy="4592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ko-KR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주를 길이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인 원으로 전환하여 피크가 발생한 시점을 각도로 전환하여 측정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작다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피크 타이밍이 안정 → 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비슷한 시각에 피크가 발생함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위상 안정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변동 작음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c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시계열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길이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연속 블록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sz="14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분할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𝑖𝑃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𝑖𝑃</m:t>
                              </m:r>
                              <m: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…, 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=0,…,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예를 들어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Data: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10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(→T: 240), P: 24, c: “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전력부하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 2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세 번째 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48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ko-KR" sz="14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4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sz="14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49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ko-KR" sz="1400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400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…, </m:t>
                        </m:r>
                        <m:sSubSup>
                          <m:sSubSupPr>
                            <m:ctrlP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71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ko-KR" sz="14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4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개의 시점을 포함하는 블록이 생성됨 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48</m:t>
                        </m:r>
                      </m:sub>
                      <m:sup>
                        <m:d>
                          <m:dPr>
                            <m:ctrlPr>
                              <a:rPr lang="en-US" altLang="ko-KR" sz="14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</m:d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세 번째 날의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시의 채널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전력부하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정보라고 이해할 수 있음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2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블록에서 최댓값 시점 </a:t>
                </a:r>
                <a14:m>
                  <m:oMath xmlns:m="http://schemas.openxmlformats.org/officeDocument/2006/math">
                    <m:r>
                      <a:rPr lang="ko-KR" altLang="en-US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𝜏</m:t>
                    </m:r>
                    <m:r>
                      <a:rPr lang="ko-KR" altLang="en-US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추출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결측은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건너뜀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𝑖𝑃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𝜏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∈{0,…,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−1}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445090" cy="4592989"/>
              </a:xfrm>
              <a:prstGeom prst="rect">
                <a:avLst/>
              </a:prstGeom>
              <a:blipFill>
                <a:blip r:embed="rId4"/>
                <a:stretch>
                  <a:fillRect l="-144" r="-10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59C6A12-8B96-4A94-A4CB-8B4CCEEA071D}"/>
              </a:ext>
            </a:extLst>
          </p:cNvPr>
          <p:cNvSpPr txBox="1"/>
          <p:nvPr/>
        </p:nvSpPr>
        <p:spPr>
          <a:xfrm>
            <a:off x="187517" y="6238672"/>
            <a:ext cx="6202525" cy="573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 :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시계열 길이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 B :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밴드 폭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 c :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변수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인덱스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 : Lag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길이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얼마나 과거를 참고하느냐 라는 시간 간격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6581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52636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240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_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var</m:t>
                        </m:r>
                      </m:e>
                      <m:sub>
                        <m:r>
                          <a:rPr kumimoji="0" lang="en-US" altLang="ko-KR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  <m:t>𝑃</m:t>
                        </m:r>
                      </m:sub>
                    </m:sSub>
                  </m:oMath>
                </a14:m>
                <a:endParaRPr kumimoji="0" lang="en-US" altLang="ko-KR" sz="2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5263620" cy="461665"/>
              </a:xfrm>
              <a:prstGeom prst="rect">
                <a:avLst/>
              </a:prstGeom>
              <a:blipFill>
                <a:blip r:embed="rId3"/>
                <a:stretch>
                  <a:fillRect l="-1854" t="-9211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445090" cy="3801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ko-KR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주를 길이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인 원으로 전환하여 피크가 발생한 시점을 각도로 전환하여 측정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작다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피크 타이밍이 안정 → 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비슷한 시각에 피크가 발생함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위상 안정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변동 작음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3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각도로 변환함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den>
                      </m:f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radian</m:t>
                      </m:r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4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블록 별 각도들의 평균 방향과 집중 정도를 구함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func>
                        </m:e>
                      </m:nary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func>
                        </m:e>
                      </m:nary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5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원형 분산으로 바꾸고 채널 평균을 계산함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Phase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445090" cy="3801425"/>
              </a:xfrm>
              <a:prstGeom prst="rect">
                <a:avLst/>
              </a:prstGeom>
              <a:blipFill>
                <a:blip r:embed="rId4"/>
                <a:stretch>
                  <a:fillRect l="-144" r="-10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097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54500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240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Cross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_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sync</m:t>
                        </m:r>
                      </m:e>
                      <m:sub>
                        <m:r>
                          <a:rPr kumimoji="0" lang="en-US" altLang="ko-KR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  <m:t>𝑃</m:t>
                        </m:r>
                      </m:sub>
                    </m:sSub>
                  </m:oMath>
                </a14:m>
                <a:endParaRPr kumimoji="0" lang="en-US" altLang="ko-KR" sz="2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5450018" cy="461665"/>
              </a:xfrm>
              <a:prstGeom prst="rect">
                <a:avLst/>
              </a:prstGeom>
              <a:blipFill>
                <a:blip r:embed="rId3"/>
                <a:stretch>
                  <a:fillRect l="-1790" t="-9211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445090" cy="5122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400" b="1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altLang="ko-KR" sz="1400" b="1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Times New Roman" panose="02020603050405020304" pitchFamily="18" charset="0"/>
                            <a:ea typeface="KoPub돋움체 Bold" panose="00000800000000000000" pitchFamily="2" charset="-127"/>
                            <a:cs typeface="Times New Roman" panose="02020603050405020304" pitchFamily="18" charset="0"/>
                          </a:rPr>
                          <m:t>Cross</m:t>
                        </m:r>
                        <m:r>
                          <m:rPr>
                            <m:nor/>
                          </m:rPr>
                          <a:rPr kumimoji="0" lang="en-US" altLang="ko-KR" sz="1400" b="1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Times New Roman" panose="02020603050405020304" pitchFamily="18" charset="0"/>
                            <a:ea typeface="KoPub돋움체 Bold" panose="000008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kumimoji="0" lang="en-US" altLang="ko-KR" sz="1400" b="1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Times New Roman" panose="02020603050405020304" pitchFamily="18" charset="0"/>
                            <a:ea typeface="KoPub돋움체 Bold" panose="00000800000000000000" pitchFamily="2" charset="-127"/>
                            <a:cs typeface="Times New Roman" panose="02020603050405020304" pitchFamily="18" charset="0"/>
                          </a:rPr>
                          <m:t>sync</m:t>
                        </m:r>
                      </m:e>
                      <m:sub>
                        <m:r>
                          <a:rPr kumimoji="0" lang="en-US" altLang="ko-KR" sz="1400" b="1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  <m:t>𝑷</m:t>
                        </m:r>
                      </m:sub>
                    </m:sSub>
                    <m:r>
                      <a:rPr kumimoji="0" lang="en-US" altLang="ko-KR" sz="1400" b="1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  <a:ea typeface="KoPub돋움체 Bold" panose="00000800000000000000" pitchFamily="2" charset="-127"/>
                      </a:rPr>
                      <m:t>: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여러 변수쌍이 같은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동시에 움직이는지를 확인하는 지표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동시에 움직이면 그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강조할 전역적 근거가 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채널 별 평균을 제거하여 스케일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오프셋의 영향을 줄임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2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정규화 상수를 계산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ko-KR" altLang="en-US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𝜀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3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채널 전 쌍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j),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&lt;j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 쌍 별 교차상관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(Lag P)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구함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xcorr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4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쌍을 사용해 평균을 구함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cross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sync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xcorr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445090" cy="5122171"/>
              </a:xfrm>
              <a:prstGeom prst="rect">
                <a:avLst/>
              </a:prstGeom>
              <a:blipFill>
                <a:blip r:embed="rId4"/>
                <a:stretch>
                  <a:fillRect l="-1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088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69331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240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Align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_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index</m:t>
                        </m:r>
                      </m:e>
                      <m:sub>
                        <m:r>
                          <a:rPr kumimoji="0" lang="en-US" altLang="ko-KR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  <m:t>𝑃</m:t>
                        </m:r>
                      </m:sub>
                    </m:sSub>
                  </m:oMath>
                </a14:m>
                <a:r>
                  <a:rPr kumimoji="0" lang="en-US" altLang="ko-KR" sz="2400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, DAI, WAI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6933180" cy="461665"/>
              </a:xfrm>
              <a:prstGeom prst="rect">
                <a:avLst/>
              </a:prstGeom>
              <a:blipFill>
                <a:blip r:embed="rId3"/>
                <a:stretch>
                  <a:fillRect l="-1407" t="-9211" r="-440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445090" cy="3924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Align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index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하나의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유용성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(ii)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타이밍 안정성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(iii)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다변수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동조화를 하나의 수치로 요약한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크기가 양수일수록 해당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P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가 유용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안정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동조하여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골라 쓰는 결합이 맞아 떨어질 환경임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크기가 음수일수록 해당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P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는 덜 유용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불안정하여 그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강조해도 효과가 작거나 혼재할 소지 있음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Align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index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ACF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유</m:t>
                          </m:r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용</m:t>
                          </m:r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성</m:t>
                          </m:r>
                        </m:lim>
                      </m:limLow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Phase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_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var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타이밍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안</m:t>
                          </m:r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정</m:t>
                          </m:r>
                        </m:lim>
                      </m:limLow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Cross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_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sync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동조화</m:t>
                          </m:r>
                        </m:lim>
                      </m:limLow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DAI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(Day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Alignment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Index):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하루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에서의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Align_index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DAI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ACF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𝑑𝑎𝑦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Phase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𝑑𝑎𝑦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Cross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sync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𝑑𝑎𝑦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WAI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(Week Alignment Index):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에서의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Align_index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AI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ACF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𝑤𝑒𝑒𝑘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Phase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𝑤𝑒𝑒𝑘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Cross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sync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𝑤𝑒𝑒𝑘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445090" cy="3924216"/>
              </a:xfrm>
              <a:prstGeom prst="rect">
                <a:avLst/>
              </a:prstGeom>
              <a:blipFill>
                <a:blip r:embed="rId4"/>
                <a:stretch>
                  <a:fillRect l="-1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047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H5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FFD78339-FC77-4E63-9877-148200A9B01E}"/>
              </a:ext>
            </a:extLst>
          </p:cNvPr>
          <p:cNvGraphicFramePr>
            <a:graphicFrameLocks noGrp="1"/>
          </p:cNvGraphicFramePr>
          <p:nvPr/>
        </p:nvGraphicFramePr>
        <p:xfrm>
          <a:off x="483992" y="1420111"/>
          <a:ext cx="8176015" cy="2499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0467">
                  <a:extLst>
                    <a:ext uri="{9D8B030D-6E8A-4147-A177-3AD203B41FA5}">
                      <a16:colId xmlns:a16="http://schemas.microsoft.com/office/drawing/2014/main" val="2505276975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6967432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9121394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432465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66367777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3465607320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845301920"/>
                    </a:ext>
                  </a:extLst>
                </a:gridCol>
              </a:tblGrid>
              <a:tr h="16157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CC</a:t>
                      </a:r>
                    </a:p>
                    <a:p>
                      <a:pPr algn="l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3565"/>
                  </a:ext>
                </a:extLst>
              </a:tr>
              <a:tr h="140419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2.960 ± 0.007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0.9856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66422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3.181 ± 0.056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0.9834 ± 0.0006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–0.0022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77913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3.345 ± 0.008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0.9817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94341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3.633 ± 0.059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+ 8.6 %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0.9784 ± 0.0007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6808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3.693 ± 0.020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0.9777 ± 0.0003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0489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4.048 ± 0.056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+ 9.6 %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0.9732 ± 0.0008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–0.0045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984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4.097 ± 0.011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0.9727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85215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4.361 ± 0.013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+ 6.4 %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0.9691 ± 0.0002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32049"/>
                  </a:ext>
                </a:extLst>
              </a:tr>
            </a:tbl>
          </a:graphicData>
        </a:graphic>
      </p:graphicFrame>
      <p:graphicFrame>
        <p:nvGraphicFramePr>
          <p:cNvPr id="9" name="표 2">
            <a:extLst>
              <a:ext uri="{FF2B5EF4-FFF2-40B4-BE49-F238E27FC236}">
                <a16:creationId xmlns:a16="http://schemas.microsoft.com/office/drawing/2014/main" id="{0110EDC3-4DE4-4F73-910D-B9B64F8804FC}"/>
              </a:ext>
            </a:extLst>
          </p:cNvPr>
          <p:cNvGraphicFramePr>
            <a:graphicFrameLocks noGrp="1"/>
          </p:cNvGraphicFramePr>
          <p:nvPr/>
        </p:nvGraphicFramePr>
        <p:xfrm>
          <a:off x="483992" y="4026282"/>
          <a:ext cx="8176015" cy="2499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0467">
                  <a:extLst>
                    <a:ext uri="{9D8B030D-6E8A-4147-A177-3AD203B41FA5}">
                      <a16:colId xmlns:a16="http://schemas.microsoft.com/office/drawing/2014/main" val="2505276975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6967432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9121394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432465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66367777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3465607320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845301920"/>
                    </a:ext>
                  </a:extLst>
                </a:gridCol>
              </a:tblGrid>
              <a:tr h="16157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CC</a:t>
                      </a:r>
                    </a:p>
                    <a:p>
                      <a:pPr algn="l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3565"/>
                  </a:ext>
                </a:extLst>
              </a:tr>
              <a:tr h="140419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3.603 ± 0.011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0.9807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66422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3.823 ± 0.053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+ 6.1 %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0.9779 ± 0.0005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–0.0029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77913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3.653 ± 0.011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0.9812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94341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3.937 ± 0.014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+ 7.8%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0.9776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6808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3.728 ± 0.019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0.9810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0489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4.035 ± 0.034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+ 8.2 %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0.9771 ± 0.0003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984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3.643 ± 0.015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0.9809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85215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3.893 ± 0.013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+ 9.3 %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0.9774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32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429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H5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FFD78339-FC77-4E63-9877-148200A9B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836159"/>
              </p:ext>
            </p:extLst>
          </p:nvPr>
        </p:nvGraphicFramePr>
        <p:xfrm>
          <a:off x="483992" y="1420111"/>
          <a:ext cx="8176015" cy="2499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0467">
                  <a:extLst>
                    <a:ext uri="{9D8B030D-6E8A-4147-A177-3AD203B41FA5}">
                      <a16:colId xmlns:a16="http://schemas.microsoft.com/office/drawing/2014/main" val="2505276975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6967432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9121394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432465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66367777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3465607320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845301920"/>
                    </a:ext>
                  </a:extLst>
                </a:gridCol>
              </a:tblGrid>
              <a:tr h="16157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CC</a:t>
                      </a:r>
                    </a:p>
                    <a:p>
                      <a:pPr algn="l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3565"/>
                  </a:ext>
                </a:extLst>
              </a:tr>
              <a:tr h="140419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2.817 ± 0.007</a:t>
                      </a:r>
                      <a:endParaRPr lang="ko-KR" altLang="en-US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0.8599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66422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2.829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0.012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+ 0.4 %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0.8584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–0.0015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77913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3.081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0.8315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94341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3.093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0.014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+ 0.4 %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0.8299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–0.0015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6808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3.230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0.8142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0489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3.265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0.021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+ 1.1 %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0.8105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0.0023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984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3.335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0.014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0.8058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85215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3.351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0.027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0.8044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0.0030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–0.0014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32049"/>
                  </a:ext>
                </a:extLst>
              </a:tr>
            </a:tbl>
          </a:graphicData>
        </a:graphic>
      </p:graphicFrame>
      <p:graphicFrame>
        <p:nvGraphicFramePr>
          <p:cNvPr id="9" name="표 2">
            <a:extLst>
              <a:ext uri="{FF2B5EF4-FFF2-40B4-BE49-F238E27FC236}">
                <a16:creationId xmlns:a16="http://schemas.microsoft.com/office/drawing/2014/main" id="{0110EDC3-4DE4-4F73-910D-B9B64F880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118185"/>
              </p:ext>
            </p:extLst>
          </p:nvPr>
        </p:nvGraphicFramePr>
        <p:xfrm>
          <a:off x="483992" y="4026282"/>
          <a:ext cx="8176015" cy="2499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0467">
                  <a:extLst>
                    <a:ext uri="{9D8B030D-6E8A-4147-A177-3AD203B41FA5}">
                      <a16:colId xmlns:a16="http://schemas.microsoft.com/office/drawing/2014/main" val="2505276975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6967432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9121394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432465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66367777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3465607320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845301920"/>
                    </a:ext>
                  </a:extLst>
                </a:gridCol>
              </a:tblGrid>
              <a:tr h="16157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CC</a:t>
                      </a:r>
                    </a:p>
                    <a:p>
                      <a:pPr algn="l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3565"/>
                  </a:ext>
                </a:extLst>
              </a:tr>
              <a:tr h="140419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3.056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0.8406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0.0009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66422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3.134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0.024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+ 2.6 %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0.8310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0.0030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77913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3.186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0.015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0.8248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94341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3.293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0.030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+ 3.4 %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0.8101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–0.0147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6808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3.310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0.015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0.8056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0489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3.430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0.025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+ 3.6 %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0.7863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0.0032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–0.0193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984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3.164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0.032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0.8145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0.0032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85215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3.330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0.041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+ 5.3 %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0.7882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0.0053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–0.0263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32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527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H5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FFD78339-FC77-4E63-9877-148200A9B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77749"/>
              </p:ext>
            </p:extLst>
          </p:nvPr>
        </p:nvGraphicFramePr>
        <p:xfrm>
          <a:off x="483992" y="1420111"/>
          <a:ext cx="8176015" cy="2499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0467">
                  <a:extLst>
                    <a:ext uri="{9D8B030D-6E8A-4147-A177-3AD203B41FA5}">
                      <a16:colId xmlns:a16="http://schemas.microsoft.com/office/drawing/2014/main" val="2505276975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6967432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9121394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432465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66367777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3465607320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845301920"/>
                    </a:ext>
                  </a:extLst>
                </a:gridCol>
              </a:tblGrid>
              <a:tr h="16157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CC</a:t>
                      </a:r>
                    </a:p>
                    <a:p>
                      <a:pPr algn="l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3565"/>
                  </a:ext>
                </a:extLst>
              </a:tr>
              <a:tr h="140419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39.678 ± 0.136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0.9929 ± 0.0000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66422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40.289 ± 0.129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0.9926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–0.0002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77913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40.823 ± 0.186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0.9925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94341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41.099 ± 0.185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+ 0.7 %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0.9924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6808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42.055 ± 0.301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0.9920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0489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41.831 ± 0.102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0.9921 ± 0.0000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984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41.677 ± 0.176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0.9921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85215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41.805 ± 0.116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+ 0.3 %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0.9921 ± 0.0000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–0.0000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32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3356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2824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H6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결과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(Reversible Instance Normalization)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OFF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하면 대부분의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성능이 크게 하락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것을 확인할 수 있었음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 (ETTm1, m2, h1, h2) Datasets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에서 </a:t>
                </a: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OFF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가 약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33 %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악화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하였으며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Weather Dataset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약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22 ~ 25 %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악화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것을 확인할 수 있었음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분포 </a:t>
                </a:r>
                <a:r>
                  <a:rPr lang="ko-KR" altLang="en-US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드리프트를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줄인다는 가설은 일부 지지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되는 것으로 확인됨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분포 </a:t>
                </a:r>
                <a:r>
                  <a:rPr lang="ko-KR" altLang="en-US" sz="12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관점에서</a:t>
                </a:r>
                <a:r>
                  <a:rPr lang="en-US" altLang="ko-KR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200" b="1" i="1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US" altLang="ko-KR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(Mean) 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정렬은 폭넓게 작용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하여 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성능 개선의 주된 원인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생각됨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분포 </a:t>
                </a:r>
                <a:r>
                  <a:rPr lang="ko-KR" altLang="en-US" sz="12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관점에서</a:t>
                </a:r>
                <a:r>
                  <a:rPr lang="en-US" altLang="ko-KR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1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200" b="1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ko-KR" sz="1200" b="1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(Variance) 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정렬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Datasets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의존하되 예측 오차는 줄여 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실용 관점에서 이득은 유지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것으로 생각됨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2824684"/>
              </a:xfrm>
              <a:prstGeom prst="rect">
                <a:avLst/>
              </a:prstGeom>
              <a:blipFill>
                <a:blip r:embed="rId3"/>
                <a:stretch>
                  <a:fillRect l="-143" b="-8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6F89240C-A145-4165-8597-AFF2CBC597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625879"/>
                  </p:ext>
                </p:extLst>
              </p:nvPr>
            </p:nvGraphicFramePr>
            <p:xfrm>
              <a:off x="2445325" y="4421802"/>
              <a:ext cx="4253348" cy="1758252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063337">
                      <a:extLst>
                        <a:ext uri="{9D8B030D-6E8A-4147-A177-3AD203B41FA5}">
                          <a16:colId xmlns:a16="http://schemas.microsoft.com/office/drawing/2014/main" val="560906697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4106816365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730765855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2561879976"/>
                        </a:ext>
                      </a:extLst>
                    </a:gridCol>
                  </a:tblGrid>
                  <a:tr h="33872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(OFF- ON)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1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1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∆</m:t>
                                  </m:r>
                                  <m:r>
                                    <a:rPr lang="ko-KR" altLang="en-US" sz="11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𝑎𝑏𝑠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(OFF- ON)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1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sSup>
                                    <m:sSupPr>
                                      <m:ctrlPr>
                                        <a:rPr lang="en-US" altLang="ko-KR" sz="1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∆</m:t>
                                      </m:r>
                                      <m:r>
                                        <a:rPr lang="ko-KR" altLang="en-US" sz="1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ko-KR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altLang="ko-KR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𝑎𝑏𝑠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(OFF- ON)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0478740"/>
                      </a:ext>
                    </a:extLst>
                  </a:tr>
                  <a:tr h="20565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1.4481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–0.4622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–3.6988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425720"/>
                      </a:ext>
                    </a:extLst>
                  </a:tr>
                  <a:tr h="20565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0.3436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0.6808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0.7271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9302704"/>
                      </a:ext>
                    </a:extLst>
                  </a:tr>
                  <a:tr h="20565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2.7815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1.1541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4.6218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6818"/>
                      </a:ext>
                    </a:extLst>
                  </a:tr>
                  <a:tr h="20565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2.6948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1.5792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20.6237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6462899"/>
                      </a:ext>
                    </a:extLst>
                  </a:tr>
                  <a:tr h="20565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14.5343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5.6061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–977.9211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71219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6F89240C-A145-4165-8597-AFF2CBC597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625879"/>
                  </p:ext>
                </p:extLst>
              </p:nvPr>
            </p:nvGraphicFramePr>
            <p:xfrm>
              <a:off x="2445325" y="4421802"/>
              <a:ext cx="4253348" cy="1758252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063337">
                      <a:extLst>
                        <a:ext uri="{9D8B030D-6E8A-4147-A177-3AD203B41FA5}">
                          <a16:colId xmlns:a16="http://schemas.microsoft.com/office/drawing/2014/main" val="560906697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4106816365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730765855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2561879976"/>
                        </a:ext>
                      </a:extLst>
                    </a:gridCol>
                  </a:tblGrid>
                  <a:tr h="4628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(OFF- ON)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99429" t="-2632" r="-100571" b="-2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01149" t="-2632" r="-1149" b="-289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047874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1.4481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–0.4622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–3.6988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42572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0.3436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0.6808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0.7271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930270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2.7815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1.1541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4.6218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681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2.6948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1.5792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20.6237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64628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14.5343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5.6061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–977.9211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71219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8DC93FA-DFC5-4C38-9599-C625E187DFA5}"/>
              </a:ext>
            </a:extLst>
          </p:cNvPr>
          <p:cNvSpPr txBox="1"/>
          <p:nvPr/>
        </p:nvSpPr>
        <p:spPr>
          <a:xfrm>
            <a:off x="1158261" y="6180054"/>
            <a:ext cx="6827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= 720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분포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결과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값이 양수면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드리프트를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감소시켰다는 의미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23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2875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Datasets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Validation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Test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구간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길이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 (Horizon)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잘라 각 창의 평균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과 분산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구간의 평균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분산에 비해 얼마나 멀어졌는지를 측정하여 데이터의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정도를 확인함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ETTh2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는 타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비해 표준편차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 이상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구간 평균에 비해 이동했으며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분산 또한 기준 대비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80 ~ 90 %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변동하는 고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임이 확인됨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그러나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개별 수준 상관과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감소량을 보았을 때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감소가 클 수록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개선도 큰 것으로 보이지만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감소와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 간의 상관이 낮았음</a:t>
                </a:r>
                <a:endParaRPr lang="en-US" altLang="ko-KR" sz="1400" b="0" i="1" dirty="0"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ko-KR" altLang="en-US" sz="1400" b="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정렬 외에도 </a:t>
                </a: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학습 안정화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스케일 일관화를 통해 이득을 낸 것으로 추정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2875146"/>
              </a:xfrm>
              <a:prstGeom prst="rect">
                <a:avLst/>
              </a:prstGeom>
              <a:blipFill>
                <a:blip r:embed="rId3"/>
                <a:stretch>
                  <a:fillRect l="-143" b="-12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A518C50A-41B8-414D-B855-728BD2E4BC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46165"/>
                  </p:ext>
                </p:extLst>
              </p:nvPr>
            </p:nvGraphicFramePr>
            <p:xfrm>
              <a:off x="668954" y="4646069"/>
              <a:ext cx="3903046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8401">
                      <a:extLst>
                        <a:ext uri="{9D8B030D-6E8A-4147-A177-3AD203B41FA5}">
                          <a16:colId xmlns:a16="http://schemas.microsoft.com/office/drawing/2014/main" val="4110142914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915970128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1696558988"/>
                        </a:ext>
                      </a:extLst>
                    </a:gridCol>
                    <a:gridCol w="1012722">
                      <a:extLst>
                        <a:ext uri="{9D8B030D-6E8A-4147-A177-3AD203B41FA5}">
                          <a16:colId xmlns:a16="http://schemas.microsoft.com/office/drawing/2014/main" val="2926249195"/>
                        </a:ext>
                      </a:extLst>
                    </a:gridCol>
                  </a:tblGrid>
                  <a:tr h="19544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831334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2.45 ± 1.34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 ± 0.60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18.24 ± 14.76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977658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 ± 0.75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1.28 ± 0.43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23.62 ± 8.11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1906406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2.97 ± 0.13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1.48 ± 0.35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25.69 ± 9.49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161983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2.69 ± 0.10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1.58 ± 0.34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20.62 ± 10.44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0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A518C50A-41B8-414D-B855-728BD2E4BC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46165"/>
                  </p:ext>
                </p:extLst>
              </p:nvPr>
            </p:nvGraphicFramePr>
            <p:xfrm>
              <a:off x="668954" y="4646069"/>
              <a:ext cx="3903046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8401">
                      <a:extLst>
                        <a:ext uri="{9D8B030D-6E8A-4147-A177-3AD203B41FA5}">
                          <a16:colId xmlns:a16="http://schemas.microsoft.com/office/drawing/2014/main" val="4110142914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915970128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1696558988"/>
                        </a:ext>
                      </a:extLst>
                    </a:gridCol>
                    <a:gridCol w="1012722">
                      <a:extLst>
                        <a:ext uri="{9D8B030D-6E8A-4147-A177-3AD203B41FA5}">
                          <a16:colId xmlns:a16="http://schemas.microsoft.com/office/drawing/2014/main" val="292624919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96875" t="-3077" r="-105625" b="-2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86145" t="-3077" r="-1807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83133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2.45 ± 1.34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 ± 0.60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18.24 ± 14.76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97765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 ± 0.75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1.28 ± 0.43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23.62 ± 8.11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1906406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2.97 ± 0.13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1.48 ± 0.35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25.69 ± 9.49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161983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2.69 ± 0.10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1.58 ± 0.34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20.62 ± 10.44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0077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7A53CB09-2A60-41A5-A020-B6793F1830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554404"/>
                  </p:ext>
                </p:extLst>
              </p:nvPr>
            </p:nvGraphicFramePr>
            <p:xfrm>
              <a:off x="4683350" y="4646069"/>
              <a:ext cx="3903046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8401">
                      <a:extLst>
                        <a:ext uri="{9D8B030D-6E8A-4147-A177-3AD203B41FA5}">
                          <a16:colId xmlns:a16="http://schemas.microsoft.com/office/drawing/2014/main" val="4110142914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915970128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1696558988"/>
                        </a:ext>
                      </a:extLst>
                    </a:gridCol>
                    <a:gridCol w="1012722">
                      <a:extLst>
                        <a:ext uri="{9D8B030D-6E8A-4147-A177-3AD203B41FA5}">
                          <a16:colId xmlns:a16="http://schemas.microsoft.com/office/drawing/2014/main" val="2926249195"/>
                        </a:ext>
                      </a:extLst>
                    </a:gridCol>
                  </a:tblGrid>
                  <a:tr h="19544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831334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2.36 ± 1.05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0.46 ± 0.39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–3.21 ±11.42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977658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2.27 ± 0.90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0.17 ± 0.37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–8.55 ± 6.43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1906406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2.33 ± 0.77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0.39 ± 0.48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–14.27 ± 6.77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161983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2.78 ± 0.33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1.15 ± 0.64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4.62 ± 17.26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0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7A53CB09-2A60-41A5-A020-B6793F1830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554404"/>
                  </p:ext>
                </p:extLst>
              </p:nvPr>
            </p:nvGraphicFramePr>
            <p:xfrm>
              <a:off x="4683350" y="4646069"/>
              <a:ext cx="3903046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8401">
                      <a:extLst>
                        <a:ext uri="{9D8B030D-6E8A-4147-A177-3AD203B41FA5}">
                          <a16:colId xmlns:a16="http://schemas.microsoft.com/office/drawing/2014/main" val="4110142914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915970128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1696558988"/>
                        </a:ext>
                      </a:extLst>
                    </a:gridCol>
                    <a:gridCol w="1012722">
                      <a:extLst>
                        <a:ext uri="{9D8B030D-6E8A-4147-A177-3AD203B41FA5}">
                          <a16:colId xmlns:a16="http://schemas.microsoft.com/office/drawing/2014/main" val="292624919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96875" t="-3077" r="-105000" b="-2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86145" t="-3077" r="-1205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83133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2.36 ± 1.05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0.46 ± 0.39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–3.21 ±11.42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97765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2.27 ± 0.90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0.17 ± 0.37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–8.55 ± 6.43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1906406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2.33 ± 0.77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0.39 ± 0.48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–14.27 ± 6.77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161983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2.78 ± 0.33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1.15 ± 0.64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4.62 ± 17.26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0077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725028C-CC65-49A2-ADAB-DEDAA1FCEFBA}"/>
              </a:ext>
            </a:extLst>
          </p:cNvPr>
          <p:cNvSpPr txBox="1"/>
          <p:nvPr/>
        </p:nvSpPr>
        <p:spPr>
          <a:xfrm>
            <a:off x="1063224" y="6059271"/>
            <a:ext cx="70175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(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좌</a:t>
            </a:r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)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</a:t>
            </a:r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, (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우</a:t>
            </a:r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)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</a:t>
            </a:r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 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에 대한 </a:t>
            </a:r>
            <a:r>
              <a:rPr lang="ko-KR" altLang="en-US" sz="1400" dirty="0" err="1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드리프트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 감소량 표 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OFF – 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값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+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ON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드리프트를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줄였다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드리프트를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늘렸다는 의미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99680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59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공통 표기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다변수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시계열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 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C)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훈련 구간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(60% Data)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채널별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기준 통계를 계산한 값은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mean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𝑡𝑟𝑎𝑖𝑛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std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), 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Validation / Test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구간을 길이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 (Horizon)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분할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Window index = 1, …, 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라 하고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Window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에서의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채널별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평균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분산은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mean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), 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채널 평균으로 집계한 값을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𝜇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𝜐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라 설정함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수치 안정화를 위해 분모에는 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ko-KR" sz="14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≈</m:t>
                    </m:r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를 더함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591496"/>
              </a:xfrm>
              <a:prstGeom prst="rect">
                <a:avLst/>
              </a:prstGeom>
              <a:blipFill>
                <a:blip r:embed="rId3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661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60603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H6: </a:t>
                </a:r>
                <a14:m>
                  <m:oMath xmlns:m="http://schemas.openxmlformats.org/officeDocument/2006/math">
                    <m:r>
                      <a:rPr lang="ko-KR" altLang="en-US" sz="2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, SD) </a:t>
                </a:r>
                <a:endParaRPr kumimoji="0" lang="en-US" altLang="ko-KR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6060377" cy="461665"/>
              </a:xfrm>
              <a:prstGeom prst="rect">
                <a:avLst/>
              </a:prstGeom>
              <a:blipFill>
                <a:blip r:embed="rId3"/>
                <a:stretch>
                  <a:fillRect l="-1610" t="-9211" r="-503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4196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SD)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–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평균이 기준에서 몇 표준편차만큼 이동했는지 전반적 수준을 측정하는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훈련 기준 평균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에서 얼마나 떨어져 있는지를 표준편차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단위로 측정함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H6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표의 값은 여러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값을 평균한 값으로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전체 구간의 전반적 평균 이동 정도를 나타냄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SD)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1.0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Validation / Test 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평균이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기준 평균에서 표준편차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 만큼 떨어져 있음을 의미함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drift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4196662"/>
              </a:xfrm>
              <a:prstGeom prst="rect">
                <a:avLst/>
              </a:prstGeom>
              <a:blipFill>
                <a:blip r:embed="rId4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2783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60395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H6: </a:t>
                </a:r>
                <a14:m>
                  <m:oMath xmlns:m="http://schemas.openxmlformats.org/officeDocument/2006/math">
                    <m:r>
                      <a:rPr lang="ko-KR" altLang="en-US" sz="2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drift (p95, SD) </a:t>
                </a:r>
                <a:endParaRPr kumimoji="0" lang="en-US" altLang="ko-KR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6039538" cy="461665"/>
              </a:xfrm>
              <a:prstGeom prst="rect">
                <a:avLst/>
              </a:prstGeom>
              <a:blipFill>
                <a:blip r:embed="rId3"/>
                <a:stretch>
                  <a:fillRect l="-1616" t="-9211" r="-606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4049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(p95, SD)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–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 이동이 가장 심한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5% 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이동 크기를 측정하는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훈련 기준 평균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에서 얼마나 떨어져 있는지를 표준편차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단위로 측정함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H6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표의 값은 여러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값을 평균한 값으로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전체 구간의 전반적 평균 이동 정도를 나타냄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중 상위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5%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평균이 가장 많이 움직인 구간의 스케일 수치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(p95, SD) = 1.55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Validation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Test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5% 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평균이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기준 평균에서 표준편차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1.55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 만큼 떨어져 있음을 의미함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drift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95) =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quantile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0.95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({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)}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4049442"/>
              </a:xfrm>
              <a:prstGeom prst="rect">
                <a:avLst/>
              </a:prstGeom>
              <a:blipFill>
                <a:blip r:embed="rId4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4275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6376104" cy="470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H6: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ko-KR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) </a:t>
                </a:r>
                <a:endParaRPr kumimoji="0" lang="en-US" altLang="ko-KR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6376104" cy="470000"/>
              </a:xfrm>
              <a:prstGeom prst="rect">
                <a:avLst/>
              </a:prstGeom>
              <a:blipFill>
                <a:blip r:embed="rId3"/>
                <a:stretch>
                  <a:fillRect l="-1531" t="-7792" b="-29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480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– Train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기준 분산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𝜐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대비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분산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𝜐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얼마나 상대적으로 달라졌는지를 측정하는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무단위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비율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= 0.80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분산이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기준 대비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80%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만큼 달라졌다는 의미임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값이 클수록 변동성 스케일 자체가 크게 흔들리는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라는 의미임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𝜐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𝜐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nary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      (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drift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𝜐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480633"/>
              </a:xfrm>
              <a:prstGeom prst="rect">
                <a:avLst/>
              </a:prstGeom>
              <a:blipFill>
                <a:blip r:embed="rId4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8885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6291146" cy="470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H6: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ko-KR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drift (p95, </a:t>
                </a:r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) </a:t>
                </a:r>
                <a:endParaRPr kumimoji="0" lang="en-US" altLang="ko-KR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6291146" cy="470000"/>
              </a:xfrm>
              <a:prstGeom prst="rect">
                <a:avLst/>
              </a:prstGeom>
              <a:blipFill>
                <a:blip r:embed="rId3"/>
                <a:stretch>
                  <a:fillRect l="-1550" t="-7792" r="-872" b="-29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083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(p95,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–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분산 변화가 가장 심한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5% 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크기를 측정하는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무단위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비율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중 상위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5%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분산 스케일이 얼마나 크게 변했는지를 확인하는 수치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(p95,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= 1.20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분산이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기준 대비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120%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만큼 달라졌다는 의미임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급격한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Regime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이상 변동을 포착하는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𝜐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𝜐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nary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      (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2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drift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95) = 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quantile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0.95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({</m:t>
                      </m:r>
                      <m:sSubSup>
                        <m:sSub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𝜐</m:t>
                              </m:r>
                            </m:sub>
                          </m:s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)}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sup>
                      </m:sSubSup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083601"/>
              </a:xfrm>
              <a:prstGeom prst="rect">
                <a:avLst/>
              </a:prstGeom>
              <a:blipFill>
                <a:blip r:embed="rId4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38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5641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H6: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개별 수준 상관 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4230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개별 수준 상관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이란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mean / var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드리프트를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줄여서 그 실행에서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도 좋아졌는지를 각 실행별로 볼 수 있는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Dataset D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Horizon H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고정하고 여러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Seed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OFF –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ON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차이 값을 구하여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상관을 계산함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양의 상관은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드리프트를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줄일 수록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개선도 있다는 의미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무상관 또는 음의 상관은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감소에 따른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개선이 약하거나 나빠진다는 의미로 해석됨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Seed s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 계산은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RMSE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RMSE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𝑂𝐹𝐹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RMSE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𝑂𝑁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drift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𝑂𝐹𝐹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ko-KR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drift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𝑂𝑁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d>
                        <m:d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ko-KR" altLang="en-US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drift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𝑂𝐹𝐹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drift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𝑂𝑁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d>
                        <m:d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r</m:t>
                      </m:r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corr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({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m:rPr>
                              <m:nor/>
                            </m:rPr>
                            <a:rPr lang="en-US" altLang="ko-KR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RMSE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}, {</m:t>
                      </m:r>
                      <m:sSubSup>
                        <m:sSub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})  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ko-KR" sz="1400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r</m:t>
                      </m:r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corr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({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m:rPr>
                              <m:nor/>
                            </m:rPr>
                            <a:rPr lang="en-US" altLang="ko-KR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RMSE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}, {</m:t>
                      </m:r>
                      <m:sSubSup>
                        <m:sSub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ko-KR" altLang="en-US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4230710"/>
              </a:xfrm>
              <a:prstGeom prst="rect">
                <a:avLst/>
              </a:prstGeom>
              <a:blipFill>
                <a:blip r:embed="rId3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5201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 대해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/ ETT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대한 데이터 자체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분포 요약은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8277E3D4-736F-436E-978B-3A796AB18D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82937"/>
                  </p:ext>
                </p:extLst>
              </p:nvPr>
            </p:nvGraphicFramePr>
            <p:xfrm>
              <a:off x="962809" y="1868693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0502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p95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(p95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05023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1.1348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1.5944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0.8923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0.9518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1.1310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1.5748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0.8724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1.1332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1.5507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0.9308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1.4703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0.9170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8277E3D4-736F-436E-978B-3A796AB18D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82937"/>
                  </p:ext>
                </p:extLst>
              </p:nvPr>
            </p:nvGraphicFramePr>
            <p:xfrm>
              <a:off x="962809" y="1868693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8232" t="-5000" r="-438122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24432" t="-5000" r="-3505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75845" t="-5000" r="-1980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63551" t="-5000" r="-915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1.1348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1.5944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0.8923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0.9518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1.1310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1.5748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0.8724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1.1332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1.5507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0.9308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1.4703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0.9170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표 3">
                <a:extLst>
                  <a:ext uri="{FF2B5EF4-FFF2-40B4-BE49-F238E27FC236}">
                    <a16:creationId xmlns:a16="http://schemas.microsoft.com/office/drawing/2014/main" id="{D9BFA7BE-DBA9-475D-9051-3DA8BA0791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8152871"/>
                  </p:ext>
                </p:extLst>
              </p:nvPr>
            </p:nvGraphicFramePr>
            <p:xfrm>
              <a:off x="962808" y="3160508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0502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p95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(p95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05023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1.1343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1.5546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0.8454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0.9268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 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1.1254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1.4597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0.8164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1.4029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0.7818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1.1446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1.3548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0.8531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표 3">
                <a:extLst>
                  <a:ext uri="{FF2B5EF4-FFF2-40B4-BE49-F238E27FC236}">
                    <a16:creationId xmlns:a16="http://schemas.microsoft.com/office/drawing/2014/main" id="{D9BFA7BE-DBA9-475D-9051-3DA8BA0791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8152871"/>
                  </p:ext>
                </p:extLst>
              </p:nvPr>
            </p:nvGraphicFramePr>
            <p:xfrm>
              <a:off x="962808" y="3160508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8232" t="-5000" r="-438122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24432" t="-5000" r="-3505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75845" t="-5000" r="-1980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63551" t="-5000" r="-915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1.1343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1.5546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0.8454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0.9268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 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1.1254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1.4597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0.8164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1.4029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0.7818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1.1446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1.3548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0.8531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3">
                <a:extLst>
                  <a:ext uri="{FF2B5EF4-FFF2-40B4-BE49-F238E27FC236}">
                    <a16:creationId xmlns:a16="http://schemas.microsoft.com/office/drawing/2014/main" id="{7A32D756-6BC9-4A95-B670-46DB5DBC03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4960218"/>
                  </p:ext>
                </p:extLst>
              </p:nvPr>
            </p:nvGraphicFramePr>
            <p:xfrm>
              <a:off x="962807" y="4471149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0502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p95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(p95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05023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1.0940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0.9529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0.5763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1.0461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1.1921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0.5593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0.8768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1.2435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0.5364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1.2865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3">
                <a:extLst>
                  <a:ext uri="{FF2B5EF4-FFF2-40B4-BE49-F238E27FC236}">
                    <a16:creationId xmlns:a16="http://schemas.microsoft.com/office/drawing/2014/main" id="{7A32D756-6BC9-4A95-B670-46DB5DBC03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4960218"/>
                  </p:ext>
                </p:extLst>
              </p:nvPr>
            </p:nvGraphicFramePr>
            <p:xfrm>
              <a:off x="962807" y="4471149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18232" t="-5000" r="-438122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24432" t="-5000" r="-3505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75845" t="-5000" r="-1980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63551" t="-5000" r="-915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1.0940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0.9529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0.5763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1.0461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1.1921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0.5593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0.8768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1.2435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0.5364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1.2865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2519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 대해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/ ETT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대한 데이터 자체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분포 요약은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8277E3D4-736F-436E-978B-3A796AB18D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6636646"/>
                  </p:ext>
                </p:extLst>
              </p:nvPr>
            </p:nvGraphicFramePr>
            <p:xfrm>
              <a:off x="962809" y="1868693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0502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p95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(p95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05023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0.5837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1.1900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0.5715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0.7947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0.8116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1.0765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0.5619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0.7660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0.7967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1.1183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0.5390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0.7383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8277E3D4-736F-436E-978B-3A796AB18D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6636646"/>
                  </p:ext>
                </p:extLst>
              </p:nvPr>
            </p:nvGraphicFramePr>
            <p:xfrm>
              <a:off x="962809" y="1868693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8232" t="-5000" r="-438122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24432" t="-5000" r="-3505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75845" t="-5000" r="-1980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63551" t="-5000" r="-915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0.5837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1.1900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0.5715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0.7947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0.8116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1.0765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0.5619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0.7660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0.7967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1.1183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0.5390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0.7383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표 3">
                <a:extLst>
                  <a:ext uri="{FF2B5EF4-FFF2-40B4-BE49-F238E27FC236}">
                    <a16:creationId xmlns:a16="http://schemas.microsoft.com/office/drawing/2014/main" id="{D9BFA7BE-DBA9-475D-9051-3DA8BA0791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061194"/>
                  </p:ext>
                </p:extLst>
              </p:nvPr>
            </p:nvGraphicFramePr>
            <p:xfrm>
              <a:off x="962808" y="3160508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0502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p95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(p95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05023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0.5546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0.7828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1.0283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 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0.5343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0.7474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0.9606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0.5285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0.6736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0.7169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0.5081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0.6079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0.6898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표 3">
                <a:extLst>
                  <a:ext uri="{FF2B5EF4-FFF2-40B4-BE49-F238E27FC236}">
                    <a16:creationId xmlns:a16="http://schemas.microsoft.com/office/drawing/2014/main" id="{D9BFA7BE-DBA9-475D-9051-3DA8BA0791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061194"/>
                  </p:ext>
                </p:extLst>
              </p:nvPr>
            </p:nvGraphicFramePr>
            <p:xfrm>
              <a:off x="962808" y="3160508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8232" t="-5000" r="-438122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24432" t="-5000" r="-3505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75845" t="-5000" r="-1980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63551" t="-5000" r="-915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0.5546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0.7828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1.0283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 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0.5343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0.7474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0.9606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0.5285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0.6736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0.7169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0.5081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0.6079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0.6898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8065D02-E5C9-451E-B4DC-65B31B04E24E}"/>
              </a:ext>
            </a:extLst>
          </p:cNvPr>
          <p:cNvSpPr txBox="1"/>
          <p:nvPr/>
        </p:nvSpPr>
        <p:spPr>
          <a:xfrm>
            <a:off x="472998" y="4379708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ETTm2. ETTh2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대한 개별 수준 상관 표는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3">
                <a:extLst>
                  <a:ext uri="{FF2B5EF4-FFF2-40B4-BE49-F238E27FC236}">
                    <a16:creationId xmlns:a16="http://schemas.microsoft.com/office/drawing/2014/main" id="{C53F516B-FF89-4D8F-89F8-C437549E9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2636304"/>
                  </p:ext>
                </p:extLst>
              </p:nvPr>
            </p:nvGraphicFramePr>
            <p:xfrm>
              <a:off x="962808" y="4809464"/>
              <a:ext cx="34460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94492">
                      <a:extLst>
                        <a:ext uri="{9D8B030D-6E8A-4147-A177-3AD203B41FA5}">
                          <a16:colId xmlns:a16="http://schemas.microsoft.com/office/drawing/2014/main" val="1134259366"/>
                        </a:ext>
                      </a:extLst>
                    </a:gridCol>
                    <a:gridCol w="668071">
                      <a:extLst>
                        <a:ext uri="{9D8B030D-6E8A-4147-A177-3AD203B41FA5}">
                          <a16:colId xmlns:a16="http://schemas.microsoft.com/office/drawing/2014/main" val="1669736552"/>
                        </a:ext>
                      </a:extLst>
                    </a:gridCol>
                    <a:gridCol w="1057111">
                      <a:extLst>
                        <a:ext uri="{9D8B030D-6E8A-4147-A177-3AD203B41FA5}">
                          <a16:colId xmlns:a16="http://schemas.microsoft.com/office/drawing/2014/main" val="685384249"/>
                        </a:ext>
                      </a:extLst>
                    </a:gridCol>
                    <a:gridCol w="1026361">
                      <a:extLst>
                        <a:ext uri="{9D8B030D-6E8A-4147-A177-3AD203B41FA5}">
                          <a16:colId xmlns:a16="http://schemas.microsoft.com/office/drawing/2014/main" val="1178562710"/>
                        </a:ext>
                      </a:extLst>
                    </a:gridCol>
                  </a:tblGrid>
                  <a:tr h="15146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Corr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RMSE,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∆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Corr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RMSE,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∆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3004877"/>
                      </a:ext>
                    </a:extLst>
                  </a:tr>
                  <a:tr h="141754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382980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0.185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753426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45526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9145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3">
                <a:extLst>
                  <a:ext uri="{FF2B5EF4-FFF2-40B4-BE49-F238E27FC236}">
                    <a16:creationId xmlns:a16="http://schemas.microsoft.com/office/drawing/2014/main" id="{C53F516B-FF89-4D8F-89F8-C437549E9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2636304"/>
                  </p:ext>
                </p:extLst>
              </p:nvPr>
            </p:nvGraphicFramePr>
            <p:xfrm>
              <a:off x="962808" y="4809464"/>
              <a:ext cx="34460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94492">
                      <a:extLst>
                        <a:ext uri="{9D8B030D-6E8A-4147-A177-3AD203B41FA5}">
                          <a16:colId xmlns:a16="http://schemas.microsoft.com/office/drawing/2014/main" val="1134259366"/>
                        </a:ext>
                      </a:extLst>
                    </a:gridCol>
                    <a:gridCol w="668071">
                      <a:extLst>
                        <a:ext uri="{9D8B030D-6E8A-4147-A177-3AD203B41FA5}">
                          <a16:colId xmlns:a16="http://schemas.microsoft.com/office/drawing/2014/main" val="1669736552"/>
                        </a:ext>
                      </a:extLst>
                    </a:gridCol>
                    <a:gridCol w="1057111">
                      <a:extLst>
                        <a:ext uri="{9D8B030D-6E8A-4147-A177-3AD203B41FA5}">
                          <a16:colId xmlns:a16="http://schemas.microsoft.com/office/drawing/2014/main" val="685384249"/>
                        </a:ext>
                      </a:extLst>
                    </a:gridCol>
                    <a:gridCol w="1026361">
                      <a:extLst>
                        <a:ext uri="{9D8B030D-6E8A-4147-A177-3AD203B41FA5}">
                          <a16:colId xmlns:a16="http://schemas.microsoft.com/office/drawing/2014/main" val="11785627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28736" t="-3077" r="-98276" b="-2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35503" t="-3077" r="-1183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3004877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38298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0.185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7534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455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9145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3">
                <a:extLst>
                  <a:ext uri="{FF2B5EF4-FFF2-40B4-BE49-F238E27FC236}">
                    <a16:creationId xmlns:a16="http://schemas.microsoft.com/office/drawing/2014/main" id="{AFB9F162-AEAF-4105-AC51-FD14AD9EDF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9860414"/>
                  </p:ext>
                </p:extLst>
              </p:nvPr>
            </p:nvGraphicFramePr>
            <p:xfrm>
              <a:off x="4735154" y="4809464"/>
              <a:ext cx="34460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94492">
                      <a:extLst>
                        <a:ext uri="{9D8B030D-6E8A-4147-A177-3AD203B41FA5}">
                          <a16:colId xmlns:a16="http://schemas.microsoft.com/office/drawing/2014/main" val="1134259366"/>
                        </a:ext>
                      </a:extLst>
                    </a:gridCol>
                    <a:gridCol w="668071">
                      <a:extLst>
                        <a:ext uri="{9D8B030D-6E8A-4147-A177-3AD203B41FA5}">
                          <a16:colId xmlns:a16="http://schemas.microsoft.com/office/drawing/2014/main" val="1669736552"/>
                        </a:ext>
                      </a:extLst>
                    </a:gridCol>
                    <a:gridCol w="1057111">
                      <a:extLst>
                        <a:ext uri="{9D8B030D-6E8A-4147-A177-3AD203B41FA5}">
                          <a16:colId xmlns:a16="http://schemas.microsoft.com/office/drawing/2014/main" val="685384249"/>
                        </a:ext>
                      </a:extLst>
                    </a:gridCol>
                    <a:gridCol w="1026361">
                      <a:extLst>
                        <a:ext uri="{9D8B030D-6E8A-4147-A177-3AD203B41FA5}">
                          <a16:colId xmlns:a16="http://schemas.microsoft.com/office/drawing/2014/main" val="1178562710"/>
                        </a:ext>
                      </a:extLst>
                    </a:gridCol>
                  </a:tblGrid>
                  <a:tr h="15146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Corr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RMSE,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∆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Corr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RMSE,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∆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3004877"/>
                      </a:ext>
                    </a:extLst>
                  </a:tr>
                  <a:tr h="141754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0.654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0.375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382980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–0.226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–0.367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753426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–0.593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–0.460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45526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–0.776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–0.741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9145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3">
                <a:extLst>
                  <a:ext uri="{FF2B5EF4-FFF2-40B4-BE49-F238E27FC236}">
                    <a16:creationId xmlns:a16="http://schemas.microsoft.com/office/drawing/2014/main" id="{AFB9F162-AEAF-4105-AC51-FD14AD9EDF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9860414"/>
                  </p:ext>
                </p:extLst>
              </p:nvPr>
            </p:nvGraphicFramePr>
            <p:xfrm>
              <a:off x="4735154" y="4809464"/>
              <a:ext cx="34460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94492">
                      <a:extLst>
                        <a:ext uri="{9D8B030D-6E8A-4147-A177-3AD203B41FA5}">
                          <a16:colId xmlns:a16="http://schemas.microsoft.com/office/drawing/2014/main" val="1134259366"/>
                        </a:ext>
                      </a:extLst>
                    </a:gridCol>
                    <a:gridCol w="668071">
                      <a:extLst>
                        <a:ext uri="{9D8B030D-6E8A-4147-A177-3AD203B41FA5}">
                          <a16:colId xmlns:a16="http://schemas.microsoft.com/office/drawing/2014/main" val="1669736552"/>
                        </a:ext>
                      </a:extLst>
                    </a:gridCol>
                    <a:gridCol w="1057111">
                      <a:extLst>
                        <a:ext uri="{9D8B030D-6E8A-4147-A177-3AD203B41FA5}">
                          <a16:colId xmlns:a16="http://schemas.microsoft.com/office/drawing/2014/main" val="685384249"/>
                        </a:ext>
                      </a:extLst>
                    </a:gridCol>
                    <a:gridCol w="1026361">
                      <a:extLst>
                        <a:ext uri="{9D8B030D-6E8A-4147-A177-3AD203B41FA5}">
                          <a16:colId xmlns:a16="http://schemas.microsoft.com/office/drawing/2014/main" val="11785627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28736" t="-3077" r="-98276" b="-2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235503" t="-3077" r="-1183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3004877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0.654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0.375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38298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–0.226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–0.367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7534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–0.593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–0.460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455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–0.776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–0.741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9145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48349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 대해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/ ETT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따른 실험 결과는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50991F20-A3C7-4B58-9628-7F0C6C6AF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358536"/>
              </p:ext>
            </p:extLst>
          </p:nvPr>
        </p:nvGraphicFramePr>
        <p:xfrm>
          <a:off x="1438599" y="1886295"/>
          <a:ext cx="6266801" cy="2346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97273">
                  <a:extLst>
                    <a:ext uri="{9D8B030D-6E8A-4147-A177-3AD203B41FA5}">
                      <a16:colId xmlns:a16="http://schemas.microsoft.com/office/drawing/2014/main" val="10625328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18927650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3925748367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63910772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2642283391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129370707"/>
                    </a:ext>
                  </a:extLst>
                </a:gridCol>
              </a:tblGrid>
              <a:tr h="2640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MAE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algn="l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6192"/>
                  </a:ext>
                </a:extLst>
              </a:tr>
              <a:tr h="160327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2.96 ± 0.00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1.86 ± 0.00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2821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5.41 ± 1.34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3.90 ± 1.04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+ 45.31 %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5873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3.34 ± 0.02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2.17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77001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 ± 0.74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4.61 ± 0.58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+ 47.34 %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34620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3.69 ± 0.02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2.39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3672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6.66 ± 0.12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4.85 ± 0.08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+ 44.60 %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6688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4.10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2.66 ± 0.00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2292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6.80 ± 0.10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4.94 ± 0.07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+ 39.66 %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28836"/>
                  </a:ext>
                </a:extLst>
              </a:tr>
            </a:tbl>
          </a:graphicData>
        </a:graphic>
      </p:graphicFrame>
      <p:graphicFrame>
        <p:nvGraphicFramePr>
          <p:cNvPr id="9" name="표 2">
            <a:extLst>
              <a:ext uri="{FF2B5EF4-FFF2-40B4-BE49-F238E27FC236}">
                <a16:creationId xmlns:a16="http://schemas.microsoft.com/office/drawing/2014/main" id="{92BD7474-D34D-4D2D-9C52-30779FE51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384497"/>
              </p:ext>
            </p:extLst>
          </p:nvPr>
        </p:nvGraphicFramePr>
        <p:xfrm>
          <a:off x="1438598" y="4341684"/>
          <a:ext cx="6266801" cy="2346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97273">
                  <a:extLst>
                    <a:ext uri="{9D8B030D-6E8A-4147-A177-3AD203B41FA5}">
                      <a16:colId xmlns:a16="http://schemas.microsoft.com/office/drawing/2014/main" val="10625328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18927650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3925748367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63910772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2642283391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129370707"/>
                    </a:ext>
                  </a:extLst>
                </a:gridCol>
              </a:tblGrid>
              <a:tr h="2640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MAE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algn="l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6192"/>
                  </a:ext>
                </a:extLst>
              </a:tr>
              <a:tr h="160327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3.60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2.37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2821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5.96 ± 1.05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4.34 ± 0.84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+ 39.63 %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5873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3.66 ± 0.02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2.42 ± 0.02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77001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5.92 ± 0.91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4.35 ± 0.73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+ 38.30 %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34620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3.73 ± 0.02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2.46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3672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6.05 ± 0.76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4.45 ± 0.61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+ 38.43 %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6688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2.40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2292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6.42 ± 0.33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4.75 ± 0.26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+ 43.29 %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28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0341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 대해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/ ETT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따른 실험 결과는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C2FF83BA-0E88-4641-9D03-D1FCB515D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696722"/>
              </p:ext>
            </p:extLst>
          </p:nvPr>
        </p:nvGraphicFramePr>
        <p:xfrm>
          <a:off x="1438599" y="1886295"/>
          <a:ext cx="6266801" cy="2346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97273">
                  <a:extLst>
                    <a:ext uri="{9D8B030D-6E8A-4147-A177-3AD203B41FA5}">
                      <a16:colId xmlns:a16="http://schemas.microsoft.com/office/drawing/2014/main" val="10625328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18927650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3925748367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63910772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2642283391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129370707"/>
                    </a:ext>
                  </a:extLst>
                </a:gridCol>
              </a:tblGrid>
              <a:tr h="2640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MAE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algn="l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6192"/>
                  </a:ext>
                </a:extLst>
              </a:tr>
              <a:tr h="160327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1.53 ± 0.00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2821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2.97 ± 0.04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1.69 ± 0.03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+ 5.22 %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5873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3.07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1.69 ± 0.00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77001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3.22 ± 0.06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1.87 ± 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+ 4.41 %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34620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3.22 ± 0.00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1.82 ± 0.00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3672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3.47 ± 0.17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2.12 ± 0.15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+ 7.16 %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6688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3.32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1.95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2292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3.67 ± 0.11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2.40 ± 0.09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+ 9.37 %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28836"/>
                  </a:ext>
                </a:extLst>
              </a:tr>
            </a:tbl>
          </a:graphicData>
        </a:graphic>
      </p:graphicFrame>
      <p:graphicFrame>
        <p:nvGraphicFramePr>
          <p:cNvPr id="9" name="표 2">
            <a:extLst>
              <a:ext uri="{FF2B5EF4-FFF2-40B4-BE49-F238E27FC236}">
                <a16:creationId xmlns:a16="http://schemas.microsoft.com/office/drawing/2014/main" id="{C658D7B9-1DFB-4168-AE5F-08236522A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801623"/>
              </p:ext>
            </p:extLst>
          </p:nvPr>
        </p:nvGraphicFramePr>
        <p:xfrm>
          <a:off x="1438598" y="4341684"/>
          <a:ext cx="6266801" cy="2346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97273">
                  <a:extLst>
                    <a:ext uri="{9D8B030D-6E8A-4147-A177-3AD203B41FA5}">
                      <a16:colId xmlns:a16="http://schemas.microsoft.com/office/drawing/2014/main" val="10625328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18927650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3925748367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63910772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2642283391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129370707"/>
                    </a:ext>
                  </a:extLst>
                </a:gridCol>
              </a:tblGrid>
              <a:tr h="2640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MAE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algn="l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6192"/>
                  </a:ext>
                </a:extLst>
              </a:tr>
              <a:tr h="160327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3.05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1.80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2821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4.38 ± 0.06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 ± 0.03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+ 30.28 %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5873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1.93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77001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4.47 ± 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2.88 ± 0.03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+ 28.94 %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34620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3.30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2.03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3672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4.64 ± 0.07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3.00 ± 0.03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+ 28.96 %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6688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3.15 ± 0.03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 ± 0.02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2292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4.60 ± 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3.07 ± 0.02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+ 31.47 %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28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1471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 대해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/ ETT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따른 실험 결과는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BFB41DA2-3C94-4300-91E3-0E45B3126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647603"/>
              </p:ext>
            </p:extLst>
          </p:nvPr>
        </p:nvGraphicFramePr>
        <p:xfrm>
          <a:off x="1438599" y="1886295"/>
          <a:ext cx="6266801" cy="2346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97273">
                  <a:extLst>
                    <a:ext uri="{9D8B030D-6E8A-4147-A177-3AD203B41FA5}">
                      <a16:colId xmlns:a16="http://schemas.microsoft.com/office/drawing/2014/main" val="10625328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18927650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3925748367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63910772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2642283391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129370707"/>
                    </a:ext>
                  </a:extLst>
                </a:gridCol>
              </a:tblGrid>
              <a:tr h="2640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MAE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algn="l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6192"/>
                  </a:ext>
                </a:extLst>
              </a:tr>
              <a:tr h="160327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39.59 ± 0.08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13.13 ± 0.03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2821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51.12 ± 0.42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20.19 ± 0.22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+ 22.55 %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5873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40.64 ± 0.17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 ± 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77001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52.38 ± 1.26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20.89 ± 0.49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+ 22.40 %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34620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41.93 ± 0.25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14.46 ± 0.08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3672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54.02 ± 1.98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21.78 ± 0.54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+ 22.37 %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6688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41.56 ± 0.19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14.73 ± 0.06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2292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56.09 ± 1.78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22.55 ± 0.58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+ 25.91 %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28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35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93545</TotalTime>
  <Words>9288</Words>
  <Application>Microsoft Office PowerPoint</Application>
  <PresentationFormat>화면 슬라이드 쇼(4:3)</PresentationFormat>
  <Paragraphs>2146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4" baseType="lpstr">
      <vt:lpstr>KoPub돋움체 Bold</vt:lpstr>
      <vt:lpstr>KoPub바탕체 Light</vt:lpstr>
      <vt:lpstr>맑은 고딕</vt:lpstr>
      <vt:lpstr>Arial</vt:lpstr>
      <vt:lpstr>Calibri</vt:lpstr>
      <vt:lpstr>Calibri Light</vt:lpstr>
      <vt:lpstr>Cambria Math</vt:lpstr>
      <vt:lpstr>times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jinisang</dc:creator>
  <cp:lastModifiedBy>박힘찬</cp:lastModifiedBy>
  <cp:revision>1888</cp:revision>
  <dcterms:created xsi:type="dcterms:W3CDTF">2022-01-11T04:20:21Z</dcterms:created>
  <dcterms:modified xsi:type="dcterms:W3CDTF">2025-11-06T01:16:14Z</dcterms:modified>
</cp:coreProperties>
</file>